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177a207-d157-9780-87e9-9d0fc309bf7f}">
          <p14:sldIdLst>
            <p14:sldId id="256"/>
            <p14:sldId id="257"/>
            <p14:sldId id="258"/>
            <p14:sldId id="259"/>
          </p14:sldIdLst>
        </p14:section>
        <p14:section name="Fonctionnalités" id="{b9f14f0c-49f5-57c8-7946-b6cf592dfdbb}">
          <p14:sldIdLst>
            <p14:sldId id="260"/>
            <p14:sldId id="261"/>
            <p14:sldId id="262"/>
            <p14:sldId id="263"/>
            <p14:sldId id="264"/>
            <p14:sldId id="265"/>
            <p14:sldId id="266"/>
            <p14:sldId id="267"/>
            <p14:sldId id="268"/>
            <p14:sldId id="269"/>
            <p14:sldId id="270"/>
          </p14:sldIdLst>
        </p14:section>
        <p14:section name="Mise en route" id="{4f2ad179-8e7b-cc44-7423-ab14e3a9cbb9}">
          <p14:sldIdLst>
            <p14:sldId id="271"/>
            <p14:sldId id="272"/>
            <p14:sldId id="273"/>
            <p14:sldId id="274"/>
          </p14:sldIdLst>
        </p14:section>
        <p14:section name="Conclusion" id="{406692b4-57a7-c9ea-4b27-a8aef5703d94}">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GeoPulse en une phrase : une carte unique où se croisent le réseau du client, ses ventes, ses concurrents et la population de toute la Tunisie, pour décider où ouvrir, où vendre et où envoyer les commerciaux.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des questions du client avant de montrer l’outil. Demander laquelle le concerne le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les données de population et de pouvoir d’achat sont déjà dans GeoPulse. Le client n’apporte que ses points et ses 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en direct : un clic sur un quartier, le CA estimé apparaît avec sa fourchette. Expliquer que GeoPulse teste chaque méthode en cachant un à un les magasins du client : l’erreur affichée est mesurée sur ses propres 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distributeur, c’est souvent la diapositive qui déclenche la vente : il voit d’un coup les quartiers où il n’est pas et ce qu’il y laisse.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Grille 2026 : quatre formules de 390 à 1 900 TND HT par mois. En annuel, 10 mois payés pour 12. Au-delà du plafond, chaque commercial coûte 15 TND HT par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703320"/>
            <a:ext cx="54864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calai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86868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703320"/>
            <a:ext cx="8686800" cy="7315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b="1" dirty="0">
                <a:solidFill>
                  <a:schemeClr val="accent1"/>
                </a:solidFill>
              </a:rPr>
              <a:t>GeoPulse</a:t>
            </a:r>
            <a:endParaRPr lang="en-US" sz="1000" dirty="0"/>
          </a:p>
        </p:txBody>
      </p:sp>
      <p:sp>
        <p:nvSpPr>
          <p:cNvPr id="3" name="Text 1"/>
          <p:cNvSpPr/>
          <p:nvPr>
            <p:ph idx="101" type="title" hasCustomPrompt="1"/>
          </p:nvPr>
        </p:nvSpPr>
        <p:spPr>
          <a:xfrm>
            <a:off x="548640" y="365760"/>
            <a:ext cx="1106424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1"/>
          <p:cNvSpPr/>
          <p:nvPr>
            <p:ph idx="102" type="body" hasCustomPrompt="1"/>
          </p:nvPr>
        </p:nvSpPr>
        <p:spPr>
          <a:xfrm>
            <a:off x="548640" y="1051560"/>
            <a:ext cx="11064240" cy="411480"/>
          </a:xfrm>
          <a:prstGeom prst="rect">
            <a:avLst/>
          </a:prstGeom>
          <a:noFill/>
          <a:ln/>
        </p:spPr>
        <p:txBody>
          <a:bodyPr wrap="square" rtlCol="0"/>
          <a:lstStyle>
            <a:lvl1pPr indent="0" marL="0">
              <a:buNone/>
              <a:defRPr lang="en-US" sz="1600" dirty="0">
                <a:solidFill>
                  <a:srgbClr val="64748B"/>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clair">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b="1" dirty="0">
                <a:solidFill>
                  <a:schemeClr val="accent1"/>
                </a:solidFill>
              </a:rPr>
              <a:t>GeoPulse</a:t>
            </a:r>
            <a:endParaRPr lang="en-US" sz="1000" dirty="0"/>
          </a:p>
        </p:txBody>
      </p:sp>
      <p:sp>
        <p:nvSpPr>
          <p:cNvPr id="3" name="Text 1"/>
          <p:cNvSpPr/>
          <p:nvPr>
            <p:ph idx="101" type="title" hasCustomPrompt="1"/>
          </p:nvPr>
        </p:nvSpPr>
        <p:spPr>
          <a:xfrm>
            <a:off x="548640" y="365760"/>
            <a:ext cx="1106424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1"/>
          <p:cNvSpPr/>
          <p:nvPr>
            <p:ph idx="102" type="body" hasCustomPrompt="1"/>
          </p:nvPr>
        </p:nvSpPr>
        <p:spPr>
          <a:xfrm>
            <a:off x="548640" y="1051560"/>
            <a:ext cx="11064240" cy="411480"/>
          </a:xfrm>
          <a:prstGeom prst="rect">
            <a:avLst/>
          </a:prstGeom>
          <a:noFill/>
          <a:ln/>
        </p:spPr>
        <p:txBody>
          <a:bodyPr wrap="square" rtlCol="0"/>
          <a:lstStyle>
            <a:lvl1pPr indent="0" marL="0">
              <a:buNone/>
              <a:defRPr lang="en-US" sz="1600" dirty="0">
                <a:solidFill>
                  <a:srgbClr val="64748B"/>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i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3291840"/>
            <a:ext cx="1051560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5.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5.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5.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737360"/>
          </a:xfrm>
          <a:prstGeom prst="rect">
            <a:avLst/>
          </a:prstGeom>
          <a:noFill/>
          <a:ln/>
        </p:spPr>
        <p:txBody>
          <a:bodyPr wrap="square" lIns="0" tIns="0" rIns="0" bIns="0" rtlCol="0" anchor="t"/>
          <a:lstStyle/>
          <a:p>
            <a:pPr algn="l" indent="0" marL="0">
              <a:buNone/>
            </a:pPr>
            <a:r>
              <a:rPr lang="en-US" sz="4400" b="1" dirty="0">
                <a:solidFill>
                  <a:schemeClr val="bg1"/>
                </a:solidFill>
              </a:rPr>
              <a:t>Pilotez votre réseau. Gagnez du terrain.</a:t>
            </a:r>
            <a:endParaRPr lang="en-US" sz="4400" dirty="0"/>
          </a:p>
        </p:txBody>
      </p:sp>
      <p:sp>
        <p:nvSpPr>
          <p:cNvPr id="3" name="Text 0"/>
          <p:cNvSpPr/>
          <p:nvPr>
            <p:ph idx="101" type="body" hasCustomPrompt="1"/>
          </p:nvPr>
        </p:nvSpPr>
        <p:spPr>
          <a:xfrm>
            <a:off x="640080" y="3703320"/>
            <a:ext cx="5486400" cy="1097280"/>
          </a:xfrm>
          <a:prstGeom prst="rect">
            <a:avLst/>
          </a:prstGeom>
          <a:noFill/>
          <a:ln/>
        </p:spPr>
        <p:txBody>
          <a:bodyPr wrap="square" lIns="0" tIns="0" rIns="0" bIns="0" rtlCol="0" anchor="t"/>
          <a:lstStyle/>
          <a:p>
            <a:pPr indent="0" marL="0">
              <a:buNone/>
            </a:pPr>
            <a:r>
              <a:rPr lang="en-US" sz="1800" dirty="0">
                <a:solidFill>
                  <a:schemeClr val="bg2"/>
                </a:solidFill>
              </a:rPr>
              <a:t>GeoPulse, le géomarketing conçu pour la Tunisie : vos points, vos ventes, vos concurrents et la population sur une seule carte.</a:t>
            </a:r>
            <a:endParaRPr lang="en-US" sz="1800" dirty="0"/>
          </a:p>
        </p:txBody>
      </p:sp>
      <p:pic>
        <p:nvPicPr>
          <p:cNvPr id="4" name="Logo" descr="Logo">    </p:cNvPr>
          <p:cNvPicPr>
            <a:picLocks noChangeAspect="1"/>
          </p:cNvPicPr>
          <p:nvPr/>
        </p:nvPicPr>
        <p:blipFill>
          <a:blip r:embed="rId1"/>
          <a:stretch>
            <a:fillRect/>
          </a:stretch>
        </p:blipFill>
        <p:spPr>
          <a:xfrm>
            <a:off x="640080" y="685800"/>
            <a:ext cx="384048" cy="384048"/>
          </a:xfrm>
          <a:prstGeom prst="rect">
            <a:avLst/>
          </a:prstGeom>
        </p:spPr>
      </p:pic>
      <p:sp>
        <p:nvSpPr>
          <p:cNvPr id="5" name="Marque"/>
          <p:cNvSpPr txBox="1"/>
          <p:nvPr/>
        </p:nvSpPr>
        <p:spPr>
          <a:xfrm>
            <a:off x="1143000" y="658368"/>
            <a:ext cx="2743200" cy="457200"/>
          </a:xfrm>
          <a:prstGeom prst="rect">
            <a:avLst/>
          </a:prstGeom>
          <a:noFill/>
          <a:ln/>
        </p:spPr>
        <p:txBody>
          <a:bodyPr wrap="square" lIns="0" tIns="0" rIns="0" bIns="0" rtlCol="0" anchor="ctr"/>
          <a:lstStyle/>
          <a:p>
            <a:pPr indent="0" marL="0">
              <a:buNone/>
            </a:pPr>
            <a:r>
              <a:rPr lang="en-US" sz="2200" b="1" dirty="0">
                <a:solidFill>
                  <a:schemeClr val="bg1"/>
                </a:solidFill>
              </a:rPr>
              <a:t>GeoPulse</a:t>
            </a:r>
            <a:endParaRPr lang="en-US" sz="2200" dirty="0"/>
          </a:p>
        </p:txBody>
      </p:sp>
      <p:sp>
        <p:nvSpPr>
          <p:cNvPr id="6" name="Mention"/>
          <p:cNvSpPr txBox="1"/>
          <p:nvPr/>
        </p:nvSpPr>
        <p:spPr>
          <a:xfrm>
            <a:off x="640080" y="5989320"/>
            <a:ext cx="5486400" cy="365760"/>
          </a:xfrm>
          <a:prstGeom prst="rect">
            <a:avLst/>
          </a:prstGeom>
          <a:noFill/>
          <a:ln/>
        </p:spPr>
        <p:txBody>
          <a:bodyPr wrap="square" lIns="0" tIns="0" rIns="0" bIns="0" rtlCol="0" anchor="ctr"/>
          <a:lstStyle/>
          <a:p>
            <a:pPr indent="0" marL="0">
              <a:buNone/>
            </a:pPr>
            <a:r>
              <a:rPr lang="en-US" sz="1300" dirty="0">
                <a:solidFill>
                  <a:srgbClr val="C7D2FE"/>
                </a:solidFill>
              </a:rPr>
              <a:t>Présentation commerciale</a:t>
            </a:r>
            <a:endParaRPr lang="en-US" sz="1300" dirty="0"/>
          </a:p>
        </p:txBody>
      </p:sp>
      <p:sp>
        <p:nvSpPr>
          <p:cNvPr id="7" name="Cadre v1-vitrine-ordinateur"/>
          <p:cNvSpPr/>
          <p:nvPr/>
        </p:nvSpPr>
        <p:spPr>
          <a:xfrm>
            <a:off x="6720840" y="1829943"/>
            <a:ext cx="5029200" cy="3198114"/>
          </a:xfrm>
          <a:prstGeom prst="roundRect">
            <a:avLst>
              <a:gd name="adj" fmla="val 3431"/>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8" name="Capture v1-vitrine-ordinateur" descr="Page d’accueil de GeoPulse">    </p:cNvPr>
          <p:cNvPicPr>
            <a:picLocks noChangeAspect="1"/>
          </p:cNvPicPr>
          <p:nvPr/>
        </p:nvPicPr>
        <p:blipFill>
          <a:blip r:embed="rId2"/>
          <a:stretch>
            <a:fillRect/>
          </a:stretch>
        </p:blipFill>
        <p:spPr>
          <a:xfrm>
            <a:off x="6793992" y="1903095"/>
            <a:ext cx="4882896" cy="30518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Les questions que se posent les directions</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Commerciales, développement, marketing : chaque jour, des décisions coûteuses prises sans carte</a:t>
            </a:r>
            <a:endParaRPr lang="en-US" sz="1600" dirty="0"/>
          </a:p>
        </p:txBody>
      </p:sp>
      <p:sp>
        <p:nvSpPr>
          <p:cNvPr id="4" name="Carte"/>
          <p:cNvSpPr/>
          <p:nvPr/>
        </p:nvSpPr>
        <p:spPr>
          <a:xfrm>
            <a:off x="548640" y="1783080"/>
            <a:ext cx="5440680" cy="1874520"/>
          </a:xfrm>
          <a:prstGeom prst="roundRect">
            <a:avLst>
              <a:gd name="adj" fmla="val 6829"/>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5" name="Pastille"/>
          <p:cNvSpPr/>
          <p:nvPr/>
        </p:nvSpPr>
        <p:spPr>
          <a:xfrm>
            <a:off x="868680" y="2148840"/>
            <a:ext cx="566928" cy="566928"/>
          </a:xfrm>
          <a:prstGeom prst="roundRect">
            <a:avLst>
              <a:gd name="adj" fmla="val 19355"/>
            </a:avLst>
          </a:prstGeom>
          <a:solidFill>
            <a:srgbClr val="EEF0FF"/>
          </a:solidFill>
          <a:ln/>
        </p:spPr>
      </p:sp>
      <p:pic>
        <p:nvPicPr>
          <p:cNvPr id="6" name="Icône" descr="preencoded.png">    </p:cNvPr>
          <p:cNvPicPr>
            <a:picLocks noChangeAspect="1"/>
          </p:cNvPicPr>
          <p:nvPr/>
        </p:nvPicPr>
        <p:blipFill>
          <a:blip r:embed="rId1"/>
          <a:stretch>
            <a:fillRect/>
          </a:stretch>
        </p:blipFill>
        <p:spPr>
          <a:xfrm>
            <a:off x="993404" y="2273564"/>
            <a:ext cx="317480" cy="317480"/>
          </a:xfrm>
          <a:prstGeom prst="rect">
            <a:avLst/>
          </a:prstGeom>
        </p:spPr>
      </p:pic>
      <p:sp>
        <p:nvSpPr>
          <p:cNvPr id="7" name="Question 1"/>
          <p:cNvSpPr txBox="1"/>
          <p:nvPr/>
        </p:nvSpPr>
        <p:spPr>
          <a:xfrm>
            <a:off x="1645920" y="2103120"/>
            <a:ext cx="4114800" cy="132588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Où ouvrir le prochain point ?</a:t>
            </a:r>
            <a:endParaRPr lang="en-US" sz="2000" dirty="0"/>
          </a:p>
          <a:p>
            <a:pPr indent="0" marL="0">
              <a:spcAft>
                <a:spcPts val="400"/>
              </a:spcAft>
              <a:buNone/>
            </a:pPr>
            <a:r>
              <a:rPr lang="en-US" sz="1500" dirty="0">
                <a:solidFill>
                  <a:srgbClr val="64748B"/>
                </a:solidFill>
              </a:rPr>
              <a:t>Quel chiffre d’affaires attendre, et combien il prendra à mes autres magasins.</a:t>
            </a:r>
            <a:endParaRPr lang="en-US" sz="2000" dirty="0"/>
          </a:p>
        </p:txBody>
      </p:sp>
      <p:sp>
        <p:nvSpPr>
          <p:cNvPr id="8" name="Carte"/>
          <p:cNvSpPr/>
          <p:nvPr/>
        </p:nvSpPr>
        <p:spPr>
          <a:xfrm>
            <a:off x="6172200" y="1783080"/>
            <a:ext cx="5440680" cy="1874520"/>
          </a:xfrm>
          <a:prstGeom prst="roundRect">
            <a:avLst>
              <a:gd name="adj" fmla="val 6829"/>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9" name="Pastille"/>
          <p:cNvSpPr/>
          <p:nvPr/>
        </p:nvSpPr>
        <p:spPr>
          <a:xfrm>
            <a:off x="6492240" y="2148840"/>
            <a:ext cx="566928" cy="566928"/>
          </a:xfrm>
          <a:prstGeom prst="roundRect">
            <a:avLst>
              <a:gd name="adj" fmla="val 19355"/>
            </a:avLst>
          </a:prstGeom>
          <a:solidFill>
            <a:srgbClr val="EEF0FF"/>
          </a:solidFill>
          <a:ln/>
        </p:spPr>
      </p:sp>
      <p:pic>
        <p:nvPicPr>
          <p:cNvPr id="10" name="Icône" descr="preencoded.png">    </p:cNvPr>
          <p:cNvPicPr>
            <a:picLocks noChangeAspect="1"/>
          </p:cNvPicPr>
          <p:nvPr/>
        </p:nvPicPr>
        <p:blipFill>
          <a:blip r:embed="rId2"/>
          <a:stretch>
            <a:fillRect/>
          </a:stretch>
        </p:blipFill>
        <p:spPr>
          <a:xfrm>
            <a:off x="6616964" y="2273564"/>
            <a:ext cx="317480" cy="317480"/>
          </a:xfrm>
          <a:prstGeom prst="rect">
            <a:avLst/>
          </a:prstGeom>
        </p:spPr>
      </p:pic>
      <p:sp>
        <p:nvSpPr>
          <p:cNvPr id="11" name="Question 2"/>
          <p:cNvSpPr txBox="1"/>
          <p:nvPr/>
        </p:nvSpPr>
        <p:spPr>
          <a:xfrm>
            <a:off x="7269480" y="2103120"/>
            <a:ext cx="4114800" cy="132588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Où sont mes zones blanches ?</a:t>
            </a:r>
            <a:endParaRPr lang="en-US" sz="2000" dirty="0"/>
          </a:p>
          <a:p>
            <a:pPr indent="0" marL="0">
              <a:spcAft>
                <a:spcPts val="400"/>
              </a:spcAft>
              <a:buNone/>
            </a:pPr>
            <a:r>
              <a:rPr lang="en-US" sz="1500" dirty="0">
                <a:solidFill>
                  <a:srgbClr val="64748B"/>
                </a:solidFill>
              </a:rPr>
              <a:t>Les quartiers et délégations où je ne suis pas, et ce qu’ils pourraient rapporter.</a:t>
            </a:r>
            <a:endParaRPr lang="en-US" sz="2000" dirty="0"/>
          </a:p>
        </p:txBody>
      </p:sp>
      <p:sp>
        <p:nvSpPr>
          <p:cNvPr id="12" name="Carte"/>
          <p:cNvSpPr/>
          <p:nvPr/>
        </p:nvSpPr>
        <p:spPr>
          <a:xfrm>
            <a:off x="548640" y="3931920"/>
            <a:ext cx="5440680" cy="1874520"/>
          </a:xfrm>
          <a:prstGeom prst="roundRect">
            <a:avLst>
              <a:gd name="adj" fmla="val 6829"/>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3" name="Pastille"/>
          <p:cNvSpPr/>
          <p:nvPr/>
        </p:nvSpPr>
        <p:spPr>
          <a:xfrm>
            <a:off x="868680" y="4297680"/>
            <a:ext cx="566928" cy="566928"/>
          </a:xfrm>
          <a:prstGeom prst="roundRect">
            <a:avLst>
              <a:gd name="adj" fmla="val 19355"/>
            </a:avLst>
          </a:prstGeom>
          <a:solidFill>
            <a:srgbClr val="EEF0FF"/>
          </a:solidFill>
          <a:ln/>
        </p:spPr>
      </p:sp>
      <p:pic>
        <p:nvPicPr>
          <p:cNvPr id="14" name="Icône" descr="preencoded.png">    </p:cNvPr>
          <p:cNvPicPr>
            <a:picLocks noChangeAspect="1"/>
          </p:cNvPicPr>
          <p:nvPr/>
        </p:nvPicPr>
        <p:blipFill>
          <a:blip r:embed="rId3"/>
          <a:stretch>
            <a:fillRect/>
          </a:stretch>
        </p:blipFill>
        <p:spPr>
          <a:xfrm>
            <a:off x="993404" y="4422404"/>
            <a:ext cx="317480" cy="317480"/>
          </a:xfrm>
          <a:prstGeom prst="rect">
            <a:avLst/>
          </a:prstGeom>
        </p:spPr>
      </p:pic>
      <p:sp>
        <p:nvSpPr>
          <p:cNvPr id="15" name="Question 3"/>
          <p:cNvSpPr txBox="1"/>
          <p:nvPr/>
        </p:nvSpPr>
        <p:spPr>
          <a:xfrm>
            <a:off x="1645920" y="4251960"/>
            <a:ext cx="4114800" cy="132588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Pourquoi ce point vend moins ?</a:t>
            </a:r>
            <a:endParaRPr lang="en-US" sz="2000" dirty="0"/>
          </a:p>
          <a:p>
            <a:pPr indent="0" marL="0">
              <a:spcAft>
                <a:spcPts val="400"/>
              </a:spcAft>
              <a:buNone/>
            </a:pPr>
            <a:r>
              <a:rPr lang="en-US" sz="1500" dirty="0">
                <a:solidFill>
                  <a:srgbClr val="64748B"/>
                </a:solidFill>
              </a:rPr>
              <a:t>Le comparer aux zones semblables : population, pouvoir d’achat, concurrence.</a:t>
            </a:r>
            <a:endParaRPr lang="en-US" sz="2000" dirty="0"/>
          </a:p>
        </p:txBody>
      </p:sp>
      <p:sp>
        <p:nvSpPr>
          <p:cNvPr id="16" name="Carte"/>
          <p:cNvSpPr/>
          <p:nvPr/>
        </p:nvSpPr>
        <p:spPr>
          <a:xfrm>
            <a:off x="6172200" y="3931920"/>
            <a:ext cx="5440680" cy="1874520"/>
          </a:xfrm>
          <a:prstGeom prst="roundRect">
            <a:avLst>
              <a:gd name="adj" fmla="val 6829"/>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7" name="Pastille"/>
          <p:cNvSpPr/>
          <p:nvPr/>
        </p:nvSpPr>
        <p:spPr>
          <a:xfrm>
            <a:off x="6492240" y="4297680"/>
            <a:ext cx="566928" cy="566928"/>
          </a:xfrm>
          <a:prstGeom prst="roundRect">
            <a:avLst>
              <a:gd name="adj" fmla="val 19355"/>
            </a:avLst>
          </a:prstGeom>
          <a:solidFill>
            <a:srgbClr val="EEF0FF"/>
          </a:solidFill>
          <a:ln/>
        </p:spPr>
      </p:sp>
      <p:pic>
        <p:nvPicPr>
          <p:cNvPr id="18" name="Icône" descr="preencoded.png">    </p:cNvPr>
          <p:cNvPicPr>
            <a:picLocks noChangeAspect="1"/>
          </p:cNvPicPr>
          <p:nvPr/>
        </p:nvPicPr>
        <p:blipFill>
          <a:blip r:embed="rId4"/>
          <a:stretch>
            <a:fillRect/>
          </a:stretch>
        </p:blipFill>
        <p:spPr>
          <a:xfrm>
            <a:off x="6616964" y="4422404"/>
            <a:ext cx="317480" cy="317480"/>
          </a:xfrm>
          <a:prstGeom prst="rect">
            <a:avLst/>
          </a:prstGeom>
        </p:spPr>
      </p:pic>
      <p:sp>
        <p:nvSpPr>
          <p:cNvPr id="19" name="Question 4"/>
          <p:cNvSpPr txBox="1"/>
          <p:nvPr/>
        </p:nvSpPr>
        <p:spPr>
          <a:xfrm>
            <a:off x="7269480" y="4251960"/>
            <a:ext cx="4114800" cy="132588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Mes commerciaux passent-ils au bon endroit ?</a:t>
            </a:r>
            <a:endParaRPr lang="en-US" sz="2000" dirty="0"/>
          </a:p>
          <a:p>
            <a:pPr indent="0" marL="0">
              <a:spcAft>
                <a:spcPts val="400"/>
              </a:spcAft>
              <a:buNone/>
            </a:pPr>
            <a:r>
              <a:rPr lang="en-US" sz="1500" dirty="0">
                <a:solidFill>
                  <a:srgbClr val="64748B"/>
                </a:solidFill>
              </a:rPr>
              <a:t>Qui a été visité, qui a commandé, qui est oublié depuis 30 jours.</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Une seule carte pour décider</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Votre réseau, vos ventes, vos concurrents et toute la population tunisienne, réunis et à jour</a:t>
            </a:r>
            <a:endParaRPr lang="en-US" sz="1600" dirty="0"/>
          </a:p>
        </p:txBody>
      </p:sp>
      <p:sp>
        <p:nvSpPr>
          <p:cNvPr id="4" name="Cadre h1-pays"/>
          <p:cNvSpPr/>
          <p:nvPr/>
        </p:nvSpPr>
        <p:spPr>
          <a:xfrm>
            <a:off x="548640" y="1755648"/>
            <a:ext cx="6949440" cy="4398264"/>
          </a:xfrm>
          <a:prstGeom prst="roundRect">
            <a:avLst>
              <a:gd name="adj" fmla="val 2495"/>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h1-pays" descr="Carte du réseau et couverture">    </p:cNvPr>
          <p:cNvPicPr>
            <a:picLocks noChangeAspect="1"/>
          </p:cNvPicPr>
          <p:nvPr/>
        </p:nvPicPr>
        <p:blipFill>
          <a:blip r:embed="rId1"/>
          <a:stretch>
            <a:fillRect/>
          </a:stretch>
        </p:blipFill>
        <p:spPr>
          <a:xfrm>
            <a:off x="621792" y="1828800"/>
            <a:ext cx="6803136" cy="4251960"/>
          </a:xfrm>
          <a:prstGeom prst="rect">
            <a:avLst/>
          </a:prstGeom>
        </p:spPr>
      </p:pic>
      <p:sp>
        <p:nvSpPr>
          <p:cNvPr id="6" name="Chiffre habitants localisés au carré de 250 m"/>
          <p:cNvSpPr txBox="1"/>
          <p:nvPr/>
        </p:nvSpPr>
        <p:spPr>
          <a:xfrm>
            <a:off x="8001000" y="1783080"/>
            <a:ext cx="3657600" cy="1005840"/>
          </a:xfrm>
          <a:prstGeom prst="rect">
            <a:avLst/>
          </a:prstGeom>
          <a:noFill/>
          <a:ln/>
        </p:spPr>
        <p:txBody>
          <a:bodyPr wrap="square" lIns="0" tIns="0" rIns="0" bIns="0" rtlCol="0" anchor="t"/>
          <a:lstStyle/>
          <a:p>
            <a:pPr indent="0" marL="0">
              <a:buNone/>
            </a:pPr>
            <a:r>
              <a:rPr lang="en-US" sz="3600" b="1" dirty="0">
                <a:solidFill>
                  <a:schemeClr val="accent1"/>
                </a:solidFill>
              </a:rPr>
              <a:t>11,8 M</a:t>
            </a:r>
            <a:endParaRPr lang="en-US" sz="3600" dirty="0"/>
          </a:p>
          <a:p>
            <a:pPr indent="0" marL="0">
              <a:buNone/>
            </a:pPr>
            <a:r>
              <a:rPr lang="en-US" sz="1300" dirty="0">
                <a:solidFill>
                  <a:srgbClr val="64748B"/>
                </a:solidFill>
              </a:rPr>
              <a:t>habitants localisés au carré de 250 m</a:t>
            </a:r>
            <a:endParaRPr lang="en-US" sz="3600" dirty="0"/>
          </a:p>
        </p:txBody>
      </p:sp>
      <p:sp>
        <p:nvSpPr>
          <p:cNvPr id="7" name="Chiffre délégations avec le recensement 2024 et le pouvoir d’achat"/>
          <p:cNvSpPr txBox="1"/>
          <p:nvPr/>
        </p:nvSpPr>
        <p:spPr>
          <a:xfrm>
            <a:off x="8001000" y="2880360"/>
            <a:ext cx="3657600" cy="1005840"/>
          </a:xfrm>
          <a:prstGeom prst="rect">
            <a:avLst/>
          </a:prstGeom>
          <a:noFill/>
          <a:ln/>
        </p:spPr>
        <p:txBody>
          <a:bodyPr wrap="square" lIns="0" tIns="0" rIns="0" bIns="0" rtlCol="0" anchor="t"/>
          <a:lstStyle/>
          <a:p>
            <a:pPr indent="0" marL="0">
              <a:buNone/>
            </a:pPr>
            <a:r>
              <a:rPr lang="en-US" sz="3600" b="1" dirty="0">
                <a:solidFill>
                  <a:schemeClr val="accent1"/>
                </a:solidFill>
              </a:rPr>
              <a:t>265</a:t>
            </a:r>
            <a:endParaRPr lang="en-US" sz="3600" dirty="0"/>
          </a:p>
          <a:p>
            <a:pPr indent="0" marL="0">
              <a:buNone/>
            </a:pPr>
            <a:r>
              <a:rPr lang="en-US" sz="1300" dirty="0">
                <a:solidFill>
                  <a:srgbClr val="64748B"/>
                </a:solidFill>
              </a:rPr>
              <a:t>délégations avec le recensement 2024 et le pouvoir d’achat</a:t>
            </a:r>
            <a:endParaRPr lang="en-US" sz="3600" dirty="0"/>
          </a:p>
        </p:txBody>
      </p:sp>
      <p:sp>
        <p:nvSpPr>
          <p:cNvPr id="8" name="Chiffre pour estimer le chiffre d’affaires d’un emplacement"/>
          <p:cNvSpPr txBox="1"/>
          <p:nvPr/>
        </p:nvSpPr>
        <p:spPr>
          <a:xfrm>
            <a:off x="8001000" y="3977640"/>
            <a:ext cx="3657600" cy="1005840"/>
          </a:xfrm>
          <a:prstGeom prst="rect">
            <a:avLst/>
          </a:prstGeom>
          <a:noFill/>
          <a:ln/>
        </p:spPr>
        <p:txBody>
          <a:bodyPr wrap="square" lIns="0" tIns="0" rIns="0" bIns="0" rtlCol="0" anchor="t"/>
          <a:lstStyle/>
          <a:p>
            <a:pPr indent="0" marL="0">
              <a:buNone/>
            </a:pPr>
            <a:r>
              <a:rPr lang="en-US" sz="3600" b="1" dirty="0">
                <a:solidFill>
                  <a:schemeClr val="accent1"/>
                </a:solidFill>
              </a:rPr>
              <a:t>1 s</a:t>
            </a:r>
            <a:endParaRPr lang="en-US" sz="3600" dirty="0"/>
          </a:p>
          <a:p>
            <a:pPr indent="0" marL="0">
              <a:buNone/>
            </a:pPr>
            <a:r>
              <a:rPr lang="en-US" sz="1300" dirty="0">
                <a:solidFill>
                  <a:srgbClr val="64748B"/>
                </a:solidFill>
              </a:rPr>
              <a:t>pour estimer le chiffre d’affaires d’un emplacement</a:t>
            </a:r>
            <a:endParaRPr lang="en-US" sz="3600" dirty="0"/>
          </a:p>
        </p:txBody>
      </p:sp>
      <p:sp>
        <p:nvSpPr>
          <p:cNvPr id="9" name="Chiffre dans le navigateur et sur téléphone, sans installation"/>
          <p:cNvSpPr txBox="1"/>
          <p:nvPr/>
        </p:nvSpPr>
        <p:spPr>
          <a:xfrm>
            <a:off x="8001000" y="5074920"/>
            <a:ext cx="3657600" cy="1005840"/>
          </a:xfrm>
          <a:prstGeom prst="rect">
            <a:avLst/>
          </a:prstGeom>
          <a:noFill/>
          <a:ln/>
        </p:spPr>
        <p:txBody>
          <a:bodyPr wrap="square" lIns="0" tIns="0" rIns="0" bIns="0" rtlCol="0" anchor="t"/>
          <a:lstStyle/>
          <a:p>
            <a:pPr indent="0" marL="0">
              <a:buNone/>
            </a:pPr>
            <a:r>
              <a:rPr lang="en-US" sz="3600" b="1" dirty="0">
                <a:solidFill>
                  <a:schemeClr val="accent1"/>
                </a:solidFill>
              </a:rPr>
              <a:t>100 %</a:t>
            </a:r>
            <a:endParaRPr lang="en-US" sz="3600" dirty="0"/>
          </a:p>
          <a:p>
            <a:pPr indent="0" marL="0">
              <a:buNone/>
            </a:pPr>
            <a:r>
              <a:rPr lang="en-US" sz="1300" dirty="0">
                <a:solidFill>
                  <a:srgbClr val="64748B"/>
                </a:solidFill>
              </a:rPr>
              <a:t>dans le navigateur et sur téléphone, sans installation</a:t>
            </a: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Pour les réseaux et les distributeurs</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Deux façons de travailler, le même outil</a:t>
            </a:r>
            <a:endParaRPr lang="en-US" sz="1600" dirty="0"/>
          </a:p>
        </p:txBody>
      </p:sp>
      <p:sp>
        <p:nvSpPr>
          <p:cNvPr id="4" name="Carte"/>
          <p:cNvSpPr/>
          <p:nvPr/>
        </p:nvSpPr>
        <p:spPr>
          <a:xfrm>
            <a:off x="548640" y="1783080"/>
            <a:ext cx="5440680" cy="3246120"/>
          </a:xfrm>
          <a:prstGeom prst="roundRect">
            <a:avLst>
              <a:gd name="adj" fmla="val 394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5" name="Pastille"/>
          <p:cNvSpPr/>
          <p:nvPr/>
        </p:nvSpPr>
        <p:spPr>
          <a:xfrm>
            <a:off x="868680" y="2103120"/>
            <a:ext cx="566928" cy="566928"/>
          </a:xfrm>
          <a:prstGeom prst="roundRect">
            <a:avLst>
              <a:gd name="adj" fmla="val 19355"/>
            </a:avLst>
          </a:prstGeom>
          <a:solidFill>
            <a:srgbClr val="EEF0FF"/>
          </a:solidFill>
          <a:ln/>
        </p:spPr>
      </p:sp>
      <p:pic>
        <p:nvPicPr>
          <p:cNvPr id="6" name="Icône" descr="preencoded.png">    </p:cNvPr>
          <p:cNvPicPr>
            <a:picLocks noChangeAspect="1"/>
          </p:cNvPicPr>
          <p:nvPr/>
        </p:nvPicPr>
        <p:blipFill>
          <a:blip r:embed="rId1"/>
          <a:stretch>
            <a:fillRect/>
          </a:stretch>
        </p:blipFill>
        <p:spPr>
          <a:xfrm>
            <a:off x="993404" y="2227844"/>
            <a:ext cx="317480" cy="317480"/>
          </a:xfrm>
          <a:prstGeom prst="rect">
            <a:avLst/>
          </a:prstGeom>
        </p:spPr>
      </p:pic>
      <p:sp>
        <p:nvSpPr>
          <p:cNvPr id="7" name="Text 4"/>
          <p:cNvSpPr txBox="1"/>
          <p:nvPr/>
        </p:nvSpPr>
        <p:spPr>
          <a:xfrm>
            <a:off x="1600200" y="2148840"/>
            <a:ext cx="4114800" cy="457200"/>
          </a:xfrm>
          <a:prstGeom prst="rect">
            <a:avLst/>
          </a:prstGeom>
          <a:noFill/>
          <a:ln/>
        </p:spPr>
        <p:txBody>
          <a:bodyPr wrap="square" lIns="0" tIns="0" rIns="0" bIns="0" rtlCol="0" anchor="ctr"/>
          <a:lstStyle/>
          <a:p>
            <a:pPr indent="0" marL="0">
              <a:buNone/>
            </a:pPr>
            <a:r>
              <a:rPr lang="en-US" sz="2100" b="1" dirty="0">
                <a:solidFill>
                  <a:schemeClr val="tx1"/>
                </a:solidFill>
              </a:rPr>
              <a:t>Réseaux de points de vente</a:t>
            </a:r>
            <a:endParaRPr lang="en-US" sz="2100" dirty="0"/>
          </a:p>
        </p:txBody>
      </p:sp>
      <p:sp>
        <p:nvSpPr>
          <p:cNvPr id="8" name="Réseaux"/>
          <p:cNvSpPr txBox="1"/>
          <p:nvPr/>
        </p:nvSpPr>
        <p:spPr>
          <a:xfrm>
            <a:off x="868680" y="2788920"/>
            <a:ext cx="484632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Magasins propres, franchisés, en gérance libre</a:t>
            </a:r>
            <a:endParaRPr lang="en-US" sz="1500" dirty="0"/>
          </a:p>
          <a:p>
            <a:pPr marL="342900" indent="-342900">
              <a:spcAft>
                <a:spcPts val="600"/>
              </a:spcAft>
              <a:buSzPct val="100000"/>
              <a:buChar char="•"/>
            </a:pPr>
            <a:r>
              <a:rPr lang="en-US" sz="1500" dirty="0">
                <a:solidFill>
                  <a:schemeClr val="tx1"/>
                </a:solidFill>
              </a:rPr>
              <a:t>Chiffre d’affaires d’un nouveau point avant de signer le bail</a:t>
            </a:r>
            <a:endParaRPr lang="en-US" sz="1500" dirty="0"/>
          </a:p>
          <a:p>
            <a:pPr marL="342900" indent="-342900">
              <a:spcAft>
                <a:spcPts val="600"/>
              </a:spcAft>
              <a:buSzPct val="100000"/>
              <a:buChar char="•"/>
            </a:pPr>
            <a:r>
              <a:rPr lang="en-US" sz="1500" dirty="0">
                <a:solidFill>
                  <a:schemeClr val="tx1"/>
                </a:solidFill>
              </a:rPr>
              <a:t>CA par m², par habitant, rentabilité et point mort</a:t>
            </a:r>
            <a:endParaRPr lang="en-US" sz="1500" dirty="0"/>
          </a:p>
          <a:p>
            <a:pPr marL="342900" indent="-342900">
              <a:spcAft>
                <a:spcPts val="600"/>
              </a:spcAft>
              <a:buSzPct val="100000"/>
              <a:buChar char="•"/>
            </a:pPr>
            <a:r>
              <a:rPr lang="en-US" sz="1500" dirty="0">
                <a:solidFill>
                  <a:schemeClr val="tx1"/>
                </a:solidFill>
              </a:rPr>
              <a:t>Concurrents cartographiés et chiffrés</a:t>
            </a:r>
            <a:endParaRPr lang="en-US" sz="1500" dirty="0"/>
          </a:p>
        </p:txBody>
      </p:sp>
      <p:sp>
        <p:nvSpPr>
          <p:cNvPr id="9" name="Carte"/>
          <p:cNvSpPr/>
          <p:nvPr/>
        </p:nvSpPr>
        <p:spPr>
          <a:xfrm>
            <a:off x="6172200" y="1783080"/>
            <a:ext cx="5440680" cy="3246120"/>
          </a:xfrm>
          <a:prstGeom prst="roundRect">
            <a:avLst>
              <a:gd name="adj" fmla="val 394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0" name="Pastille"/>
          <p:cNvSpPr/>
          <p:nvPr/>
        </p:nvSpPr>
        <p:spPr>
          <a:xfrm>
            <a:off x="6492240" y="2103120"/>
            <a:ext cx="566928" cy="566928"/>
          </a:xfrm>
          <a:prstGeom prst="roundRect">
            <a:avLst>
              <a:gd name="adj" fmla="val 19355"/>
            </a:avLst>
          </a:prstGeom>
          <a:solidFill>
            <a:srgbClr val="EEF0FF"/>
          </a:solidFill>
          <a:ln/>
        </p:spPr>
      </p:sp>
      <p:pic>
        <p:nvPicPr>
          <p:cNvPr id="11" name="Icône" descr="preencoded.png">    </p:cNvPr>
          <p:cNvPicPr>
            <a:picLocks noChangeAspect="1"/>
          </p:cNvPicPr>
          <p:nvPr/>
        </p:nvPicPr>
        <p:blipFill>
          <a:blip r:embed="rId2"/>
          <a:stretch>
            <a:fillRect/>
          </a:stretch>
        </p:blipFill>
        <p:spPr>
          <a:xfrm>
            <a:off x="6616964" y="2227844"/>
            <a:ext cx="317480" cy="317480"/>
          </a:xfrm>
          <a:prstGeom prst="rect">
            <a:avLst/>
          </a:prstGeom>
        </p:spPr>
      </p:pic>
      <p:sp>
        <p:nvSpPr>
          <p:cNvPr id="12" name="Text 8"/>
          <p:cNvSpPr txBox="1"/>
          <p:nvPr/>
        </p:nvSpPr>
        <p:spPr>
          <a:xfrm>
            <a:off x="7223760" y="2148840"/>
            <a:ext cx="4114800" cy="457200"/>
          </a:xfrm>
          <a:prstGeom prst="rect">
            <a:avLst/>
          </a:prstGeom>
          <a:noFill/>
          <a:ln/>
        </p:spPr>
        <p:txBody>
          <a:bodyPr wrap="square" lIns="0" tIns="0" rIns="0" bIns="0" rtlCol="0" anchor="ctr"/>
          <a:lstStyle/>
          <a:p>
            <a:pPr indent="0" marL="0">
              <a:buNone/>
            </a:pPr>
            <a:r>
              <a:rPr lang="en-US" sz="2100" b="1" dirty="0">
                <a:solidFill>
                  <a:schemeClr val="tx1"/>
                </a:solidFill>
              </a:rPr>
              <a:t>Distributeurs</a:t>
            </a:r>
            <a:endParaRPr lang="en-US" sz="2100" dirty="0"/>
          </a:p>
        </p:txBody>
      </p:sp>
      <p:sp>
        <p:nvSpPr>
          <p:cNvPr id="13" name="Distributeurs"/>
          <p:cNvSpPr txBox="1"/>
          <p:nvPr/>
        </p:nvSpPr>
        <p:spPr>
          <a:xfrm>
            <a:off x="6492240" y="2788920"/>
            <a:ext cx="484632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Vos clients (épiceries, pharmacies, cafés…) sur la carte</a:t>
            </a:r>
            <a:endParaRPr lang="en-US" sz="1500" dirty="0"/>
          </a:p>
          <a:p>
            <a:pPr marL="342900" indent="-342900">
              <a:spcAft>
                <a:spcPts val="600"/>
              </a:spcAft>
              <a:buSzPct val="100000"/>
              <a:buChar char="•"/>
            </a:pPr>
            <a:r>
              <a:rPr lang="en-US" sz="1500" dirty="0">
                <a:solidFill>
                  <a:schemeClr val="tx1"/>
                </a:solidFill>
              </a:rPr>
              <a:t>Zones couvertes et zones blanches, hexagone par hexagone</a:t>
            </a:r>
            <a:endParaRPr lang="en-US" sz="1500" dirty="0"/>
          </a:p>
          <a:p>
            <a:pPr marL="342900" indent="-342900">
              <a:spcAft>
                <a:spcPts val="600"/>
              </a:spcAft>
              <a:buSzPct val="100000"/>
              <a:buChar char="•"/>
            </a:pPr>
            <a:r>
              <a:rPr lang="en-US" sz="1500" dirty="0">
                <a:solidFill>
                  <a:schemeClr val="tx1"/>
                </a:solidFill>
              </a:rPr>
              <a:t>Potentiel des zones non couvertes, chiffré</a:t>
            </a:r>
            <a:endParaRPr lang="en-US" sz="1500" dirty="0"/>
          </a:p>
          <a:p>
            <a:pPr marL="342900" indent="-342900">
              <a:spcAft>
                <a:spcPts val="600"/>
              </a:spcAft>
              <a:buSzPct val="100000"/>
              <a:buChar char="•"/>
            </a:pPr>
            <a:r>
              <a:rPr lang="en-US" sz="1500" dirty="0">
                <a:solidFill>
                  <a:schemeClr val="tx1"/>
                </a:solidFill>
              </a:rPr>
              <a:t>Tournées et visites des commerciaux</a:t>
            </a:r>
            <a:endParaRPr lang="en-US" sz="1500" dirty="0"/>
          </a:p>
        </p:txBody>
      </p:sp>
      <p:sp>
        <p:nvSpPr>
          <p:cNvPr id="14" name="Secteurs"/>
          <p:cNvSpPr txBox="1"/>
          <p:nvPr/>
        </p:nvSpPr>
        <p:spPr>
          <a:xfrm>
            <a:off x="548640" y="5349240"/>
            <a:ext cx="11064240" cy="457200"/>
          </a:xfrm>
          <a:prstGeom prst="rect">
            <a:avLst/>
          </a:prstGeom>
          <a:noFill/>
          <a:ln/>
        </p:spPr>
        <p:txBody>
          <a:bodyPr wrap="square" lIns="0" tIns="0" rIns="0" bIns="0" rtlCol="0" anchor="ctr"/>
          <a:lstStyle/>
          <a:p>
            <a:pPr algn="ctr" indent="0" marL="0">
              <a:buNone/>
            </a:pPr>
            <a:r>
              <a:rPr lang="en-US" sz="1600" b="1" dirty="0">
                <a:solidFill>
                  <a:schemeClr val="accent1"/>
                </a:solidFill>
              </a:rPr>
              <a:t>Agroalimentaire · Alimentaire · Pharmacie et parapharmacie · Habillement · Boissons · Produits laitiers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8686800" cy="1005840"/>
          </a:xfrm>
          <a:prstGeom prst="rect">
            <a:avLst/>
          </a:prstGeom>
          <a:noFill/>
          <a:ln/>
        </p:spPr>
        <p:txBody>
          <a:bodyPr wrap="square" lIns="0" tIns="0" rIns="0" bIns="0" rtlCol="0" anchor="t"/>
          <a:lstStyle/>
          <a:p>
            <a:pPr algn="l" indent="0" marL="0">
              <a:buNone/>
            </a:pPr>
            <a:r>
              <a:rPr lang="en-US" sz="4000" b="1" dirty="0">
                <a:solidFill>
                  <a:schemeClr val="bg1"/>
                </a:solidFill>
              </a:rPr>
              <a:t>Ce que fait GeoPulse</a:t>
            </a:r>
            <a:endParaRPr lang="en-US" sz="4000" dirty="0"/>
          </a:p>
        </p:txBody>
      </p:sp>
      <p:sp>
        <p:nvSpPr>
          <p:cNvPr id="3" name="Text 0"/>
          <p:cNvSpPr/>
          <p:nvPr>
            <p:ph idx="101" type="body" hasCustomPrompt="1"/>
          </p:nvPr>
        </p:nvSpPr>
        <p:spPr>
          <a:xfrm>
            <a:off x="822960" y="3703320"/>
            <a:ext cx="8686800" cy="731520"/>
          </a:xfrm>
          <a:prstGeom prst="rect">
            <a:avLst/>
          </a:prstGeom>
          <a:noFill/>
          <a:ln/>
        </p:spPr>
        <p:txBody>
          <a:bodyPr wrap="square" lIns="0" tIns="0" rIns="0" bIns="0" rtlCol="0" anchor="t"/>
          <a:lstStyle/>
          <a:p>
            <a:pPr indent="0" marL="0">
              <a:buNone/>
            </a:pPr>
            <a:r>
              <a:rPr lang="en-US" sz="1800" dirty="0">
                <a:solidFill>
                  <a:schemeClr val="bg2"/>
                </a:solidFill>
              </a:rPr>
              <a:t>Dix outils, une seule carte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Votre réseau et vos concurrents sur la carte</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Chaque point avec ses informations, ses ventes et son indice de passage</a:t>
            </a:r>
            <a:endParaRPr lang="en-US" sz="1600" dirty="0"/>
          </a:p>
        </p:txBody>
      </p:sp>
      <p:sp>
        <p:nvSpPr>
          <p:cNvPr id="4" name="Cadre g3-couche"/>
          <p:cNvSpPr/>
          <p:nvPr/>
        </p:nvSpPr>
        <p:spPr>
          <a:xfrm>
            <a:off x="548640" y="1755648"/>
            <a:ext cx="6949440" cy="4398264"/>
          </a:xfrm>
          <a:prstGeom prst="roundRect">
            <a:avLst>
              <a:gd name="adj" fmla="val 2495"/>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g3-couche" descr="Carte avec générateurs de trafic">    </p:cNvPr>
          <p:cNvPicPr>
            <a:picLocks noChangeAspect="1"/>
          </p:cNvPicPr>
          <p:nvPr/>
        </p:nvPicPr>
        <p:blipFill>
          <a:blip r:embed="rId1"/>
          <a:stretch>
            <a:fillRect/>
          </a:stretch>
        </p:blipFill>
        <p:spPr>
          <a:xfrm>
            <a:off x="621792" y="1828800"/>
            <a:ext cx="6803136" cy="4251960"/>
          </a:xfrm>
          <a:prstGeom prst="rect">
            <a:avLst/>
          </a:prstGeom>
        </p:spPr>
      </p:pic>
      <p:sp>
        <p:nvSpPr>
          <p:cNvPr id="6" name="Pastille"/>
          <p:cNvSpPr/>
          <p:nvPr/>
        </p:nvSpPr>
        <p:spPr>
          <a:xfrm>
            <a:off x="7863840" y="1783080"/>
            <a:ext cx="457200" cy="457200"/>
          </a:xfrm>
          <a:prstGeom prst="roundRect">
            <a:avLst>
              <a:gd name="adj" fmla="val 24000"/>
            </a:avLst>
          </a:prstGeom>
          <a:solidFill>
            <a:srgbClr val="EEF0FF"/>
          </a:solidFill>
          <a:ln/>
        </p:spPr>
      </p:sp>
      <p:pic>
        <p:nvPicPr>
          <p:cNvPr id="7" name="Icône" descr="preencoded.png">    </p:cNvPr>
          <p:cNvPicPr>
            <a:picLocks noChangeAspect="1"/>
          </p:cNvPicPr>
          <p:nvPr/>
        </p:nvPicPr>
        <p:blipFill>
          <a:blip r:embed="rId2"/>
          <a:stretch>
            <a:fillRect/>
          </a:stretch>
        </p:blipFill>
        <p:spPr>
          <a:xfrm>
            <a:off x="7964424" y="1883664"/>
            <a:ext cx="256032" cy="256032"/>
          </a:xfrm>
          <a:prstGeom prst="rect">
            <a:avLst/>
          </a:prstGeom>
        </p:spPr>
      </p:pic>
      <p:sp>
        <p:nvSpPr>
          <p:cNvPr id="8" name="Texte Vos propres catégories"/>
          <p:cNvSpPr txBox="1"/>
          <p:nvPr/>
        </p:nvSpPr>
        <p:spPr>
          <a:xfrm>
            <a:off x="8485632" y="1746504"/>
            <a:ext cx="312724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Vos propres catégories</a:t>
            </a:r>
            <a:endParaRPr lang="en-US" sz="1600" dirty="0"/>
          </a:p>
          <a:p>
            <a:pPr indent="0" marL="0">
              <a:spcAft>
                <a:spcPts val="200"/>
              </a:spcAft>
              <a:buNone/>
            </a:pPr>
            <a:r>
              <a:rPr lang="en-US" sz="1400" dirty="0">
                <a:solidFill>
                  <a:srgbClr val="64748B"/>
                </a:solidFill>
              </a:rPr>
              <a:t>Magasin propre, franchise, client, concurrent, prospect : vous créez vos types et leurs champs.</a:t>
            </a:r>
            <a:endParaRPr lang="en-US" sz="1600" dirty="0"/>
          </a:p>
        </p:txBody>
      </p:sp>
      <p:sp>
        <p:nvSpPr>
          <p:cNvPr id="9" name="Pastille"/>
          <p:cNvSpPr/>
          <p:nvPr/>
        </p:nvSpPr>
        <p:spPr>
          <a:xfrm>
            <a:off x="7863840" y="2880360"/>
            <a:ext cx="457200" cy="457200"/>
          </a:xfrm>
          <a:prstGeom prst="roundRect">
            <a:avLst>
              <a:gd name="adj" fmla="val 24000"/>
            </a:avLst>
          </a:prstGeom>
          <a:solidFill>
            <a:srgbClr val="EEF0FF"/>
          </a:solidFill>
          <a:ln/>
        </p:spPr>
      </p:sp>
      <p:pic>
        <p:nvPicPr>
          <p:cNvPr id="10" name="Icône" descr="preencoded.png">    </p:cNvPr>
          <p:cNvPicPr>
            <a:picLocks noChangeAspect="1"/>
          </p:cNvPicPr>
          <p:nvPr/>
        </p:nvPicPr>
        <p:blipFill>
          <a:blip r:embed="rId3"/>
          <a:stretch>
            <a:fillRect/>
          </a:stretch>
        </p:blipFill>
        <p:spPr>
          <a:xfrm>
            <a:off x="7964424" y="2980944"/>
            <a:ext cx="256032" cy="256032"/>
          </a:xfrm>
          <a:prstGeom prst="rect">
            <a:avLst/>
          </a:prstGeom>
        </p:spPr>
      </p:pic>
      <p:sp>
        <p:nvSpPr>
          <p:cNvPr id="11" name="Texte Une fiche par point"/>
          <p:cNvSpPr txBox="1"/>
          <p:nvPr/>
        </p:nvSpPr>
        <p:spPr>
          <a:xfrm>
            <a:off x="8485632" y="2843784"/>
            <a:ext cx="312724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Une fiche par point</a:t>
            </a:r>
            <a:endParaRPr lang="en-US" sz="1600" dirty="0"/>
          </a:p>
          <a:p>
            <a:pPr indent="0" marL="0">
              <a:spcAft>
                <a:spcPts val="200"/>
              </a:spcAft>
              <a:buNone/>
            </a:pPr>
            <a:r>
              <a:rPr lang="en-US" sz="1400" dirty="0">
                <a:solidFill>
                  <a:srgbClr val="64748B"/>
                </a:solidFill>
              </a:rPr>
              <a:t>Code ERP, surface, gérant, CA des 12 derniers mois et son évolution.</a:t>
            </a:r>
            <a:endParaRPr lang="en-US" sz="1600" dirty="0"/>
          </a:p>
        </p:txBody>
      </p:sp>
      <p:sp>
        <p:nvSpPr>
          <p:cNvPr id="12" name="Pastille"/>
          <p:cNvSpPr/>
          <p:nvPr/>
        </p:nvSpPr>
        <p:spPr>
          <a:xfrm>
            <a:off x="7863840" y="3977640"/>
            <a:ext cx="457200" cy="457200"/>
          </a:xfrm>
          <a:prstGeom prst="roundRect">
            <a:avLst>
              <a:gd name="adj" fmla="val 24000"/>
            </a:avLst>
          </a:prstGeom>
          <a:solidFill>
            <a:srgbClr val="EEF0FF"/>
          </a:solidFill>
          <a:ln/>
        </p:spPr>
      </p:sp>
      <p:pic>
        <p:nvPicPr>
          <p:cNvPr id="13" name="Icône" descr="preencoded.png">    </p:cNvPr>
          <p:cNvPicPr>
            <a:picLocks noChangeAspect="1"/>
          </p:cNvPicPr>
          <p:nvPr/>
        </p:nvPicPr>
        <p:blipFill>
          <a:blip r:embed="rId4"/>
          <a:stretch>
            <a:fillRect/>
          </a:stretch>
        </p:blipFill>
        <p:spPr>
          <a:xfrm>
            <a:off x="7964424" y="4078224"/>
            <a:ext cx="256032" cy="256032"/>
          </a:xfrm>
          <a:prstGeom prst="rect">
            <a:avLst/>
          </a:prstGeom>
        </p:spPr>
      </p:pic>
      <p:sp>
        <p:nvSpPr>
          <p:cNvPr id="14" name="Texte Générateurs de trafic"/>
          <p:cNvSpPr txBox="1"/>
          <p:nvPr/>
        </p:nvSpPr>
        <p:spPr>
          <a:xfrm>
            <a:off x="8485632" y="3941064"/>
            <a:ext cx="312724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Générateurs de trafic</a:t>
            </a:r>
            <a:endParaRPr lang="en-US" sz="1600" dirty="0"/>
          </a:p>
          <a:p>
            <a:pPr indent="0" marL="0">
              <a:spcAft>
                <a:spcPts val="200"/>
              </a:spcAft>
              <a:buNone/>
            </a:pPr>
            <a:r>
              <a:rPr lang="en-US" sz="1400" dirty="0">
                <a:solidFill>
                  <a:srgbClr val="64748B"/>
                </a:solidFill>
              </a:rPr>
              <a:t>Écoles, mosquées, hôpitaux, gares, marchés : un indice de passage pour chaque adresse.</a:t>
            </a:r>
            <a:endParaRPr lang="en-US" sz="1600" dirty="0"/>
          </a:p>
        </p:txBody>
      </p:sp>
      <p:sp>
        <p:nvSpPr>
          <p:cNvPr id="15" name="Pastille"/>
          <p:cNvSpPr/>
          <p:nvPr/>
        </p:nvSpPr>
        <p:spPr>
          <a:xfrm>
            <a:off x="7863840" y="5257800"/>
            <a:ext cx="457200" cy="457200"/>
          </a:xfrm>
          <a:prstGeom prst="roundRect">
            <a:avLst>
              <a:gd name="adj" fmla="val 24000"/>
            </a:avLst>
          </a:prstGeom>
          <a:solidFill>
            <a:srgbClr val="EEF0FF"/>
          </a:solidFill>
          <a:ln/>
        </p:spPr>
      </p:sp>
      <p:pic>
        <p:nvPicPr>
          <p:cNvPr id="16" name="Icône" descr="preencoded.png">    </p:cNvPr>
          <p:cNvPicPr>
            <a:picLocks noChangeAspect="1"/>
          </p:cNvPicPr>
          <p:nvPr/>
        </p:nvPicPr>
        <p:blipFill>
          <a:blip r:embed="rId5"/>
          <a:stretch>
            <a:fillRect/>
          </a:stretch>
        </p:blipFill>
        <p:spPr>
          <a:xfrm>
            <a:off x="7964424" y="5358384"/>
            <a:ext cx="256032" cy="256032"/>
          </a:xfrm>
          <a:prstGeom prst="rect">
            <a:avLst/>
          </a:prstGeom>
        </p:spPr>
      </p:pic>
      <p:sp>
        <p:nvSpPr>
          <p:cNvPr id="17" name="Texte Validation des points"/>
          <p:cNvSpPr txBox="1"/>
          <p:nvPr/>
        </p:nvSpPr>
        <p:spPr>
          <a:xfrm>
            <a:off x="8485632" y="5221224"/>
            <a:ext cx="312724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Validation des points</a:t>
            </a:r>
            <a:endParaRPr lang="en-US" sz="1600" dirty="0"/>
          </a:p>
          <a:p>
            <a:pPr indent="0" marL="0">
              <a:spcAft>
                <a:spcPts val="200"/>
              </a:spcAft>
              <a:buNone/>
            </a:pPr>
            <a:r>
              <a:rPr lang="en-US" sz="1400" dirty="0">
                <a:solidFill>
                  <a:srgbClr val="64748B"/>
                </a:solidFill>
              </a:rPr>
              <a:t>Le commercial propose, le manager valide : une base propre.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Simulateur : le CA d’un emplacement en un clic</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Cliquez sur la carte, GeoPulse estime le chiffre d’affaires mensuel et sa fourchette</a:t>
            </a:r>
            <a:endParaRPr lang="en-US" sz="1600" dirty="0"/>
          </a:p>
        </p:txBody>
      </p:sp>
      <p:sp>
        <p:nvSpPr>
          <p:cNvPr id="4" name="Cadre t1-pied-c"/>
          <p:cNvSpPr/>
          <p:nvPr/>
        </p:nvSpPr>
        <p:spPr>
          <a:xfrm>
            <a:off x="702977" y="1645920"/>
            <a:ext cx="2937446" cy="4617720"/>
          </a:xfrm>
          <a:prstGeom prst="roundRect">
            <a:avLst>
              <a:gd name="adj" fmla="val 3735"/>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t1-pied-c" descr="Simulateur d’emplacement">    </p:cNvPr>
          <p:cNvPicPr>
            <a:picLocks noChangeAspect="1"/>
          </p:cNvPicPr>
          <p:nvPr/>
        </p:nvPicPr>
        <p:blipFill>
          <a:blip r:embed="rId1"/>
          <a:stretch>
            <a:fillRect/>
          </a:stretch>
        </p:blipFill>
        <p:spPr>
          <a:xfrm>
            <a:off x="776129" y="1719072"/>
            <a:ext cx="2791142" cy="4471416"/>
          </a:xfrm>
          <a:prstGeom prst="rect">
            <a:avLst/>
          </a:prstGeom>
        </p:spPr>
      </p:pic>
      <p:sp>
        <p:nvSpPr>
          <p:cNvPr id="6" name="Cadre i1-voiture-map"/>
          <p:cNvSpPr/>
          <p:nvPr/>
        </p:nvSpPr>
        <p:spPr>
          <a:xfrm>
            <a:off x="4069080" y="2163959"/>
            <a:ext cx="3794760" cy="3581642"/>
          </a:xfrm>
          <a:prstGeom prst="roundRect">
            <a:avLst>
              <a:gd name="adj" fmla="val 306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7" name="Capture i1-voiture-map" descr="Zone à 10 minutes en voiture">    </p:cNvPr>
          <p:cNvPicPr>
            <a:picLocks noChangeAspect="1"/>
          </p:cNvPicPr>
          <p:nvPr/>
        </p:nvPicPr>
        <p:blipFill>
          <a:blip r:embed="rId2"/>
          <a:stretch>
            <a:fillRect/>
          </a:stretch>
        </p:blipFill>
        <p:spPr>
          <a:xfrm>
            <a:off x="4142232" y="2237111"/>
            <a:ext cx="3648456" cy="3435338"/>
          </a:xfrm>
          <a:prstGeom prst="rect">
            <a:avLst/>
          </a:prstGeom>
        </p:spPr>
      </p:pic>
      <p:sp>
        <p:nvSpPr>
          <p:cNvPr id="8" name="Pastille"/>
          <p:cNvSpPr/>
          <p:nvPr/>
        </p:nvSpPr>
        <p:spPr>
          <a:xfrm>
            <a:off x="8183880" y="1783080"/>
            <a:ext cx="457200" cy="457200"/>
          </a:xfrm>
          <a:prstGeom prst="roundRect">
            <a:avLst>
              <a:gd name="adj" fmla="val 24000"/>
            </a:avLst>
          </a:prstGeom>
          <a:solidFill>
            <a:srgbClr val="EEF0FF"/>
          </a:solidFill>
          <a:ln/>
        </p:spPr>
      </p:sp>
      <p:pic>
        <p:nvPicPr>
          <p:cNvPr id="9" name="Icône" descr="preencoded.png">    </p:cNvPr>
          <p:cNvPicPr>
            <a:picLocks noChangeAspect="1"/>
          </p:cNvPicPr>
          <p:nvPr/>
        </p:nvPicPr>
        <p:blipFill>
          <a:blip r:embed="rId3"/>
          <a:stretch>
            <a:fillRect/>
          </a:stretch>
        </p:blipFill>
        <p:spPr>
          <a:xfrm>
            <a:off x="8284464" y="1883664"/>
            <a:ext cx="256032" cy="256032"/>
          </a:xfrm>
          <a:prstGeom prst="rect">
            <a:avLst/>
          </a:prstGeom>
        </p:spPr>
      </p:pic>
      <p:sp>
        <p:nvSpPr>
          <p:cNvPr id="10" name="Texte Deux méthodes croisées"/>
          <p:cNvSpPr txBox="1"/>
          <p:nvPr/>
        </p:nvSpPr>
        <p:spPr>
          <a:xfrm>
            <a:off x="8805672" y="1746504"/>
            <a:ext cx="285292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Deux méthodes croisées</a:t>
            </a:r>
            <a:endParaRPr lang="en-US" sz="1600" dirty="0"/>
          </a:p>
          <a:p>
            <a:pPr indent="0" marL="0">
              <a:spcAft>
                <a:spcPts val="200"/>
              </a:spcAft>
              <a:buNone/>
            </a:pPr>
            <a:r>
              <a:rPr lang="en-US" sz="1400" dirty="0">
                <a:solidFill>
                  <a:srgbClr val="64748B"/>
                </a:solidFill>
              </a:rPr>
              <a:t>Modèle gravitaire réglé sur vos ventes et magasins jumeaux les plus semblables.</a:t>
            </a:r>
            <a:endParaRPr lang="en-US" sz="1600" dirty="0"/>
          </a:p>
        </p:txBody>
      </p:sp>
      <p:sp>
        <p:nvSpPr>
          <p:cNvPr id="11" name="Pastille"/>
          <p:cNvSpPr/>
          <p:nvPr/>
        </p:nvSpPr>
        <p:spPr>
          <a:xfrm>
            <a:off x="8183880" y="2971800"/>
            <a:ext cx="457200" cy="457200"/>
          </a:xfrm>
          <a:prstGeom prst="roundRect">
            <a:avLst>
              <a:gd name="adj" fmla="val 24000"/>
            </a:avLst>
          </a:prstGeom>
          <a:solidFill>
            <a:srgbClr val="EEF0FF"/>
          </a:solidFill>
          <a:ln/>
        </p:spPr>
      </p:sp>
      <p:pic>
        <p:nvPicPr>
          <p:cNvPr id="12" name="Icône" descr="preencoded.png">    </p:cNvPr>
          <p:cNvPicPr>
            <a:picLocks noChangeAspect="1"/>
          </p:cNvPicPr>
          <p:nvPr/>
        </p:nvPicPr>
        <p:blipFill>
          <a:blip r:embed="rId4"/>
          <a:stretch>
            <a:fillRect/>
          </a:stretch>
        </p:blipFill>
        <p:spPr>
          <a:xfrm>
            <a:off x="8284464" y="3072384"/>
            <a:ext cx="256032" cy="256032"/>
          </a:xfrm>
          <a:prstGeom prst="rect">
            <a:avLst/>
          </a:prstGeom>
        </p:spPr>
      </p:pic>
      <p:sp>
        <p:nvSpPr>
          <p:cNvPr id="13" name="Texte Zone réelle"/>
          <p:cNvSpPr txBox="1"/>
          <p:nvPr/>
        </p:nvSpPr>
        <p:spPr>
          <a:xfrm>
            <a:off x="8805672" y="2935224"/>
            <a:ext cx="285292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Zone réelle</a:t>
            </a:r>
            <a:endParaRPr lang="en-US" sz="1600" dirty="0"/>
          </a:p>
          <a:p>
            <a:pPr indent="0" marL="0">
              <a:spcAft>
                <a:spcPts val="200"/>
              </a:spcAft>
              <a:buNone/>
            </a:pPr>
            <a:r>
              <a:rPr lang="en-US" sz="1400" dirty="0">
                <a:solidFill>
                  <a:srgbClr val="64748B"/>
                </a:solidFill>
              </a:rPr>
              <a:t>Cercle, ou 5, 10, 15 minutes à pied ou en voiture par les routes.</a:t>
            </a:r>
            <a:endParaRPr lang="en-US" sz="1600" dirty="0"/>
          </a:p>
        </p:txBody>
      </p:sp>
      <p:sp>
        <p:nvSpPr>
          <p:cNvPr id="14" name="Pastille"/>
          <p:cNvSpPr/>
          <p:nvPr/>
        </p:nvSpPr>
        <p:spPr>
          <a:xfrm>
            <a:off x="8183880" y="4160520"/>
            <a:ext cx="457200" cy="457200"/>
          </a:xfrm>
          <a:prstGeom prst="roundRect">
            <a:avLst>
              <a:gd name="adj" fmla="val 24000"/>
            </a:avLst>
          </a:prstGeom>
          <a:solidFill>
            <a:srgbClr val="EEF0FF"/>
          </a:solidFill>
          <a:ln/>
        </p:spPr>
      </p:sp>
      <p:pic>
        <p:nvPicPr>
          <p:cNvPr id="15" name="Icône" descr="preencoded.png">    </p:cNvPr>
          <p:cNvPicPr>
            <a:picLocks noChangeAspect="1"/>
          </p:cNvPicPr>
          <p:nvPr/>
        </p:nvPicPr>
        <p:blipFill>
          <a:blip r:embed="rId5"/>
          <a:stretch>
            <a:fillRect/>
          </a:stretch>
        </p:blipFill>
        <p:spPr>
          <a:xfrm>
            <a:off x="8284464" y="4261104"/>
            <a:ext cx="256032" cy="256032"/>
          </a:xfrm>
          <a:prstGeom prst="rect">
            <a:avLst/>
          </a:prstGeom>
        </p:spPr>
      </p:pic>
      <p:sp>
        <p:nvSpPr>
          <p:cNvPr id="16" name="Texte Fiabilité affichée"/>
          <p:cNvSpPr txBox="1"/>
          <p:nvPr/>
        </p:nvSpPr>
        <p:spPr>
          <a:xfrm>
            <a:off x="8805672" y="4123944"/>
            <a:ext cx="285292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Fiabilité affichée</a:t>
            </a:r>
            <a:endParaRPr lang="en-US" sz="1600" dirty="0"/>
          </a:p>
          <a:p>
            <a:pPr indent="0" marL="0">
              <a:spcAft>
                <a:spcPts val="200"/>
              </a:spcAft>
              <a:buNone/>
            </a:pPr>
            <a:r>
              <a:rPr lang="en-US" sz="1400" dirty="0">
                <a:solidFill>
                  <a:srgbClr val="64748B"/>
                </a:solidFill>
              </a:rPr>
              <a:t>Fourchette, note de confiance et erreur mesurée sur votre propre réseau.</a:t>
            </a:r>
            <a:endParaRPr lang="en-US" sz="1600" dirty="0"/>
          </a:p>
        </p:txBody>
      </p:sp>
      <p:sp>
        <p:nvSpPr>
          <p:cNvPr id="17" name="Pastille"/>
          <p:cNvSpPr/>
          <p:nvPr/>
        </p:nvSpPr>
        <p:spPr>
          <a:xfrm>
            <a:off x="8183880" y="5349240"/>
            <a:ext cx="457200" cy="457200"/>
          </a:xfrm>
          <a:prstGeom prst="roundRect">
            <a:avLst>
              <a:gd name="adj" fmla="val 24000"/>
            </a:avLst>
          </a:prstGeom>
          <a:solidFill>
            <a:srgbClr val="EEF0FF"/>
          </a:solidFill>
          <a:ln/>
        </p:spPr>
      </p:sp>
      <p:pic>
        <p:nvPicPr>
          <p:cNvPr id="18" name="Icône" descr="preencoded.png">    </p:cNvPr>
          <p:cNvPicPr>
            <a:picLocks noChangeAspect="1"/>
          </p:cNvPicPr>
          <p:nvPr/>
        </p:nvPicPr>
        <p:blipFill>
          <a:blip r:embed="rId6"/>
          <a:stretch>
            <a:fillRect/>
          </a:stretch>
        </p:blipFill>
        <p:spPr>
          <a:xfrm>
            <a:off x="8284464" y="5449824"/>
            <a:ext cx="256032" cy="256032"/>
          </a:xfrm>
          <a:prstGeom prst="rect">
            <a:avLst/>
          </a:prstGeom>
        </p:spPr>
      </p:pic>
      <p:sp>
        <p:nvSpPr>
          <p:cNvPr id="19" name="Texte Rentabilité"/>
          <p:cNvSpPr txBox="1"/>
          <p:nvPr/>
        </p:nvSpPr>
        <p:spPr>
          <a:xfrm>
            <a:off x="8805672" y="5312664"/>
            <a:ext cx="2852928" cy="9144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Rentabilité</a:t>
            </a:r>
            <a:endParaRPr lang="en-US" sz="1600" dirty="0"/>
          </a:p>
          <a:p>
            <a:pPr indent="0" marL="0">
              <a:spcAft>
                <a:spcPts val="200"/>
              </a:spcAft>
              <a:buNone/>
            </a:pPr>
            <a:r>
              <a:rPr lang="en-US" sz="1400" dirty="0">
                <a:solidFill>
                  <a:srgbClr val="64748B"/>
                </a:solidFill>
              </a:rPr>
              <a:t>Cannibalisation, résultat mensuel, point mort et délai de retour.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La zone de chalandise qui colle à vos ventes</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GeoPulse teste chaque taille de zone sur vos magasins et vous dit laquelle est la plus précise</a:t>
            </a:r>
            <a:endParaRPr lang="en-US" sz="1600" dirty="0"/>
          </a:p>
        </p:txBody>
      </p:sp>
      <p:sp>
        <p:nvSpPr>
          <p:cNvPr id="4" name="Cadre t2-comparaison-c"/>
          <p:cNvSpPr/>
          <p:nvPr/>
        </p:nvSpPr>
        <p:spPr>
          <a:xfrm>
            <a:off x="548640" y="1936096"/>
            <a:ext cx="5120640" cy="4037368"/>
          </a:xfrm>
          <a:prstGeom prst="roundRect">
            <a:avLst>
              <a:gd name="adj" fmla="val 2718"/>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t2-comparaison-c" descr="Précision de chaque zone">    </p:cNvPr>
          <p:cNvPicPr>
            <a:picLocks noChangeAspect="1"/>
          </p:cNvPicPr>
          <p:nvPr/>
        </p:nvPicPr>
        <p:blipFill>
          <a:blip r:embed="rId1"/>
          <a:stretch>
            <a:fillRect/>
          </a:stretch>
        </p:blipFill>
        <p:spPr>
          <a:xfrm>
            <a:off x="621792" y="2009248"/>
            <a:ext cx="4974336" cy="3891064"/>
          </a:xfrm>
          <a:prstGeom prst="rect">
            <a:avLst/>
          </a:prstGeom>
        </p:spPr>
      </p:pic>
      <p:sp>
        <p:nvSpPr>
          <p:cNvPr id="6" name="Carte"/>
          <p:cNvSpPr/>
          <p:nvPr/>
        </p:nvSpPr>
        <p:spPr>
          <a:xfrm>
            <a:off x="6035040" y="1783080"/>
            <a:ext cx="5577840" cy="4343400"/>
          </a:xfrm>
          <a:prstGeom prst="roundRect">
            <a:avLst>
              <a:gd name="adj" fmla="val 294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7" name="Text 4"/>
          <p:cNvSpPr txBox="1"/>
          <p:nvPr/>
        </p:nvSpPr>
        <p:spPr>
          <a:xfrm>
            <a:off x="6355080" y="2057400"/>
            <a:ext cx="4937760" cy="457200"/>
          </a:xfrm>
          <a:prstGeom prst="rect">
            <a:avLst/>
          </a:prstGeom>
          <a:noFill/>
          <a:ln/>
        </p:spPr>
        <p:txBody>
          <a:bodyPr wrap="square" lIns="0" tIns="0" rIns="0" bIns="0" rtlCol="0" anchor="ctr"/>
          <a:lstStyle/>
          <a:p>
            <a:pPr indent="0" marL="0">
              <a:buNone/>
            </a:pPr>
            <a:r>
              <a:rPr lang="en-US" sz="2000" b="1" dirty="0">
                <a:solidFill>
                  <a:schemeClr val="tx1"/>
                </a:solidFill>
              </a:rPr>
              <a:t>Comment ça marche</a:t>
            </a:r>
            <a:endParaRPr lang="en-US" sz="2000" dirty="0"/>
          </a:p>
        </p:txBody>
      </p:sp>
      <p:sp>
        <p:nvSpPr>
          <p:cNvPr id="8" name="Méthode"/>
          <p:cNvSpPr txBox="1"/>
          <p:nvPr/>
        </p:nvSpPr>
        <p:spPr>
          <a:xfrm>
            <a:off x="6355080" y="2651760"/>
            <a:ext cx="498348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Chacun de vos magasins est caché à tour de rôle, puis estimé à partir des autres.</a:t>
            </a:r>
            <a:endParaRPr lang="en-US" sz="1500" dirty="0"/>
          </a:p>
          <a:p>
            <a:pPr marL="342900" indent="-342900">
              <a:spcAft>
                <a:spcPts val="800"/>
              </a:spcAft>
              <a:buSzPct val="100000"/>
              <a:buFont typeface="+mj-lt"/>
              <a:buAutoNum type="arabicPeriod" startAt="1"/>
            </a:pPr>
            <a:r>
              <a:rPr lang="en-US" sz="1500" dirty="0">
                <a:solidFill>
                  <a:schemeClr val="tx1"/>
                </a:solidFill>
              </a:rPr>
              <a:t>L’estimation est comparée à ses ventes réelles.</a:t>
            </a:r>
            <a:endParaRPr lang="en-US" sz="1500" dirty="0"/>
          </a:p>
          <a:p>
            <a:pPr marL="342900" indent="-342900">
              <a:spcAft>
                <a:spcPts val="800"/>
              </a:spcAft>
              <a:buSzPct val="100000"/>
              <a:buFont typeface="+mj-lt"/>
              <a:buAutoNum type="arabicPeriod" startAt="1"/>
            </a:pPr>
            <a:r>
              <a:rPr lang="en-US" sz="1500" dirty="0">
                <a:solidFill>
                  <a:schemeClr val="tx1"/>
                </a:solidFill>
              </a:rPr>
              <a:t>L’opération est répétée pour 8 zones : cercles de 500 m à 2 km, 5 à 15 minutes à pied ou en voiture.</a:t>
            </a:r>
            <a:endParaRPr lang="en-US" sz="1500" dirty="0"/>
          </a:p>
          <a:p>
            <a:pPr marL="342900" indent="-342900">
              <a:spcAft>
                <a:spcPts val="800"/>
              </a:spcAft>
              <a:buSzPct val="100000"/>
              <a:buFont typeface="+mj-lt"/>
              <a:buAutoNum type="arabicPeriod" startAt="1"/>
            </a:pPr>
            <a:r>
              <a:rPr lang="en-US" sz="1500" dirty="0">
                <a:solidFill>
                  <a:schemeClr val="tx1"/>
                </a:solidFill>
              </a:rPr>
              <a:t>La zone la plus précise est proposée par défaut.</a:t>
            </a:r>
            <a:endParaRPr lang="en-US" sz="1500" dirty="0"/>
          </a:p>
        </p:txBody>
      </p:sp>
      <p:sp>
        <p:nvSpPr>
          <p:cNvPr id="9" name="Text 6"/>
          <p:cNvSpPr txBox="1"/>
          <p:nvPr/>
        </p:nvSpPr>
        <p:spPr>
          <a:xfrm>
            <a:off x="6355080" y="5166360"/>
            <a:ext cx="4983480" cy="731520"/>
          </a:xfrm>
          <a:prstGeom prst="rect">
            <a:avLst/>
          </a:prstGeom>
          <a:noFill/>
          <a:ln/>
        </p:spPr>
        <p:txBody>
          <a:bodyPr wrap="square" lIns="0" tIns="0" rIns="0" bIns="0" rtlCol="0" anchor="t"/>
          <a:lstStyle/>
          <a:p>
            <a:pPr indent="0" marL="0">
              <a:buNone/>
            </a:pPr>
            <a:r>
              <a:rPr lang="en-US" sz="1500" b="1" i="1" dirty="0">
                <a:solidFill>
                  <a:schemeClr val="accent1"/>
                </a:solidFill>
              </a:rPr>
              <a:t>Pas de boîte noire : vous voyez l’écart de chaque méthode avant de décider.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Comparateur de sites et rapport pour le comité</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Jusqu’à 4 emplacements côte à côte, une recommandation, un PDF prêt à présenter</a:t>
            </a:r>
            <a:endParaRPr lang="en-US" sz="1600" dirty="0"/>
          </a:p>
        </p:txBody>
      </p:sp>
      <p:sp>
        <p:nvSpPr>
          <p:cNvPr id="4" name="Cadre c1-comparateur-c"/>
          <p:cNvSpPr/>
          <p:nvPr/>
        </p:nvSpPr>
        <p:spPr>
          <a:xfrm>
            <a:off x="1250561" y="1645920"/>
            <a:ext cx="2528078" cy="4617720"/>
          </a:xfrm>
          <a:prstGeom prst="roundRect">
            <a:avLst>
              <a:gd name="adj" fmla="val 4340"/>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c1-comparateur-c" descr="Comparateur de sites">    </p:cNvPr>
          <p:cNvPicPr>
            <a:picLocks noChangeAspect="1"/>
          </p:cNvPicPr>
          <p:nvPr/>
        </p:nvPicPr>
        <p:blipFill>
          <a:blip r:embed="rId1"/>
          <a:stretch>
            <a:fillRect/>
          </a:stretch>
        </p:blipFill>
        <p:spPr>
          <a:xfrm>
            <a:off x="1323713" y="1719072"/>
            <a:ext cx="2381774" cy="4471416"/>
          </a:xfrm>
          <a:prstGeom prst="rect">
            <a:avLst/>
          </a:prstGeom>
        </p:spPr>
      </p:pic>
      <p:sp>
        <p:nvSpPr>
          <p:cNvPr id="6" name="Cadre rapport"/>
          <p:cNvSpPr/>
          <p:nvPr/>
        </p:nvSpPr>
        <p:spPr>
          <a:xfrm>
            <a:off x="4754880" y="1654838"/>
            <a:ext cx="3291840" cy="4599885"/>
          </a:xfrm>
          <a:prstGeom prst="roundRect">
            <a:avLst>
              <a:gd name="adj" fmla="val 3333"/>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7" name="Capture rapport" descr="Rapport PDF pour le comité d’investissement">    </p:cNvPr>
          <p:cNvPicPr>
            <a:picLocks noChangeAspect="1"/>
          </p:cNvPicPr>
          <p:nvPr/>
        </p:nvPicPr>
        <p:blipFill>
          <a:blip r:embed="rId2"/>
          <a:stretch>
            <a:fillRect/>
          </a:stretch>
        </p:blipFill>
        <p:spPr>
          <a:xfrm>
            <a:off x="4828032" y="1727990"/>
            <a:ext cx="3145536" cy="4453581"/>
          </a:xfrm>
          <a:prstGeom prst="rect">
            <a:avLst/>
          </a:prstGeom>
        </p:spPr>
      </p:pic>
      <p:sp>
        <p:nvSpPr>
          <p:cNvPr id="8" name="Pastille"/>
          <p:cNvSpPr/>
          <p:nvPr/>
        </p:nvSpPr>
        <p:spPr>
          <a:xfrm>
            <a:off x="8366760" y="1783080"/>
            <a:ext cx="457200" cy="457200"/>
          </a:xfrm>
          <a:prstGeom prst="roundRect">
            <a:avLst>
              <a:gd name="adj" fmla="val 24000"/>
            </a:avLst>
          </a:prstGeom>
          <a:solidFill>
            <a:srgbClr val="EEF0FF"/>
          </a:solidFill>
          <a:ln/>
        </p:spPr>
      </p:sp>
      <p:pic>
        <p:nvPicPr>
          <p:cNvPr id="9" name="Icône" descr="preencoded.png">    </p:cNvPr>
          <p:cNvPicPr>
            <a:picLocks noChangeAspect="1"/>
          </p:cNvPicPr>
          <p:nvPr/>
        </p:nvPicPr>
        <p:blipFill>
          <a:blip r:embed="rId3"/>
          <a:stretch>
            <a:fillRect/>
          </a:stretch>
        </p:blipFill>
        <p:spPr>
          <a:xfrm>
            <a:off x="8467344" y="1883664"/>
            <a:ext cx="256032" cy="256032"/>
          </a:xfrm>
          <a:prstGeom prst="rect">
            <a:avLst/>
          </a:prstGeom>
        </p:spPr>
      </p:pic>
      <p:sp>
        <p:nvSpPr>
          <p:cNvPr id="10" name="Texte Tableau comparatif"/>
          <p:cNvSpPr txBox="1"/>
          <p:nvPr/>
        </p:nvSpPr>
        <p:spPr>
          <a:xfrm>
            <a:off x="8988552" y="1746504"/>
            <a:ext cx="267004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Tableau comparatif</a:t>
            </a:r>
            <a:endParaRPr lang="en-US" sz="1600" dirty="0"/>
          </a:p>
          <a:p>
            <a:pPr indent="0" marL="0">
              <a:spcAft>
                <a:spcPts val="200"/>
              </a:spcAft>
              <a:buNone/>
            </a:pPr>
            <a:r>
              <a:rPr lang="en-US" sz="1400" dirty="0">
                <a:solidFill>
                  <a:srgbClr val="64748B"/>
                </a:solidFill>
              </a:rPr>
              <a:t>CA, rentabilité, délai de retour, habitants, concurrence, passage.</a:t>
            </a:r>
            <a:endParaRPr lang="en-US" sz="1600" dirty="0"/>
          </a:p>
        </p:txBody>
      </p:sp>
      <p:sp>
        <p:nvSpPr>
          <p:cNvPr id="11" name="Pastille"/>
          <p:cNvSpPr/>
          <p:nvPr/>
        </p:nvSpPr>
        <p:spPr>
          <a:xfrm>
            <a:off x="8366760" y="3063240"/>
            <a:ext cx="457200" cy="457200"/>
          </a:xfrm>
          <a:prstGeom prst="roundRect">
            <a:avLst>
              <a:gd name="adj" fmla="val 24000"/>
            </a:avLst>
          </a:prstGeom>
          <a:solidFill>
            <a:srgbClr val="EEF0FF"/>
          </a:solidFill>
          <a:ln/>
        </p:spPr>
      </p:sp>
      <p:pic>
        <p:nvPicPr>
          <p:cNvPr id="12" name="Icône" descr="preencoded.png">    </p:cNvPr>
          <p:cNvPicPr>
            <a:picLocks noChangeAspect="1"/>
          </p:cNvPicPr>
          <p:nvPr/>
        </p:nvPicPr>
        <p:blipFill>
          <a:blip r:embed="rId4"/>
          <a:stretch>
            <a:fillRect/>
          </a:stretch>
        </p:blipFill>
        <p:spPr>
          <a:xfrm>
            <a:off x="8467344" y="3163824"/>
            <a:ext cx="256032" cy="256032"/>
          </a:xfrm>
          <a:prstGeom prst="rect">
            <a:avLst/>
          </a:prstGeom>
        </p:spPr>
      </p:pic>
      <p:sp>
        <p:nvSpPr>
          <p:cNvPr id="13" name="Texte Recommandation argumentée"/>
          <p:cNvSpPr txBox="1"/>
          <p:nvPr/>
        </p:nvSpPr>
        <p:spPr>
          <a:xfrm>
            <a:off x="8988552" y="3026664"/>
            <a:ext cx="267004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Recommandation argumentée</a:t>
            </a:r>
            <a:endParaRPr lang="en-US" sz="1600" dirty="0"/>
          </a:p>
          <a:p>
            <a:pPr indent="0" marL="0">
              <a:spcAft>
                <a:spcPts val="200"/>
              </a:spcAft>
              <a:buNone/>
            </a:pPr>
            <a:r>
              <a:rPr lang="en-US" sz="1400" dirty="0">
                <a:solidFill>
                  <a:srgbClr val="64748B"/>
                </a:solidFill>
              </a:rPr>
              <a:t>Le meilleur gain pour le réseau, avec les points à surveiller.</a:t>
            </a:r>
            <a:endParaRPr lang="en-US" sz="1600" dirty="0"/>
          </a:p>
        </p:txBody>
      </p:sp>
      <p:sp>
        <p:nvSpPr>
          <p:cNvPr id="14" name="Pastille"/>
          <p:cNvSpPr/>
          <p:nvPr/>
        </p:nvSpPr>
        <p:spPr>
          <a:xfrm>
            <a:off x="8366760" y="4343400"/>
            <a:ext cx="457200" cy="457200"/>
          </a:xfrm>
          <a:prstGeom prst="roundRect">
            <a:avLst>
              <a:gd name="adj" fmla="val 24000"/>
            </a:avLst>
          </a:prstGeom>
          <a:solidFill>
            <a:srgbClr val="EEF0FF"/>
          </a:solidFill>
          <a:ln/>
        </p:spPr>
      </p:sp>
      <p:pic>
        <p:nvPicPr>
          <p:cNvPr id="15" name="Icône" descr="preencoded.png">    </p:cNvPr>
          <p:cNvPicPr>
            <a:picLocks noChangeAspect="1"/>
          </p:cNvPicPr>
          <p:nvPr/>
        </p:nvPicPr>
        <p:blipFill>
          <a:blip r:embed="rId5"/>
          <a:stretch>
            <a:fillRect/>
          </a:stretch>
        </p:blipFill>
        <p:spPr>
          <a:xfrm>
            <a:off x="8467344" y="4443984"/>
            <a:ext cx="256032" cy="256032"/>
          </a:xfrm>
          <a:prstGeom prst="rect">
            <a:avLst/>
          </a:prstGeom>
        </p:spPr>
      </p:pic>
      <p:sp>
        <p:nvSpPr>
          <p:cNvPr id="16" name="Texte Rapport PDF"/>
          <p:cNvSpPr txBox="1"/>
          <p:nvPr/>
        </p:nvSpPr>
        <p:spPr>
          <a:xfrm>
            <a:off x="8988552" y="4306824"/>
            <a:ext cx="2670048" cy="11430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Rapport PDF</a:t>
            </a:r>
            <a:endParaRPr lang="en-US" sz="1600" dirty="0"/>
          </a:p>
          <a:p>
            <a:pPr indent="0" marL="0">
              <a:spcAft>
                <a:spcPts val="200"/>
              </a:spcAft>
              <a:buNone/>
            </a:pPr>
            <a:r>
              <a:rPr lang="en-US" sz="1400" dirty="0">
                <a:solidFill>
                  <a:srgbClr val="64748B"/>
                </a:solidFill>
              </a:rPr>
              <a:t>Carte, chiffres et méthode sur une page A4 pour le comité d’investissement.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Couverture du territoire et zones à potentiel</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La Tunisie en hexagones de 500 m, 1 km ou 2 km : couvert, non couvert, et ce que vous y laissez</a:t>
            </a:r>
            <a:endParaRPr lang="en-US" sz="1600" dirty="0"/>
          </a:p>
        </p:txBody>
      </p:sp>
      <p:sp>
        <p:nvSpPr>
          <p:cNvPr id="4" name="Cadre h3-survol"/>
          <p:cNvSpPr/>
          <p:nvPr/>
        </p:nvSpPr>
        <p:spPr>
          <a:xfrm>
            <a:off x="548640" y="1712786"/>
            <a:ext cx="7086600" cy="4483989"/>
          </a:xfrm>
          <a:prstGeom prst="roundRect">
            <a:avLst>
              <a:gd name="adj" fmla="val 244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h3-survol" descr="Carte de couverture en hexagones">    </p:cNvPr>
          <p:cNvPicPr>
            <a:picLocks noChangeAspect="1"/>
          </p:cNvPicPr>
          <p:nvPr/>
        </p:nvPicPr>
        <p:blipFill>
          <a:blip r:embed="rId1"/>
          <a:stretch>
            <a:fillRect/>
          </a:stretch>
        </p:blipFill>
        <p:spPr>
          <a:xfrm>
            <a:off x="621792" y="1785938"/>
            <a:ext cx="6940296" cy="4337685"/>
          </a:xfrm>
          <a:prstGeom prst="rect">
            <a:avLst/>
          </a:prstGeom>
        </p:spPr>
      </p:pic>
      <p:sp>
        <p:nvSpPr>
          <p:cNvPr id="6" name="Carte"/>
          <p:cNvSpPr/>
          <p:nvPr/>
        </p:nvSpPr>
        <p:spPr>
          <a:xfrm>
            <a:off x="7955280" y="1783080"/>
            <a:ext cx="3657600" cy="4343400"/>
          </a:xfrm>
          <a:prstGeom prst="roundRect">
            <a:avLst>
              <a:gd name="adj" fmla="val 3500"/>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7" name="Shape 4"/>
          <p:cNvSpPr/>
          <p:nvPr/>
        </p:nvSpPr>
        <p:spPr>
          <a:xfrm>
            <a:off x="8275320" y="2148840"/>
            <a:ext cx="320040" cy="320040"/>
          </a:xfrm>
          <a:prstGeom prst="roundRect">
            <a:avLst>
              <a:gd name="adj" fmla="val 17143"/>
            </a:avLst>
          </a:prstGeom>
          <a:solidFill>
            <a:srgbClr val="4ADE80"/>
          </a:solidFill>
          <a:ln/>
        </p:spPr>
      </p:sp>
      <p:sp>
        <p:nvSpPr>
          <p:cNvPr id="8" name="Text 5"/>
          <p:cNvSpPr txBox="1"/>
          <p:nvPr/>
        </p:nvSpPr>
        <p:spPr>
          <a:xfrm>
            <a:off x="8778240" y="2075688"/>
            <a:ext cx="2651760" cy="685800"/>
          </a:xfrm>
          <a:prstGeom prst="rect">
            <a:avLst/>
          </a:prstGeom>
          <a:noFill/>
          <a:ln/>
        </p:spPr>
        <p:txBody>
          <a:bodyPr wrap="square" lIns="0" tIns="0" rIns="0" bIns="0" rtlCol="0" anchor="t"/>
          <a:lstStyle/>
          <a:p>
            <a:pPr indent="0" marL="0">
              <a:buNone/>
            </a:pPr>
            <a:r>
              <a:rPr lang="en-US" sz="1500" b="1" dirty="0">
                <a:solidFill>
                  <a:schemeClr val="tx1"/>
                </a:solidFill>
              </a:rPr>
              <a:t>Couvert</a:t>
            </a:r>
            <a:endParaRPr lang="en-US" sz="1500" dirty="0"/>
          </a:p>
          <a:p>
            <a:pPr indent="0" marL="0">
              <a:buNone/>
            </a:pPr>
            <a:r>
              <a:rPr lang="en-US" sz="1300" dirty="0">
                <a:solidFill>
                  <a:srgbClr val="64748B"/>
                </a:solidFill>
              </a:rPr>
              <a:t>CA par habitant de chaque zone</a:t>
            </a:r>
            <a:endParaRPr lang="en-US" sz="1500" dirty="0"/>
          </a:p>
        </p:txBody>
      </p:sp>
      <p:sp>
        <p:nvSpPr>
          <p:cNvPr id="9" name="Shape 6"/>
          <p:cNvSpPr/>
          <p:nvPr/>
        </p:nvSpPr>
        <p:spPr>
          <a:xfrm>
            <a:off x="8275320" y="3017520"/>
            <a:ext cx="320040" cy="320040"/>
          </a:xfrm>
          <a:prstGeom prst="roundRect">
            <a:avLst>
              <a:gd name="adj" fmla="val 17143"/>
            </a:avLst>
          </a:prstGeom>
          <a:solidFill>
            <a:schemeClr val="accent5"/>
          </a:solidFill>
          <a:ln/>
        </p:spPr>
      </p:sp>
      <p:sp>
        <p:nvSpPr>
          <p:cNvPr id="10" name="Text 7"/>
          <p:cNvSpPr txBox="1"/>
          <p:nvPr/>
        </p:nvSpPr>
        <p:spPr>
          <a:xfrm>
            <a:off x="8778240" y="2944368"/>
            <a:ext cx="2651760" cy="868680"/>
          </a:xfrm>
          <a:prstGeom prst="rect">
            <a:avLst/>
          </a:prstGeom>
          <a:noFill/>
          <a:ln/>
        </p:spPr>
        <p:txBody>
          <a:bodyPr wrap="square" lIns="0" tIns="0" rIns="0" bIns="0" rtlCol="0" anchor="t"/>
          <a:lstStyle/>
          <a:p>
            <a:pPr indent="0" marL="0">
              <a:buNone/>
            </a:pPr>
            <a:r>
              <a:rPr lang="en-US" sz="1500" b="1" dirty="0">
                <a:solidFill>
                  <a:schemeClr val="tx1"/>
                </a:solidFill>
              </a:rPr>
              <a:t>Non couvert</a:t>
            </a:r>
            <a:endParaRPr lang="en-US" sz="1500" dirty="0"/>
          </a:p>
          <a:p>
            <a:pPr indent="0" marL="0">
              <a:buNone/>
            </a:pPr>
            <a:r>
              <a:rPr lang="en-US" sz="1300" dirty="0">
                <a:solidFill>
                  <a:srgbClr val="64748B"/>
                </a:solidFill>
              </a:rPr>
              <a:t>Potentiel estimé sur vos zones les plus semblables</a:t>
            </a:r>
            <a:endParaRPr lang="en-US" sz="1500" dirty="0"/>
          </a:p>
        </p:txBody>
      </p:sp>
      <p:sp>
        <p:nvSpPr>
          <p:cNvPr id="11" name="Couverture liste"/>
          <p:cNvSpPr txBox="1"/>
          <p:nvPr/>
        </p:nvSpPr>
        <p:spPr>
          <a:xfrm>
            <a:off x="8275320" y="3977640"/>
            <a:ext cx="315468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Zones les plus prometteuses, classées</a:t>
            </a:r>
            <a:endParaRPr lang="en-US" sz="1400" dirty="0"/>
          </a:p>
          <a:p>
            <a:pPr marL="342900" indent="-342900">
              <a:spcAft>
                <a:spcPts val="600"/>
              </a:spcAft>
              <a:buSzPct val="100000"/>
              <a:buChar char="•"/>
            </a:pPr>
            <a:r>
              <a:rPr lang="en-US" sz="1400" dirty="0">
                <a:solidFill>
                  <a:schemeClr val="tx1"/>
                </a:solidFill>
              </a:rPr>
              <a:t>Vos zones qui vendent sous leur potentiel</a:t>
            </a:r>
            <a:endParaRPr lang="en-US" sz="1400" dirty="0"/>
          </a:p>
          <a:p>
            <a:pPr marL="342900" indent="-342900">
              <a:spcAft>
                <a:spcPts val="600"/>
              </a:spcAft>
              <a:buSzPct val="100000"/>
              <a:buChar char="•"/>
            </a:pPr>
            <a:r>
              <a:rPr lang="en-US" sz="1400" dirty="0">
                <a:solidFill>
                  <a:schemeClr val="tx1"/>
                </a:solidFill>
              </a:rPr>
              <a:t>Bilan par gouvernorat</a:t>
            </a:r>
            <a:endParaRPr lang="en-US" sz="1400" dirty="0"/>
          </a:p>
          <a:p>
            <a:pPr marL="342900" indent="-342900">
              <a:spcAft>
                <a:spcPts val="600"/>
              </a:spcAft>
              <a:buSzPct val="100000"/>
              <a:buChar char="•"/>
            </a:pPr>
            <a:r>
              <a:rPr lang="en-US" sz="1400" dirty="0">
                <a:solidFill>
                  <a:schemeClr val="tx1"/>
                </a:solidFill>
              </a:rPr>
              <a:t>Export Excel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Démographie et pouvoir d’achat intégrés</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Recensement 2024, densité et taux de pauvreté pour chacune des 265 délégations</a:t>
            </a:r>
            <a:endParaRPr lang="en-US" sz="1600" dirty="0"/>
          </a:p>
        </p:txBody>
      </p:sp>
      <p:sp>
        <p:nvSpPr>
          <p:cNvPr id="4" name="Cadre d2-sousse-map"/>
          <p:cNvSpPr/>
          <p:nvPr/>
        </p:nvSpPr>
        <p:spPr>
          <a:xfrm>
            <a:off x="821423" y="1645920"/>
            <a:ext cx="4895113" cy="4617720"/>
          </a:xfrm>
          <a:prstGeom prst="roundRect">
            <a:avLst>
              <a:gd name="adj" fmla="val 2376"/>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d2-sousse-map" descr="Densité de population à Sousse">    </p:cNvPr>
          <p:cNvPicPr>
            <a:picLocks noChangeAspect="1"/>
          </p:cNvPicPr>
          <p:nvPr/>
        </p:nvPicPr>
        <p:blipFill>
          <a:blip r:embed="rId1"/>
          <a:stretch>
            <a:fillRect/>
          </a:stretch>
        </p:blipFill>
        <p:spPr>
          <a:xfrm>
            <a:off x="894575" y="1719072"/>
            <a:ext cx="4748809" cy="4471416"/>
          </a:xfrm>
          <a:prstGeom prst="rect">
            <a:avLst/>
          </a:prstGeom>
        </p:spPr>
      </p:pic>
      <p:sp>
        <p:nvSpPr>
          <p:cNvPr id="6" name="Cadre p2-tunis-map"/>
          <p:cNvSpPr/>
          <p:nvPr/>
        </p:nvSpPr>
        <p:spPr>
          <a:xfrm>
            <a:off x="6444983" y="1645920"/>
            <a:ext cx="4895113" cy="4617720"/>
          </a:xfrm>
          <a:prstGeom prst="roundRect">
            <a:avLst>
              <a:gd name="adj" fmla="val 2376"/>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7" name="Capture p2-tunis-map" descr="Pouvoir d’achat dans le Grand Tunis">    </p:cNvPr>
          <p:cNvPicPr>
            <a:picLocks noChangeAspect="1"/>
          </p:cNvPicPr>
          <p:nvPr/>
        </p:nvPicPr>
        <p:blipFill>
          <a:blip r:embed="rId2"/>
          <a:stretch>
            <a:fillRect/>
          </a:stretch>
        </p:blipFill>
        <p:spPr>
          <a:xfrm>
            <a:off x="6518135" y="1719072"/>
            <a:ext cx="4748809" cy="4471416"/>
          </a:xfrm>
          <a:prstGeom prst="rect">
            <a:avLst/>
          </a:prstGeom>
        </p:spPr>
      </p:pic>
      <p:sp>
        <p:nvSpPr>
          <p:cNvPr id="8" name="Text 4"/>
          <p:cNvSpPr txBox="1"/>
          <p:nvPr/>
        </p:nvSpPr>
        <p:spPr>
          <a:xfrm>
            <a:off x="548640" y="6263640"/>
            <a:ext cx="5440680" cy="274320"/>
          </a:xfrm>
          <a:prstGeom prst="rect">
            <a:avLst/>
          </a:prstGeom>
          <a:noFill/>
          <a:ln/>
        </p:spPr>
        <p:txBody>
          <a:bodyPr wrap="square" lIns="0" tIns="0" rIns="0" bIns="0" rtlCol="0" anchor="ctr"/>
          <a:lstStyle/>
          <a:p>
            <a:pPr algn="ctr" indent="0" marL="0">
              <a:buNone/>
            </a:pPr>
            <a:r>
              <a:rPr lang="en-US" sz="1200" dirty="0">
                <a:solidFill>
                  <a:srgbClr val="64748B"/>
                </a:solidFill>
              </a:rPr>
              <a:t>Densité de population (Sousse)</a:t>
            </a:r>
            <a:endParaRPr lang="en-US" sz="1200" dirty="0"/>
          </a:p>
        </p:txBody>
      </p:sp>
      <p:sp>
        <p:nvSpPr>
          <p:cNvPr id="9" name="Text 5"/>
          <p:cNvSpPr txBox="1"/>
          <p:nvPr/>
        </p:nvSpPr>
        <p:spPr>
          <a:xfrm>
            <a:off x="6172200" y="6263640"/>
            <a:ext cx="5440680" cy="274320"/>
          </a:xfrm>
          <a:prstGeom prst="rect">
            <a:avLst/>
          </a:prstGeom>
          <a:noFill/>
          <a:ln/>
        </p:spPr>
        <p:txBody>
          <a:bodyPr wrap="square" lIns="0" tIns="0" rIns="0" bIns="0" rtlCol="0" anchor="ctr"/>
          <a:lstStyle/>
          <a:p>
            <a:pPr algn="ctr" indent="0" marL="0">
              <a:buNone/>
            </a:pPr>
            <a:r>
              <a:rPr lang="en-US" sz="1200" dirty="0">
                <a:solidFill>
                  <a:srgbClr val="64748B"/>
                </a:solidFill>
              </a:rPr>
              <a:t>Pauvreté et pouvoir d’achat (Grand Tunis)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Vos ventes importées, vos saisons anticipées</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Un export Excel de votre ERP suffit : GeoPulse relie chaque ligne au bon point par son code</a:t>
            </a:r>
            <a:endParaRPr lang="en-US" sz="1600" dirty="0"/>
          </a:p>
        </p:txBody>
      </p:sp>
      <p:sp>
        <p:nvSpPr>
          <p:cNvPr id="4" name="Cadre m2-apercu-c"/>
          <p:cNvSpPr/>
          <p:nvPr/>
        </p:nvSpPr>
        <p:spPr>
          <a:xfrm>
            <a:off x="890651" y="1645920"/>
            <a:ext cx="2379217" cy="4617720"/>
          </a:xfrm>
          <a:prstGeom prst="roundRect">
            <a:avLst>
              <a:gd name="adj" fmla="val 4612"/>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m2-apercu-c" descr="Import Excel des ventes">    </p:cNvPr>
          <p:cNvPicPr>
            <a:picLocks noChangeAspect="1"/>
          </p:cNvPicPr>
          <p:nvPr/>
        </p:nvPicPr>
        <p:blipFill>
          <a:blip r:embed="rId1"/>
          <a:stretch>
            <a:fillRect/>
          </a:stretch>
        </p:blipFill>
        <p:spPr>
          <a:xfrm>
            <a:off x="963803" y="1719072"/>
            <a:ext cx="2232913" cy="4471416"/>
          </a:xfrm>
          <a:prstGeom prst="rect">
            <a:avLst/>
          </a:prstGeom>
        </p:spPr>
      </p:pic>
      <p:sp>
        <p:nvSpPr>
          <p:cNvPr id="6" name="Cadre s2-prevision-c"/>
          <p:cNvSpPr/>
          <p:nvPr/>
        </p:nvSpPr>
        <p:spPr>
          <a:xfrm>
            <a:off x="4184442" y="1645920"/>
            <a:ext cx="2832516" cy="4617720"/>
          </a:xfrm>
          <a:prstGeom prst="roundRect">
            <a:avLst>
              <a:gd name="adj" fmla="val 387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7" name="Capture s2-prevision-c" descr="Saisonnalité et prévision">    </p:cNvPr>
          <p:cNvPicPr>
            <a:picLocks noChangeAspect="1"/>
          </p:cNvPicPr>
          <p:nvPr/>
        </p:nvPicPr>
        <p:blipFill>
          <a:blip r:embed="rId2"/>
          <a:stretch>
            <a:fillRect/>
          </a:stretch>
        </p:blipFill>
        <p:spPr>
          <a:xfrm>
            <a:off x="4257594" y="1719072"/>
            <a:ext cx="2686212" cy="4471416"/>
          </a:xfrm>
          <a:prstGeom prst="rect">
            <a:avLst/>
          </a:prstGeom>
        </p:spPr>
      </p:pic>
      <p:sp>
        <p:nvSpPr>
          <p:cNvPr id="8" name="Pastille"/>
          <p:cNvSpPr/>
          <p:nvPr/>
        </p:nvSpPr>
        <p:spPr>
          <a:xfrm>
            <a:off x="7726680" y="1783080"/>
            <a:ext cx="457200" cy="457200"/>
          </a:xfrm>
          <a:prstGeom prst="roundRect">
            <a:avLst>
              <a:gd name="adj" fmla="val 24000"/>
            </a:avLst>
          </a:prstGeom>
          <a:solidFill>
            <a:srgbClr val="EEF0FF"/>
          </a:solidFill>
          <a:ln/>
        </p:spPr>
      </p:sp>
      <p:pic>
        <p:nvPicPr>
          <p:cNvPr id="9" name="Icône" descr="preencoded.png">    </p:cNvPr>
          <p:cNvPicPr>
            <a:picLocks noChangeAspect="1"/>
          </p:cNvPicPr>
          <p:nvPr/>
        </p:nvPicPr>
        <p:blipFill>
          <a:blip r:embed="rId3"/>
          <a:stretch>
            <a:fillRect/>
          </a:stretch>
        </p:blipFill>
        <p:spPr>
          <a:xfrm>
            <a:off x="7827264" y="1883664"/>
            <a:ext cx="256032" cy="256032"/>
          </a:xfrm>
          <a:prstGeom prst="rect">
            <a:avLst/>
          </a:prstGeom>
        </p:spPr>
      </p:pic>
      <p:sp>
        <p:nvSpPr>
          <p:cNvPr id="10" name="Texte Import en 3 clics"/>
          <p:cNvSpPr txBox="1"/>
          <p:nvPr/>
        </p:nvSpPr>
        <p:spPr>
          <a:xfrm>
            <a:off x="8348472" y="1746504"/>
            <a:ext cx="326440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Import en 3 clics</a:t>
            </a:r>
            <a:endParaRPr lang="en-US" sz="1600" dirty="0"/>
          </a:p>
          <a:p>
            <a:pPr indent="0" marL="0">
              <a:spcAft>
                <a:spcPts val="200"/>
              </a:spcAft>
              <a:buNone/>
            </a:pPr>
            <a:r>
              <a:rPr lang="en-US" sz="1400" dirty="0">
                <a:solidFill>
                  <a:srgbClr val="64748B"/>
                </a:solidFill>
              </a:rPr>
              <a:t>Fichier Excel ou CSV, colonnes reconnues, erreurs signalées ligne par ligne.</a:t>
            </a:r>
            <a:endParaRPr lang="en-US" sz="1600" dirty="0"/>
          </a:p>
        </p:txBody>
      </p:sp>
      <p:sp>
        <p:nvSpPr>
          <p:cNvPr id="11" name="Pastille"/>
          <p:cNvSpPr/>
          <p:nvPr/>
        </p:nvSpPr>
        <p:spPr>
          <a:xfrm>
            <a:off x="7726680" y="3063240"/>
            <a:ext cx="457200" cy="457200"/>
          </a:xfrm>
          <a:prstGeom prst="roundRect">
            <a:avLst>
              <a:gd name="adj" fmla="val 24000"/>
            </a:avLst>
          </a:prstGeom>
          <a:solidFill>
            <a:srgbClr val="EEF0FF"/>
          </a:solidFill>
          <a:ln/>
        </p:spPr>
      </p:sp>
      <p:pic>
        <p:nvPicPr>
          <p:cNvPr id="12" name="Icône" descr="preencoded.png">    </p:cNvPr>
          <p:cNvPicPr>
            <a:picLocks noChangeAspect="1"/>
          </p:cNvPicPr>
          <p:nvPr/>
        </p:nvPicPr>
        <p:blipFill>
          <a:blip r:embed="rId4"/>
          <a:stretch>
            <a:fillRect/>
          </a:stretch>
        </p:blipFill>
        <p:spPr>
          <a:xfrm>
            <a:off x="7827264" y="3163824"/>
            <a:ext cx="256032" cy="256032"/>
          </a:xfrm>
          <a:prstGeom prst="rect">
            <a:avLst/>
          </a:prstGeom>
        </p:spPr>
      </p:pic>
      <p:sp>
        <p:nvSpPr>
          <p:cNvPr id="13" name="Texte Ramadan, Aïd, été, rentrée"/>
          <p:cNvSpPr txBox="1"/>
          <p:nvPr/>
        </p:nvSpPr>
        <p:spPr>
          <a:xfrm>
            <a:off x="8348472" y="3026664"/>
            <a:ext cx="326440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Ramadan, Aïd, été, rentrée</a:t>
            </a:r>
            <a:endParaRPr lang="en-US" sz="1600" dirty="0"/>
          </a:p>
          <a:p>
            <a:pPr indent="0" marL="0">
              <a:spcAft>
                <a:spcPts val="200"/>
              </a:spcAft>
              <a:buNone/>
            </a:pPr>
            <a:r>
              <a:rPr lang="en-US" sz="1400" dirty="0">
                <a:solidFill>
                  <a:srgbClr val="64748B"/>
                </a:solidFill>
              </a:rPr>
              <a:t>L’effet de chaque période sur vos ventes, calé sur le calendrier hégirien.</a:t>
            </a:r>
            <a:endParaRPr lang="en-US" sz="1600" dirty="0"/>
          </a:p>
        </p:txBody>
      </p:sp>
      <p:sp>
        <p:nvSpPr>
          <p:cNvPr id="14" name="Pastille"/>
          <p:cNvSpPr/>
          <p:nvPr/>
        </p:nvSpPr>
        <p:spPr>
          <a:xfrm>
            <a:off x="7726680" y="4343400"/>
            <a:ext cx="457200" cy="457200"/>
          </a:xfrm>
          <a:prstGeom prst="roundRect">
            <a:avLst>
              <a:gd name="adj" fmla="val 24000"/>
            </a:avLst>
          </a:prstGeom>
          <a:solidFill>
            <a:srgbClr val="EEF0FF"/>
          </a:solidFill>
          <a:ln/>
        </p:spPr>
      </p:sp>
      <p:pic>
        <p:nvPicPr>
          <p:cNvPr id="15" name="Icône" descr="preencoded.png">    </p:cNvPr>
          <p:cNvPicPr>
            <a:picLocks noChangeAspect="1"/>
          </p:cNvPicPr>
          <p:nvPr/>
        </p:nvPicPr>
        <p:blipFill>
          <a:blip r:embed="rId5"/>
          <a:stretch>
            <a:fillRect/>
          </a:stretch>
        </p:blipFill>
        <p:spPr>
          <a:xfrm>
            <a:off x="7827264" y="4443984"/>
            <a:ext cx="256032" cy="256032"/>
          </a:xfrm>
          <a:prstGeom prst="rect">
            <a:avLst/>
          </a:prstGeom>
        </p:spPr>
      </p:pic>
      <p:sp>
        <p:nvSpPr>
          <p:cNvPr id="16" name="Texte Prévision 12 mois"/>
          <p:cNvSpPr txBox="1"/>
          <p:nvPr/>
        </p:nvSpPr>
        <p:spPr>
          <a:xfrm>
            <a:off x="8348472" y="4306824"/>
            <a:ext cx="3264408" cy="11430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Prévision 12 mois</a:t>
            </a:r>
            <a:endParaRPr lang="en-US" sz="1600" dirty="0"/>
          </a:p>
          <a:p>
            <a:pPr indent="0" marL="0">
              <a:spcAft>
                <a:spcPts val="200"/>
              </a:spcAft>
              <a:buNone/>
            </a:pPr>
            <a:r>
              <a:rPr lang="en-US" sz="1400" dirty="0">
                <a:solidFill>
                  <a:srgbClr val="64748B"/>
                </a:solidFill>
              </a:rPr>
              <a:t>Pour tout le réseau, un gouvernorat ou un seul point : stocks et personnel au bon moment.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Le terrain : visites des commerciaux</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Chaque passage noté en 10 secondes depuis le téléphone, chaque client oublié repéré</a:t>
            </a:r>
            <a:endParaRPr lang="en-US" sz="1600" dirty="0"/>
          </a:p>
        </p:txBody>
      </p:sp>
      <p:sp>
        <p:nvSpPr>
          <p:cNvPr id="4" name="Cadre v1-saisie-c"/>
          <p:cNvSpPr/>
          <p:nvPr/>
        </p:nvSpPr>
        <p:spPr>
          <a:xfrm>
            <a:off x="548640" y="1814786"/>
            <a:ext cx="3291840" cy="4279987"/>
          </a:xfrm>
          <a:prstGeom prst="roundRect">
            <a:avLst>
              <a:gd name="adj" fmla="val 3333"/>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v1-saisie-c" descr="Saisie d’une visite">    </p:cNvPr>
          <p:cNvPicPr>
            <a:picLocks noChangeAspect="1"/>
          </p:cNvPicPr>
          <p:nvPr/>
        </p:nvPicPr>
        <p:blipFill>
          <a:blip r:embed="rId1"/>
          <a:stretch>
            <a:fillRect/>
          </a:stretch>
        </p:blipFill>
        <p:spPr>
          <a:xfrm>
            <a:off x="621792" y="1887938"/>
            <a:ext cx="3145536" cy="4133683"/>
          </a:xfrm>
          <a:prstGeom prst="rect">
            <a:avLst/>
          </a:prstGeom>
        </p:spPr>
      </p:pic>
      <p:sp>
        <p:nvSpPr>
          <p:cNvPr id="6" name="Cadre v2-a-visiter-c"/>
          <p:cNvSpPr/>
          <p:nvPr/>
        </p:nvSpPr>
        <p:spPr>
          <a:xfrm>
            <a:off x="4088517" y="1645920"/>
            <a:ext cx="3252966" cy="4617720"/>
          </a:xfrm>
          <a:prstGeom prst="roundRect">
            <a:avLst>
              <a:gd name="adj" fmla="val 3373"/>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7" name="Capture v2-a-visiter-c" descr="Points à visiter">    </p:cNvPr>
          <p:cNvPicPr>
            <a:picLocks noChangeAspect="1"/>
          </p:cNvPicPr>
          <p:nvPr/>
        </p:nvPicPr>
        <p:blipFill>
          <a:blip r:embed="rId2"/>
          <a:stretch>
            <a:fillRect/>
          </a:stretch>
        </p:blipFill>
        <p:spPr>
          <a:xfrm>
            <a:off x="4161669" y="1719072"/>
            <a:ext cx="3106662" cy="4471416"/>
          </a:xfrm>
          <a:prstGeom prst="rect">
            <a:avLst/>
          </a:prstGeom>
        </p:spPr>
      </p:pic>
      <p:sp>
        <p:nvSpPr>
          <p:cNvPr id="8" name="Pastille"/>
          <p:cNvSpPr/>
          <p:nvPr/>
        </p:nvSpPr>
        <p:spPr>
          <a:xfrm>
            <a:off x="7726680" y="1783080"/>
            <a:ext cx="457200" cy="457200"/>
          </a:xfrm>
          <a:prstGeom prst="roundRect">
            <a:avLst>
              <a:gd name="adj" fmla="val 24000"/>
            </a:avLst>
          </a:prstGeom>
          <a:solidFill>
            <a:srgbClr val="EEF0FF"/>
          </a:solidFill>
          <a:ln/>
        </p:spPr>
      </p:sp>
      <p:pic>
        <p:nvPicPr>
          <p:cNvPr id="9" name="Icône" descr="preencoded.png">    </p:cNvPr>
          <p:cNvPicPr>
            <a:picLocks noChangeAspect="1"/>
          </p:cNvPicPr>
          <p:nvPr/>
        </p:nvPicPr>
        <p:blipFill>
          <a:blip r:embed="rId3"/>
          <a:stretch>
            <a:fillRect/>
          </a:stretch>
        </p:blipFill>
        <p:spPr>
          <a:xfrm>
            <a:off x="7827264" y="1883664"/>
            <a:ext cx="256032" cy="256032"/>
          </a:xfrm>
          <a:prstGeom prst="rect">
            <a:avLst/>
          </a:prstGeom>
        </p:spPr>
      </p:pic>
      <p:sp>
        <p:nvSpPr>
          <p:cNvPr id="10" name="Texte Saisie sur place"/>
          <p:cNvSpPr txBox="1"/>
          <p:nvPr/>
        </p:nvSpPr>
        <p:spPr>
          <a:xfrm>
            <a:off x="8348472" y="1746504"/>
            <a:ext cx="326440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Saisie sur place</a:t>
            </a:r>
            <a:endParaRPr lang="en-US" sz="1600" dirty="0"/>
          </a:p>
          <a:p>
            <a:pPr indent="0" marL="0">
              <a:spcAft>
                <a:spcPts val="200"/>
              </a:spcAft>
              <a:buNone/>
            </a:pPr>
            <a:r>
              <a:rPr lang="en-US" sz="1400" dirty="0">
                <a:solidFill>
                  <a:srgbClr val="64748B"/>
                </a:solidFill>
              </a:rPr>
              <a:t>Le GPS trouve le point, le commercial note commande, montant et remarque.</a:t>
            </a:r>
            <a:endParaRPr lang="en-US" sz="1600" dirty="0"/>
          </a:p>
        </p:txBody>
      </p:sp>
      <p:sp>
        <p:nvSpPr>
          <p:cNvPr id="11" name="Pastille"/>
          <p:cNvSpPr/>
          <p:nvPr/>
        </p:nvSpPr>
        <p:spPr>
          <a:xfrm>
            <a:off x="7726680" y="3063240"/>
            <a:ext cx="457200" cy="457200"/>
          </a:xfrm>
          <a:prstGeom prst="roundRect">
            <a:avLst>
              <a:gd name="adj" fmla="val 24000"/>
            </a:avLst>
          </a:prstGeom>
          <a:solidFill>
            <a:srgbClr val="EEF0FF"/>
          </a:solidFill>
          <a:ln/>
        </p:spPr>
      </p:sp>
      <p:pic>
        <p:nvPicPr>
          <p:cNvPr id="12" name="Icône" descr="preencoded.png">    </p:cNvPr>
          <p:cNvPicPr>
            <a:picLocks noChangeAspect="1"/>
          </p:cNvPicPr>
          <p:nvPr/>
        </p:nvPicPr>
        <p:blipFill>
          <a:blip r:embed="rId4"/>
          <a:stretch>
            <a:fillRect/>
          </a:stretch>
        </p:blipFill>
        <p:spPr>
          <a:xfrm>
            <a:off x="7827264" y="3163824"/>
            <a:ext cx="256032" cy="256032"/>
          </a:xfrm>
          <a:prstGeom prst="rect">
            <a:avLst/>
          </a:prstGeom>
        </p:spPr>
      </p:pic>
      <p:sp>
        <p:nvSpPr>
          <p:cNvPr id="13" name="Texte Points à visiter"/>
          <p:cNvSpPr txBox="1"/>
          <p:nvPr/>
        </p:nvSpPr>
        <p:spPr>
          <a:xfrm>
            <a:off x="8348472" y="3026664"/>
            <a:ext cx="326440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Points à visiter</a:t>
            </a:r>
            <a:endParaRPr lang="en-US" sz="1600" dirty="0"/>
          </a:p>
          <a:p>
            <a:pPr indent="0" marL="0">
              <a:spcAft>
                <a:spcPts val="200"/>
              </a:spcAft>
              <a:buNone/>
            </a:pPr>
            <a:r>
              <a:rPr lang="en-US" sz="1400" dirty="0">
                <a:solidFill>
                  <a:srgbClr val="64748B"/>
                </a:solidFill>
              </a:rPr>
              <a:t>Ceux sans visite depuis 7, 15, 30 ou 60 jours, sur la carte et en Excel.</a:t>
            </a:r>
            <a:endParaRPr lang="en-US" sz="1600" dirty="0"/>
          </a:p>
        </p:txBody>
      </p:sp>
      <p:sp>
        <p:nvSpPr>
          <p:cNvPr id="14" name="Pastille"/>
          <p:cNvSpPr/>
          <p:nvPr/>
        </p:nvSpPr>
        <p:spPr>
          <a:xfrm>
            <a:off x="7726680" y="4343400"/>
            <a:ext cx="457200" cy="457200"/>
          </a:xfrm>
          <a:prstGeom prst="roundRect">
            <a:avLst>
              <a:gd name="adj" fmla="val 24000"/>
            </a:avLst>
          </a:prstGeom>
          <a:solidFill>
            <a:srgbClr val="EEF0FF"/>
          </a:solidFill>
          <a:ln/>
        </p:spPr>
      </p:sp>
      <p:pic>
        <p:nvPicPr>
          <p:cNvPr id="15" name="Icône" descr="preencoded.png">    </p:cNvPr>
          <p:cNvPicPr>
            <a:picLocks noChangeAspect="1"/>
          </p:cNvPicPr>
          <p:nvPr/>
        </p:nvPicPr>
        <p:blipFill>
          <a:blip r:embed="rId5"/>
          <a:stretch>
            <a:fillRect/>
          </a:stretch>
        </p:blipFill>
        <p:spPr>
          <a:xfrm>
            <a:off x="7827264" y="4443984"/>
            <a:ext cx="256032" cy="256032"/>
          </a:xfrm>
          <a:prstGeom prst="rect">
            <a:avLst/>
          </a:prstGeom>
        </p:spPr>
      </p:pic>
      <p:sp>
        <p:nvSpPr>
          <p:cNvPr id="16" name="Texte Bilan de l’équipe"/>
          <p:cNvSpPr txBox="1"/>
          <p:nvPr/>
        </p:nvSpPr>
        <p:spPr>
          <a:xfrm>
            <a:off x="8348472" y="4306824"/>
            <a:ext cx="3264408" cy="96012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Bilan de l’équipe</a:t>
            </a:r>
            <a:endParaRPr lang="en-US" sz="1600" dirty="0"/>
          </a:p>
          <a:p>
            <a:pPr indent="0" marL="0">
              <a:spcAft>
                <a:spcPts val="200"/>
              </a:spcAft>
              <a:buNone/>
            </a:pPr>
            <a:r>
              <a:rPr lang="en-US" sz="1400" dirty="0">
                <a:solidFill>
                  <a:srgbClr val="64748B"/>
                </a:solidFill>
              </a:rPr>
              <a:t>Visites, taux de commande et montants commandés sur 30 jours.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Votre équipe, ses droits, et l’historique de tout</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Trois rôles, des invitations par code, un journal que personne ne peut modifier</a:t>
            </a:r>
            <a:endParaRPr lang="en-US" sz="1600" dirty="0"/>
          </a:p>
        </p:txBody>
      </p:sp>
      <p:sp>
        <p:nvSpPr>
          <p:cNvPr id="4" name="Cadre e2-invitation-c"/>
          <p:cNvSpPr/>
          <p:nvPr/>
        </p:nvSpPr>
        <p:spPr>
          <a:xfrm>
            <a:off x="632799" y="1645920"/>
            <a:ext cx="3123522" cy="4617720"/>
          </a:xfrm>
          <a:prstGeom prst="roundRect">
            <a:avLst>
              <a:gd name="adj" fmla="val 3513"/>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e2-invitation-c" descr="Invitation d’un membre">    </p:cNvPr>
          <p:cNvPicPr>
            <a:picLocks noChangeAspect="1"/>
          </p:cNvPicPr>
          <p:nvPr/>
        </p:nvPicPr>
        <p:blipFill>
          <a:blip r:embed="rId1"/>
          <a:stretch>
            <a:fillRect/>
          </a:stretch>
        </p:blipFill>
        <p:spPr>
          <a:xfrm>
            <a:off x="705951" y="1719072"/>
            <a:ext cx="2977218" cy="4471416"/>
          </a:xfrm>
          <a:prstGeom prst="rect">
            <a:avLst/>
          </a:prstGeom>
        </p:spPr>
      </p:pic>
      <p:sp>
        <p:nvSpPr>
          <p:cNvPr id="6" name="Cadre e3-journal-c"/>
          <p:cNvSpPr/>
          <p:nvPr/>
        </p:nvSpPr>
        <p:spPr>
          <a:xfrm>
            <a:off x="4318640" y="1645920"/>
            <a:ext cx="2792720" cy="4617720"/>
          </a:xfrm>
          <a:prstGeom prst="roundRect">
            <a:avLst>
              <a:gd name="adj" fmla="val 3929"/>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7" name="Capture e3-journal-c" descr="Journal des modifications">    </p:cNvPr>
          <p:cNvPicPr>
            <a:picLocks noChangeAspect="1"/>
          </p:cNvPicPr>
          <p:nvPr/>
        </p:nvPicPr>
        <p:blipFill>
          <a:blip r:embed="rId2"/>
          <a:stretch>
            <a:fillRect/>
          </a:stretch>
        </p:blipFill>
        <p:spPr>
          <a:xfrm>
            <a:off x="4391792" y="1719072"/>
            <a:ext cx="2646416" cy="4471416"/>
          </a:xfrm>
          <a:prstGeom prst="rect">
            <a:avLst/>
          </a:prstGeom>
        </p:spPr>
      </p:pic>
      <p:sp>
        <p:nvSpPr>
          <p:cNvPr id="8" name="Carte"/>
          <p:cNvSpPr/>
          <p:nvPr/>
        </p:nvSpPr>
        <p:spPr>
          <a:xfrm>
            <a:off x="7726680" y="1783080"/>
            <a:ext cx="3886200" cy="1051560"/>
          </a:xfrm>
          <a:prstGeom prst="roundRect">
            <a:avLst>
              <a:gd name="adj" fmla="val 1217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9" name="Rôle Administrateur"/>
          <p:cNvSpPr txBox="1"/>
          <p:nvPr/>
        </p:nvSpPr>
        <p:spPr>
          <a:xfrm>
            <a:off x="7955280" y="1920240"/>
            <a:ext cx="3520440" cy="822960"/>
          </a:xfrm>
          <a:prstGeom prst="rect">
            <a:avLst/>
          </a:prstGeom>
          <a:noFill/>
          <a:ln/>
        </p:spPr>
        <p:txBody>
          <a:bodyPr wrap="square" lIns="0" tIns="0" rIns="0" bIns="0" rtlCol="0" anchor="t"/>
          <a:lstStyle/>
          <a:p>
            <a:pPr indent="0" marL="0">
              <a:buNone/>
            </a:pPr>
            <a:r>
              <a:rPr lang="en-US" sz="1600" b="1" dirty="0">
                <a:solidFill>
                  <a:schemeClr val="accent1"/>
                </a:solidFill>
              </a:rPr>
              <a:t>Administrateur</a:t>
            </a:r>
            <a:endParaRPr lang="en-US" sz="1600" dirty="0"/>
          </a:p>
          <a:p>
            <a:pPr indent="0" marL="0">
              <a:buNone/>
            </a:pPr>
            <a:r>
              <a:rPr lang="en-US" sz="1400" dirty="0">
                <a:solidFill>
                  <a:schemeClr val="tx1"/>
                </a:solidFill>
              </a:rPr>
              <a:t>Configure les types, invite l’équipe, gère l’abonnement.</a:t>
            </a:r>
            <a:endParaRPr lang="en-US" sz="1600" dirty="0"/>
          </a:p>
        </p:txBody>
      </p:sp>
      <p:sp>
        <p:nvSpPr>
          <p:cNvPr id="10" name="Carte"/>
          <p:cNvSpPr/>
          <p:nvPr/>
        </p:nvSpPr>
        <p:spPr>
          <a:xfrm>
            <a:off x="7726680" y="3017520"/>
            <a:ext cx="3886200" cy="1051560"/>
          </a:xfrm>
          <a:prstGeom prst="roundRect">
            <a:avLst>
              <a:gd name="adj" fmla="val 1217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1" name="Rôle Manager"/>
          <p:cNvSpPr txBox="1"/>
          <p:nvPr/>
        </p:nvSpPr>
        <p:spPr>
          <a:xfrm>
            <a:off x="7955280" y="3154680"/>
            <a:ext cx="3520440" cy="822960"/>
          </a:xfrm>
          <a:prstGeom prst="rect">
            <a:avLst/>
          </a:prstGeom>
          <a:noFill/>
          <a:ln/>
        </p:spPr>
        <p:txBody>
          <a:bodyPr wrap="square" lIns="0" tIns="0" rIns="0" bIns="0" rtlCol="0" anchor="t"/>
          <a:lstStyle/>
          <a:p>
            <a:pPr indent="0" marL="0">
              <a:buNone/>
            </a:pPr>
            <a:r>
              <a:rPr lang="en-US" sz="1600" b="1" dirty="0">
                <a:solidFill>
                  <a:schemeClr val="accent1"/>
                </a:solidFill>
              </a:rPr>
              <a:t>Manager</a:t>
            </a:r>
            <a:endParaRPr lang="en-US" sz="1600" dirty="0"/>
          </a:p>
          <a:p>
            <a:pPr indent="0" marL="0">
              <a:buNone/>
            </a:pPr>
            <a:r>
              <a:rPr lang="en-US" sz="1400" dirty="0">
                <a:solidFill>
                  <a:schemeClr val="tx1"/>
                </a:solidFill>
              </a:rPr>
              <a:t>Valide les points, importe les ventes, analyse et simule.</a:t>
            </a:r>
            <a:endParaRPr lang="en-US" sz="1600" dirty="0"/>
          </a:p>
        </p:txBody>
      </p:sp>
      <p:sp>
        <p:nvSpPr>
          <p:cNvPr id="12" name="Carte"/>
          <p:cNvSpPr/>
          <p:nvPr/>
        </p:nvSpPr>
        <p:spPr>
          <a:xfrm>
            <a:off x="7726680" y="4251960"/>
            <a:ext cx="3886200" cy="1051560"/>
          </a:xfrm>
          <a:prstGeom prst="roundRect">
            <a:avLst>
              <a:gd name="adj" fmla="val 12174"/>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3" name="Rôle Commercial"/>
          <p:cNvSpPr txBox="1"/>
          <p:nvPr/>
        </p:nvSpPr>
        <p:spPr>
          <a:xfrm>
            <a:off x="7955280" y="4389120"/>
            <a:ext cx="3520440" cy="822960"/>
          </a:xfrm>
          <a:prstGeom prst="rect">
            <a:avLst/>
          </a:prstGeom>
          <a:noFill/>
          <a:ln/>
        </p:spPr>
        <p:txBody>
          <a:bodyPr wrap="square" lIns="0" tIns="0" rIns="0" bIns="0" rtlCol="0" anchor="t"/>
          <a:lstStyle/>
          <a:p>
            <a:pPr indent="0" marL="0">
              <a:buNone/>
            </a:pPr>
            <a:r>
              <a:rPr lang="en-US" sz="1600" b="1" dirty="0">
                <a:solidFill>
                  <a:schemeClr val="accent1"/>
                </a:solidFill>
              </a:rPr>
              <a:t>Commercial</a:t>
            </a:r>
            <a:endParaRPr lang="en-US" sz="1600" dirty="0"/>
          </a:p>
          <a:p>
            <a:pPr indent="0" marL="0">
              <a:buNone/>
            </a:pPr>
            <a:r>
              <a:rPr lang="en-US" sz="1400" dirty="0">
                <a:solidFill>
                  <a:schemeClr val="tx1"/>
                </a:solidFill>
              </a:rPr>
              <a:t>Propose des points et note ses visites sur le terrain.</a:t>
            </a:r>
            <a:endParaRPr lang="en-US" sz="1600" dirty="0"/>
          </a:p>
        </p:txBody>
      </p:sp>
      <p:sp>
        <p:nvSpPr>
          <p:cNvPr id="14" name="Text 10"/>
          <p:cNvSpPr txBox="1"/>
          <p:nvPr/>
        </p:nvSpPr>
        <p:spPr>
          <a:xfrm>
            <a:off x="7726680" y="5532120"/>
            <a:ext cx="3886200" cy="640080"/>
          </a:xfrm>
          <a:prstGeom prst="rect">
            <a:avLst/>
          </a:prstGeom>
          <a:noFill/>
          <a:ln/>
        </p:spPr>
        <p:txBody>
          <a:bodyPr wrap="square" lIns="0" tIns="0" rIns="0" bIns="0" rtlCol="0" anchor="t"/>
          <a:lstStyle/>
          <a:p>
            <a:pPr indent="0" marL="0">
              <a:buNone/>
            </a:pPr>
            <a:r>
              <a:rPr lang="en-US" sz="1400" i="1" dirty="0">
                <a:solidFill>
                  <a:srgbClr val="64748B"/>
                </a:solidFill>
              </a:rPr>
              <a:t>Chaque création, modification ou suppression est tracée : qui, quoi, quand.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Sur le téléphone, comme au bureau</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Une application qui s’installe en un geste sur iPhone et Android, sans passer par un store</a:t>
            </a:r>
            <a:endParaRPr lang="en-US" sz="1600" dirty="0"/>
          </a:p>
        </p:txBody>
      </p:sp>
      <p:sp>
        <p:nvSpPr>
          <p:cNvPr id="4" name="Cadre m1-carte"/>
          <p:cNvSpPr/>
          <p:nvPr/>
        </p:nvSpPr>
        <p:spPr>
          <a:xfrm>
            <a:off x="831660" y="1645920"/>
            <a:ext cx="2085720" cy="4343400"/>
          </a:xfrm>
          <a:prstGeom prst="roundRect">
            <a:avLst>
              <a:gd name="adj" fmla="val 5261"/>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5" name="Capture m1-carte" descr="Téléphone : La carte">    </p:cNvPr>
          <p:cNvPicPr>
            <a:picLocks noChangeAspect="1"/>
          </p:cNvPicPr>
          <p:nvPr/>
        </p:nvPicPr>
        <p:blipFill>
          <a:blip r:embed="rId1"/>
          <a:stretch>
            <a:fillRect/>
          </a:stretch>
        </p:blipFill>
        <p:spPr>
          <a:xfrm>
            <a:off x="904812" y="1719072"/>
            <a:ext cx="1939416" cy="4197096"/>
          </a:xfrm>
          <a:prstGeom prst="rect">
            <a:avLst/>
          </a:prstGeom>
        </p:spPr>
      </p:pic>
      <p:sp>
        <p:nvSpPr>
          <p:cNvPr id="6" name="Text 3"/>
          <p:cNvSpPr txBox="1"/>
          <p:nvPr/>
        </p:nvSpPr>
        <p:spPr>
          <a:xfrm>
            <a:off x="548640" y="6053328"/>
            <a:ext cx="2651760" cy="274320"/>
          </a:xfrm>
          <a:prstGeom prst="rect">
            <a:avLst/>
          </a:prstGeom>
          <a:noFill/>
          <a:ln/>
        </p:spPr>
        <p:txBody>
          <a:bodyPr wrap="square" lIns="0" tIns="0" rIns="0" bIns="0" rtlCol="0" anchor="ctr"/>
          <a:lstStyle/>
          <a:p>
            <a:pPr algn="ctr" indent="0" marL="0">
              <a:buNone/>
            </a:pPr>
            <a:r>
              <a:rPr lang="en-US" sz="1300" b="1" dirty="0">
                <a:solidFill>
                  <a:schemeClr val="tx1"/>
                </a:solidFill>
              </a:rPr>
              <a:t>La carte</a:t>
            </a:r>
            <a:endParaRPr lang="en-US" sz="1300" dirty="0"/>
          </a:p>
        </p:txBody>
      </p:sp>
      <p:sp>
        <p:nvSpPr>
          <p:cNvPr id="7" name="Cadre i3-mobile"/>
          <p:cNvSpPr/>
          <p:nvPr/>
        </p:nvSpPr>
        <p:spPr>
          <a:xfrm>
            <a:off x="3666300" y="1645920"/>
            <a:ext cx="2085720" cy="4343400"/>
          </a:xfrm>
          <a:prstGeom prst="roundRect">
            <a:avLst>
              <a:gd name="adj" fmla="val 5261"/>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8" name="Capture i3-mobile" descr="Téléphone : Le simulateur">    </p:cNvPr>
          <p:cNvPicPr>
            <a:picLocks noChangeAspect="1"/>
          </p:cNvPicPr>
          <p:nvPr/>
        </p:nvPicPr>
        <p:blipFill>
          <a:blip r:embed="rId2"/>
          <a:stretch>
            <a:fillRect/>
          </a:stretch>
        </p:blipFill>
        <p:spPr>
          <a:xfrm>
            <a:off x="3739452" y="1719072"/>
            <a:ext cx="1939416" cy="4197096"/>
          </a:xfrm>
          <a:prstGeom prst="rect">
            <a:avLst/>
          </a:prstGeom>
        </p:spPr>
      </p:pic>
      <p:sp>
        <p:nvSpPr>
          <p:cNvPr id="9" name="Text 5"/>
          <p:cNvSpPr txBox="1"/>
          <p:nvPr/>
        </p:nvSpPr>
        <p:spPr>
          <a:xfrm>
            <a:off x="3383280" y="6053328"/>
            <a:ext cx="2651760" cy="274320"/>
          </a:xfrm>
          <a:prstGeom prst="rect">
            <a:avLst/>
          </a:prstGeom>
          <a:noFill/>
          <a:ln/>
        </p:spPr>
        <p:txBody>
          <a:bodyPr wrap="square" lIns="0" tIns="0" rIns="0" bIns="0" rtlCol="0" anchor="ctr"/>
          <a:lstStyle/>
          <a:p>
            <a:pPr algn="ctr" indent="0" marL="0">
              <a:buNone/>
            </a:pPr>
            <a:r>
              <a:rPr lang="en-US" sz="1300" b="1" dirty="0">
                <a:solidFill>
                  <a:schemeClr val="tx1"/>
                </a:solidFill>
              </a:rPr>
              <a:t>Le simulateur</a:t>
            </a:r>
            <a:endParaRPr lang="en-US" sz="1300" dirty="0"/>
          </a:p>
        </p:txBody>
      </p:sp>
      <p:sp>
        <p:nvSpPr>
          <p:cNvPr id="10" name="Cadre h6-mobile"/>
          <p:cNvSpPr/>
          <p:nvPr/>
        </p:nvSpPr>
        <p:spPr>
          <a:xfrm>
            <a:off x="6500940" y="1645920"/>
            <a:ext cx="2085720" cy="4343400"/>
          </a:xfrm>
          <a:prstGeom prst="roundRect">
            <a:avLst>
              <a:gd name="adj" fmla="val 5261"/>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11" name="Capture h6-mobile" descr="Téléphone : La couverture">    </p:cNvPr>
          <p:cNvPicPr>
            <a:picLocks noChangeAspect="1"/>
          </p:cNvPicPr>
          <p:nvPr/>
        </p:nvPicPr>
        <p:blipFill>
          <a:blip r:embed="rId3"/>
          <a:stretch>
            <a:fillRect/>
          </a:stretch>
        </p:blipFill>
        <p:spPr>
          <a:xfrm>
            <a:off x="6574092" y="1719072"/>
            <a:ext cx="1939416" cy="4197096"/>
          </a:xfrm>
          <a:prstGeom prst="rect">
            <a:avLst/>
          </a:prstGeom>
        </p:spPr>
      </p:pic>
      <p:sp>
        <p:nvSpPr>
          <p:cNvPr id="12" name="Text 7"/>
          <p:cNvSpPr txBox="1"/>
          <p:nvPr/>
        </p:nvSpPr>
        <p:spPr>
          <a:xfrm>
            <a:off x="6217920" y="6053328"/>
            <a:ext cx="2651760" cy="274320"/>
          </a:xfrm>
          <a:prstGeom prst="rect">
            <a:avLst/>
          </a:prstGeom>
          <a:noFill/>
          <a:ln/>
        </p:spPr>
        <p:txBody>
          <a:bodyPr wrap="square" lIns="0" tIns="0" rIns="0" bIns="0" rtlCol="0" anchor="ctr"/>
          <a:lstStyle/>
          <a:p>
            <a:pPr algn="ctr" indent="0" marL="0">
              <a:buNone/>
            </a:pPr>
            <a:r>
              <a:rPr lang="en-US" sz="1300" b="1" dirty="0">
                <a:solidFill>
                  <a:schemeClr val="tx1"/>
                </a:solidFill>
              </a:rPr>
              <a:t>La couverture</a:t>
            </a:r>
            <a:endParaRPr lang="en-US" sz="1300" dirty="0"/>
          </a:p>
        </p:txBody>
      </p:sp>
      <p:sp>
        <p:nvSpPr>
          <p:cNvPr id="13" name="Cadre v4-mobile"/>
          <p:cNvSpPr/>
          <p:nvPr/>
        </p:nvSpPr>
        <p:spPr>
          <a:xfrm>
            <a:off x="9335580" y="1645920"/>
            <a:ext cx="2085720" cy="4343400"/>
          </a:xfrm>
          <a:prstGeom prst="roundRect">
            <a:avLst>
              <a:gd name="adj" fmla="val 5261"/>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pic>
        <p:nvPicPr>
          <p:cNvPr id="14" name="Capture v4-mobile" descr="Téléphone : Les visites">    </p:cNvPr>
          <p:cNvPicPr>
            <a:picLocks noChangeAspect="1"/>
          </p:cNvPicPr>
          <p:nvPr/>
        </p:nvPicPr>
        <p:blipFill>
          <a:blip r:embed="rId4"/>
          <a:stretch>
            <a:fillRect/>
          </a:stretch>
        </p:blipFill>
        <p:spPr>
          <a:xfrm>
            <a:off x="9408732" y="1719072"/>
            <a:ext cx="1939416" cy="4197096"/>
          </a:xfrm>
          <a:prstGeom prst="rect">
            <a:avLst/>
          </a:prstGeom>
        </p:spPr>
      </p:pic>
      <p:sp>
        <p:nvSpPr>
          <p:cNvPr id="15" name="Text 9"/>
          <p:cNvSpPr txBox="1"/>
          <p:nvPr/>
        </p:nvSpPr>
        <p:spPr>
          <a:xfrm>
            <a:off x="9052560" y="6053328"/>
            <a:ext cx="2651760" cy="274320"/>
          </a:xfrm>
          <a:prstGeom prst="rect">
            <a:avLst/>
          </a:prstGeom>
          <a:noFill/>
          <a:ln/>
        </p:spPr>
        <p:txBody>
          <a:bodyPr wrap="square" lIns="0" tIns="0" rIns="0" bIns="0" rtlCol="0" anchor="ctr"/>
          <a:lstStyle/>
          <a:p>
            <a:pPr algn="ctr" indent="0" marL="0">
              <a:buNone/>
            </a:pPr>
            <a:r>
              <a:rPr lang="en-US" sz="1300" b="1" dirty="0">
                <a:solidFill>
                  <a:schemeClr val="tx1"/>
                </a:solidFill>
              </a:rPr>
              <a:t>Les visites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8686800" cy="1005840"/>
          </a:xfrm>
          <a:prstGeom prst="rect">
            <a:avLst/>
          </a:prstGeom>
          <a:noFill/>
          <a:ln/>
        </p:spPr>
        <p:txBody>
          <a:bodyPr wrap="square" lIns="0" tIns="0" rIns="0" bIns="0" rtlCol="0" anchor="t"/>
          <a:lstStyle/>
          <a:p>
            <a:pPr algn="l" indent="0" marL="0">
              <a:buNone/>
            </a:pPr>
            <a:r>
              <a:rPr lang="en-US" sz="4000" b="1" dirty="0">
                <a:solidFill>
                  <a:schemeClr val="bg1"/>
                </a:solidFill>
              </a:rPr>
              <a:t>Démarrer avec GeoPulse</a:t>
            </a:r>
            <a:endParaRPr lang="en-US" sz="4000" dirty="0"/>
          </a:p>
        </p:txBody>
      </p:sp>
      <p:sp>
        <p:nvSpPr>
          <p:cNvPr id="3" name="Text 0"/>
          <p:cNvSpPr/>
          <p:nvPr>
            <p:ph idx="101" type="body" hasCustomPrompt="1"/>
          </p:nvPr>
        </p:nvSpPr>
        <p:spPr>
          <a:xfrm>
            <a:off x="822960" y="3703320"/>
            <a:ext cx="8686800" cy="731520"/>
          </a:xfrm>
          <a:prstGeom prst="rect">
            <a:avLst/>
          </a:prstGeom>
          <a:noFill/>
          <a:ln/>
        </p:spPr>
        <p:txBody>
          <a:bodyPr wrap="square" lIns="0" tIns="0" rIns="0" bIns="0" rtlCol="0" anchor="t"/>
          <a:lstStyle/>
          <a:p>
            <a:pPr indent="0" marL="0">
              <a:buNone/>
            </a:pPr>
            <a:r>
              <a:rPr lang="en-US" sz="1800" dirty="0">
                <a:solidFill>
                  <a:schemeClr val="bg2"/>
                </a:solidFill>
              </a:rPr>
              <a:t>Opérationnel en quelques jours, avec vos fichiers existants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Cinq étapes pour démarrer</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Aucune installation, aucun développement : vos fichiers Excel suffisent</a:t>
            </a:r>
            <a:endParaRPr lang="en-US" sz="1600" dirty="0"/>
          </a:p>
        </p:txBody>
      </p:sp>
      <p:sp>
        <p:nvSpPr>
          <p:cNvPr id="4" name="Carte"/>
          <p:cNvSpPr/>
          <p:nvPr/>
        </p:nvSpPr>
        <p:spPr>
          <a:xfrm>
            <a:off x="548640" y="1920240"/>
            <a:ext cx="2103120" cy="3291840"/>
          </a:xfrm>
          <a:prstGeom prst="roundRect">
            <a:avLst>
              <a:gd name="adj" fmla="val 608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5" name="Numéro 1"/>
          <p:cNvSpPr txBox="1"/>
          <p:nvPr/>
        </p:nvSpPr>
        <p:spPr>
          <a:xfrm>
            <a:off x="822960" y="2057400"/>
            <a:ext cx="914400" cy="685800"/>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6" name="Pastille"/>
          <p:cNvSpPr/>
          <p:nvPr/>
        </p:nvSpPr>
        <p:spPr>
          <a:xfrm>
            <a:off x="1874520" y="2148840"/>
            <a:ext cx="502920" cy="502920"/>
          </a:xfrm>
          <a:prstGeom prst="roundRect">
            <a:avLst>
              <a:gd name="adj" fmla="val 21818"/>
            </a:avLst>
          </a:prstGeom>
          <a:solidFill>
            <a:srgbClr val="EEF0FF"/>
          </a:solidFill>
          <a:ln/>
        </p:spPr>
      </p:sp>
      <p:pic>
        <p:nvPicPr>
          <p:cNvPr id="7" name="Icône" descr="preencoded.png">    </p:cNvPr>
          <p:cNvPicPr>
            <a:picLocks noChangeAspect="1"/>
          </p:cNvPicPr>
          <p:nvPr/>
        </p:nvPicPr>
        <p:blipFill>
          <a:blip r:embed="rId1"/>
          <a:stretch>
            <a:fillRect/>
          </a:stretch>
        </p:blipFill>
        <p:spPr>
          <a:xfrm>
            <a:off x="1985162" y="2259482"/>
            <a:ext cx="281635" cy="281635"/>
          </a:xfrm>
          <a:prstGeom prst="rect">
            <a:avLst/>
          </a:prstGeom>
        </p:spPr>
      </p:pic>
      <p:sp>
        <p:nvSpPr>
          <p:cNvPr id="8" name="Étape 1"/>
          <p:cNvSpPr txBox="1"/>
          <p:nvPr/>
        </p:nvSpPr>
        <p:spPr>
          <a:xfrm>
            <a:off x="822960" y="2971800"/>
            <a:ext cx="1600200"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Créer le compte</a:t>
            </a:r>
            <a:endParaRPr lang="en-US" sz="1800" dirty="0"/>
          </a:p>
          <a:p>
            <a:pPr indent="0" marL="0">
              <a:spcAft>
                <a:spcPts val="600"/>
              </a:spcAft>
              <a:buNone/>
            </a:pPr>
            <a:r>
              <a:rPr lang="en-US" sz="1500" dirty="0">
                <a:solidFill>
                  <a:srgbClr val="64748B"/>
                </a:solidFill>
              </a:rPr>
              <a:t>Votre société s’inscrit en ligne. GeoPulse valide l’ouverture.</a:t>
            </a:r>
            <a:endParaRPr lang="en-US" sz="1800" dirty="0"/>
          </a:p>
        </p:txBody>
      </p:sp>
      <p:sp>
        <p:nvSpPr>
          <p:cNvPr id="9" name="Carte"/>
          <p:cNvSpPr/>
          <p:nvPr/>
        </p:nvSpPr>
        <p:spPr>
          <a:xfrm>
            <a:off x="2788920" y="1920240"/>
            <a:ext cx="2103120" cy="3291840"/>
          </a:xfrm>
          <a:prstGeom prst="roundRect">
            <a:avLst>
              <a:gd name="adj" fmla="val 608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0" name="Numéro 2"/>
          <p:cNvSpPr txBox="1"/>
          <p:nvPr/>
        </p:nvSpPr>
        <p:spPr>
          <a:xfrm>
            <a:off x="3063240" y="2057400"/>
            <a:ext cx="914400" cy="685800"/>
          </a:xfrm>
          <a:prstGeom prst="rect">
            <a:avLst/>
          </a:prstGeom>
          <a:noFill/>
          <a:ln/>
        </p:spPr>
        <p:txBody>
          <a:bodyPr wrap="square" lIns="0" tIns="0" rIns="0" bIns="0" rtlCol="0" anchor="ctr"/>
          <a:lstStyle/>
          <a:p>
            <a:pPr indent="0" marL="0">
              <a:buNone/>
            </a:pPr>
            <a:r>
              <a:rPr lang="en-US" sz="4000" b="1" dirty="0">
                <a:solidFill>
                  <a:schemeClr val="accent1"/>
                </a:solidFill>
              </a:rPr>
              <a:t>2</a:t>
            </a:r>
            <a:endParaRPr lang="en-US" sz="4000" dirty="0"/>
          </a:p>
        </p:txBody>
      </p:sp>
      <p:sp>
        <p:nvSpPr>
          <p:cNvPr id="11" name="Pastille"/>
          <p:cNvSpPr/>
          <p:nvPr/>
        </p:nvSpPr>
        <p:spPr>
          <a:xfrm>
            <a:off x="4114800" y="2148840"/>
            <a:ext cx="502920" cy="502920"/>
          </a:xfrm>
          <a:prstGeom prst="roundRect">
            <a:avLst>
              <a:gd name="adj" fmla="val 21818"/>
            </a:avLst>
          </a:prstGeom>
          <a:solidFill>
            <a:srgbClr val="EEF0FF"/>
          </a:solidFill>
          <a:ln/>
        </p:spPr>
      </p:sp>
      <p:pic>
        <p:nvPicPr>
          <p:cNvPr id="12" name="Icône" descr="preencoded.png">    </p:cNvPr>
          <p:cNvPicPr>
            <a:picLocks noChangeAspect="1"/>
          </p:cNvPicPr>
          <p:nvPr/>
        </p:nvPicPr>
        <p:blipFill>
          <a:blip r:embed="rId2"/>
          <a:stretch>
            <a:fillRect/>
          </a:stretch>
        </p:blipFill>
        <p:spPr>
          <a:xfrm>
            <a:off x="4225442" y="2259482"/>
            <a:ext cx="281635" cy="281635"/>
          </a:xfrm>
          <a:prstGeom prst="rect">
            <a:avLst/>
          </a:prstGeom>
        </p:spPr>
      </p:pic>
      <p:sp>
        <p:nvSpPr>
          <p:cNvPr id="13" name="Étape 2"/>
          <p:cNvSpPr txBox="1"/>
          <p:nvPr/>
        </p:nvSpPr>
        <p:spPr>
          <a:xfrm>
            <a:off x="3063240" y="2971800"/>
            <a:ext cx="1600200"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Configurer</a:t>
            </a:r>
            <a:endParaRPr lang="en-US" sz="1800" dirty="0"/>
          </a:p>
          <a:p>
            <a:pPr indent="0" marL="0">
              <a:spcAft>
                <a:spcPts val="600"/>
              </a:spcAft>
              <a:buNone/>
            </a:pPr>
            <a:r>
              <a:rPr lang="en-US" sz="1500" dirty="0">
                <a:solidFill>
                  <a:srgbClr val="64748B"/>
                </a:solidFill>
              </a:rPr>
              <a:t>Vos types de points et leurs champs : surface, code ERP, nature.</a:t>
            </a:r>
            <a:endParaRPr lang="en-US" sz="1800" dirty="0"/>
          </a:p>
        </p:txBody>
      </p:sp>
      <p:sp>
        <p:nvSpPr>
          <p:cNvPr id="14" name="Carte"/>
          <p:cNvSpPr/>
          <p:nvPr/>
        </p:nvSpPr>
        <p:spPr>
          <a:xfrm>
            <a:off x="5029200" y="1920240"/>
            <a:ext cx="2103120" cy="3291840"/>
          </a:xfrm>
          <a:prstGeom prst="roundRect">
            <a:avLst>
              <a:gd name="adj" fmla="val 608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5" name="Numéro 3"/>
          <p:cNvSpPr txBox="1"/>
          <p:nvPr/>
        </p:nvSpPr>
        <p:spPr>
          <a:xfrm>
            <a:off x="5303520" y="2057400"/>
            <a:ext cx="914400" cy="685800"/>
          </a:xfrm>
          <a:prstGeom prst="rect">
            <a:avLst/>
          </a:prstGeom>
          <a:noFill/>
          <a:ln/>
        </p:spPr>
        <p:txBody>
          <a:bodyPr wrap="square" lIns="0" tIns="0" rIns="0" bIns="0" rtlCol="0" anchor="ctr"/>
          <a:lstStyle/>
          <a:p>
            <a:pPr indent="0" marL="0">
              <a:buNone/>
            </a:pPr>
            <a:r>
              <a:rPr lang="en-US" sz="4000" b="1" dirty="0">
                <a:solidFill>
                  <a:schemeClr val="accent1"/>
                </a:solidFill>
              </a:rPr>
              <a:t>3</a:t>
            </a:r>
            <a:endParaRPr lang="en-US" sz="4000" dirty="0"/>
          </a:p>
        </p:txBody>
      </p:sp>
      <p:sp>
        <p:nvSpPr>
          <p:cNvPr id="16" name="Pastille"/>
          <p:cNvSpPr/>
          <p:nvPr/>
        </p:nvSpPr>
        <p:spPr>
          <a:xfrm>
            <a:off x="6355080" y="2148840"/>
            <a:ext cx="502920" cy="502920"/>
          </a:xfrm>
          <a:prstGeom prst="roundRect">
            <a:avLst>
              <a:gd name="adj" fmla="val 21818"/>
            </a:avLst>
          </a:prstGeom>
          <a:solidFill>
            <a:srgbClr val="EEF0FF"/>
          </a:solidFill>
          <a:ln/>
        </p:spPr>
      </p:sp>
      <p:pic>
        <p:nvPicPr>
          <p:cNvPr id="17" name="Icône" descr="preencoded.png">    </p:cNvPr>
          <p:cNvPicPr>
            <a:picLocks noChangeAspect="1"/>
          </p:cNvPicPr>
          <p:nvPr/>
        </p:nvPicPr>
        <p:blipFill>
          <a:blip r:embed="rId3"/>
          <a:stretch>
            <a:fillRect/>
          </a:stretch>
        </p:blipFill>
        <p:spPr>
          <a:xfrm>
            <a:off x="6465722" y="2259482"/>
            <a:ext cx="281635" cy="281635"/>
          </a:xfrm>
          <a:prstGeom prst="rect">
            <a:avLst/>
          </a:prstGeom>
        </p:spPr>
      </p:pic>
      <p:sp>
        <p:nvSpPr>
          <p:cNvPr id="18" name="Étape 3"/>
          <p:cNvSpPr txBox="1"/>
          <p:nvPr/>
        </p:nvSpPr>
        <p:spPr>
          <a:xfrm>
            <a:off x="5303520" y="2971800"/>
            <a:ext cx="1600200"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Importer</a:t>
            </a:r>
            <a:endParaRPr lang="en-US" sz="1800" dirty="0"/>
          </a:p>
          <a:p>
            <a:pPr indent="0" marL="0">
              <a:spcAft>
                <a:spcPts val="600"/>
              </a:spcAft>
              <a:buNone/>
            </a:pPr>
            <a:r>
              <a:rPr lang="en-US" sz="1500" dirty="0">
                <a:solidFill>
                  <a:srgbClr val="64748B"/>
                </a:solidFill>
              </a:rPr>
              <a:t>Vos points puis vos ventes mensuelles, depuis Excel.</a:t>
            </a:r>
            <a:endParaRPr lang="en-US" sz="1800" dirty="0"/>
          </a:p>
        </p:txBody>
      </p:sp>
      <p:sp>
        <p:nvSpPr>
          <p:cNvPr id="19" name="Carte"/>
          <p:cNvSpPr/>
          <p:nvPr/>
        </p:nvSpPr>
        <p:spPr>
          <a:xfrm>
            <a:off x="7269480" y="1920240"/>
            <a:ext cx="2103120" cy="3291840"/>
          </a:xfrm>
          <a:prstGeom prst="roundRect">
            <a:avLst>
              <a:gd name="adj" fmla="val 608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20" name="Numéro 4"/>
          <p:cNvSpPr txBox="1"/>
          <p:nvPr/>
        </p:nvSpPr>
        <p:spPr>
          <a:xfrm>
            <a:off x="7543800" y="2057400"/>
            <a:ext cx="914400" cy="685800"/>
          </a:xfrm>
          <a:prstGeom prst="rect">
            <a:avLst/>
          </a:prstGeom>
          <a:noFill/>
          <a:ln/>
        </p:spPr>
        <p:txBody>
          <a:bodyPr wrap="square" lIns="0" tIns="0" rIns="0" bIns="0" rtlCol="0" anchor="ctr"/>
          <a:lstStyle/>
          <a:p>
            <a:pPr indent="0" marL="0">
              <a:buNone/>
            </a:pPr>
            <a:r>
              <a:rPr lang="en-US" sz="4000" b="1" dirty="0">
                <a:solidFill>
                  <a:schemeClr val="accent1"/>
                </a:solidFill>
              </a:rPr>
              <a:t>4</a:t>
            </a:r>
            <a:endParaRPr lang="en-US" sz="4000" dirty="0"/>
          </a:p>
        </p:txBody>
      </p:sp>
      <p:sp>
        <p:nvSpPr>
          <p:cNvPr id="21" name="Pastille"/>
          <p:cNvSpPr/>
          <p:nvPr/>
        </p:nvSpPr>
        <p:spPr>
          <a:xfrm>
            <a:off x="8595360" y="2148840"/>
            <a:ext cx="502920" cy="502920"/>
          </a:xfrm>
          <a:prstGeom prst="roundRect">
            <a:avLst>
              <a:gd name="adj" fmla="val 21818"/>
            </a:avLst>
          </a:prstGeom>
          <a:solidFill>
            <a:srgbClr val="EEF0FF"/>
          </a:solidFill>
          <a:ln/>
        </p:spPr>
      </p:sp>
      <p:pic>
        <p:nvPicPr>
          <p:cNvPr id="22" name="Icône" descr="preencoded.png">    </p:cNvPr>
          <p:cNvPicPr>
            <a:picLocks noChangeAspect="1"/>
          </p:cNvPicPr>
          <p:nvPr/>
        </p:nvPicPr>
        <p:blipFill>
          <a:blip r:embed="rId4"/>
          <a:stretch>
            <a:fillRect/>
          </a:stretch>
        </p:blipFill>
        <p:spPr>
          <a:xfrm>
            <a:off x="8706002" y="2259482"/>
            <a:ext cx="281635" cy="281635"/>
          </a:xfrm>
          <a:prstGeom prst="rect">
            <a:avLst/>
          </a:prstGeom>
        </p:spPr>
      </p:pic>
      <p:sp>
        <p:nvSpPr>
          <p:cNvPr id="23" name="Étape 4"/>
          <p:cNvSpPr txBox="1"/>
          <p:nvPr/>
        </p:nvSpPr>
        <p:spPr>
          <a:xfrm>
            <a:off x="7543800" y="2971800"/>
            <a:ext cx="1600200"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Inviter l’équipe</a:t>
            </a:r>
            <a:endParaRPr lang="en-US" sz="1800" dirty="0"/>
          </a:p>
          <a:p>
            <a:pPr indent="0" marL="0">
              <a:spcAft>
                <a:spcPts val="600"/>
              </a:spcAft>
              <a:buNone/>
            </a:pPr>
            <a:r>
              <a:rPr lang="en-US" sz="1500" dirty="0">
                <a:solidFill>
                  <a:srgbClr val="64748B"/>
                </a:solidFill>
              </a:rPr>
              <a:t>Managers et commerciaux reçoivent leur code d’accès.</a:t>
            </a:r>
            <a:endParaRPr lang="en-US" sz="1800" dirty="0"/>
          </a:p>
        </p:txBody>
      </p:sp>
      <p:sp>
        <p:nvSpPr>
          <p:cNvPr id="24" name="Carte"/>
          <p:cNvSpPr/>
          <p:nvPr/>
        </p:nvSpPr>
        <p:spPr>
          <a:xfrm>
            <a:off x="9509760" y="1920240"/>
            <a:ext cx="2103120" cy="3291840"/>
          </a:xfrm>
          <a:prstGeom prst="roundRect">
            <a:avLst>
              <a:gd name="adj" fmla="val 608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25" name="Numéro 5"/>
          <p:cNvSpPr txBox="1"/>
          <p:nvPr/>
        </p:nvSpPr>
        <p:spPr>
          <a:xfrm>
            <a:off x="9784080" y="2057400"/>
            <a:ext cx="914400" cy="685800"/>
          </a:xfrm>
          <a:prstGeom prst="rect">
            <a:avLst/>
          </a:prstGeom>
          <a:noFill/>
          <a:ln/>
        </p:spPr>
        <p:txBody>
          <a:bodyPr wrap="square" lIns="0" tIns="0" rIns="0" bIns="0" rtlCol="0" anchor="ctr"/>
          <a:lstStyle/>
          <a:p>
            <a:pPr indent="0" marL="0">
              <a:buNone/>
            </a:pPr>
            <a:r>
              <a:rPr lang="en-US" sz="4000" b="1" dirty="0">
                <a:solidFill>
                  <a:schemeClr val="accent1"/>
                </a:solidFill>
              </a:rPr>
              <a:t>5</a:t>
            </a:r>
            <a:endParaRPr lang="en-US" sz="4000" dirty="0"/>
          </a:p>
        </p:txBody>
      </p:sp>
      <p:sp>
        <p:nvSpPr>
          <p:cNvPr id="26" name="Pastille"/>
          <p:cNvSpPr/>
          <p:nvPr/>
        </p:nvSpPr>
        <p:spPr>
          <a:xfrm>
            <a:off x="10835640" y="2148840"/>
            <a:ext cx="502920" cy="502920"/>
          </a:xfrm>
          <a:prstGeom prst="roundRect">
            <a:avLst>
              <a:gd name="adj" fmla="val 21818"/>
            </a:avLst>
          </a:prstGeom>
          <a:solidFill>
            <a:srgbClr val="EEF0FF"/>
          </a:solidFill>
          <a:ln/>
        </p:spPr>
      </p:sp>
      <p:pic>
        <p:nvPicPr>
          <p:cNvPr id="27" name="Icône" descr="preencoded.png">    </p:cNvPr>
          <p:cNvPicPr>
            <a:picLocks noChangeAspect="1"/>
          </p:cNvPicPr>
          <p:nvPr/>
        </p:nvPicPr>
        <p:blipFill>
          <a:blip r:embed="rId5"/>
          <a:stretch>
            <a:fillRect/>
          </a:stretch>
        </p:blipFill>
        <p:spPr>
          <a:xfrm>
            <a:off x="10946282" y="2259482"/>
            <a:ext cx="281635" cy="281635"/>
          </a:xfrm>
          <a:prstGeom prst="rect">
            <a:avLst/>
          </a:prstGeom>
        </p:spPr>
      </p:pic>
      <p:sp>
        <p:nvSpPr>
          <p:cNvPr id="28" name="Étape 5"/>
          <p:cNvSpPr txBox="1"/>
          <p:nvPr/>
        </p:nvSpPr>
        <p:spPr>
          <a:xfrm>
            <a:off x="9784080" y="2971800"/>
            <a:ext cx="1600200"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Décider</a:t>
            </a:r>
            <a:endParaRPr lang="en-US" sz="1800" dirty="0"/>
          </a:p>
          <a:p>
            <a:pPr indent="0" marL="0">
              <a:spcAft>
                <a:spcPts val="600"/>
              </a:spcAft>
              <a:buNone/>
            </a:pPr>
            <a:r>
              <a:rPr lang="en-US" sz="1500" dirty="0">
                <a:solidFill>
                  <a:srgbClr val="64748B"/>
                </a:solidFill>
              </a:rPr>
              <a:t>Simuler, comparer, repérer les zones à potentiel, suivre le terrain.</a:t>
            </a:r>
            <a:endParaRPr lang="en-US" sz="1800" dirty="0"/>
          </a:p>
        </p:txBody>
      </p:sp>
      <p:sp>
        <p:nvSpPr>
          <p:cNvPr id="29" name="Text 22"/>
          <p:cNvSpPr txBox="1"/>
          <p:nvPr/>
        </p:nvSpPr>
        <p:spPr>
          <a:xfrm>
            <a:off x="548640" y="5532120"/>
            <a:ext cx="11064240" cy="411480"/>
          </a:xfrm>
          <a:prstGeom prst="rect">
            <a:avLst/>
          </a:prstGeom>
          <a:noFill/>
          <a:ln/>
        </p:spPr>
        <p:txBody>
          <a:bodyPr wrap="square" lIns="0" tIns="0" rIns="0" bIns="0" rtlCol="0" anchor="ctr"/>
          <a:lstStyle/>
          <a:p>
            <a:pPr algn="ctr" indent="0" marL="0">
              <a:buNone/>
            </a:pPr>
            <a:r>
              <a:rPr lang="en-US" sz="1800" b="1" dirty="0">
                <a:solidFill>
                  <a:schemeClr val="accent1"/>
                </a:solidFill>
              </a:rPr>
              <a:t>Essai gratuit de 30 jours, accompagnement à l’import compris.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Des données fiables, des données protégées</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Les meilleures sources publiques sur la Tunisie, et vos données séparées de celles des autres</a:t>
            </a:r>
            <a:endParaRPr lang="en-US" sz="1600" dirty="0"/>
          </a:p>
        </p:txBody>
      </p:sp>
      <p:sp>
        <p:nvSpPr>
          <p:cNvPr id="4" name="Carte"/>
          <p:cNvSpPr/>
          <p:nvPr/>
        </p:nvSpPr>
        <p:spPr>
          <a:xfrm>
            <a:off x="548640" y="1783080"/>
            <a:ext cx="5440680" cy="4343400"/>
          </a:xfrm>
          <a:prstGeom prst="roundRect">
            <a:avLst>
              <a:gd name="adj" fmla="val 294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5" name="Text 3"/>
          <p:cNvSpPr txBox="1"/>
          <p:nvPr/>
        </p:nvSpPr>
        <p:spPr>
          <a:xfrm>
            <a:off x="868680" y="2057400"/>
            <a:ext cx="4846320" cy="457200"/>
          </a:xfrm>
          <a:prstGeom prst="rect">
            <a:avLst/>
          </a:prstGeom>
          <a:noFill/>
          <a:ln/>
        </p:spPr>
        <p:txBody>
          <a:bodyPr wrap="square" lIns="0" tIns="0" rIns="0" bIns="0" rtlCol="0" anchor="ctr"/>
          <a:lstStyle/>
          <a:p>
            <a:pPr indent="0" marL="0">
              <a:buNone/>
            </a:pPr>
            <a:r>
              <a:rPr lang="en-US" sz="2000" b="1" dirty="0">
                <a:solidFill>
                  <a:schemeClr val="tx1"/>
                </a:solidFill>
              </a:rPr>
              <a:t>Sources intégrées</a:t>
            </a:r>
            <a:endParaRPr lang="en-US" sz="2000" dirty="0"/>
          </a:p>
        </p:txBody>
      </p:sp>
      <p:sp>
        <p:nvSpPr>
          <p:cNvPr id="6" name="Sources"/>
          <p:cNvSpPr txBox="1"/>
          <p:nvPr/>
        </p:nvSpPr>
        <p:spPr>
          <a:xfrm>
            <a:off x="868680" y="2651760"/>
            <a:ext cx="4846320" cy="3291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INS, Recensement général 2024</a:t>
            </a:r>
            <a:endParaRPr lang="en-US" sz="1600" dirty="0"/>
          </a:p>
          <a:p>
            <a:pPr indent="0" marL="0">
              <a:spcAft>
                <a:spcPts val="400"/>
              </a:spcAft>
              <a:buNone/>
            </a:pPr>
            <a:r>
              <a:rPr lang="en-US" sz="1600" dirty="0">
                <a:solidFill>
                  <a:srgbClr val="64748B"/>
                </a:solidFill>
              </a:rPr>
              <a:t>Population et ménages par délégation</a:t>
            </a:r>
            <a:endParaRPr lang="en-US" sz="1600" dirty="0"/>
          </a:p>
          <a:p>
            <a:pPr indent="0" marL="0">
              <a:spcAft>
                <a:spcPts val="400"/>
              </a:spcAft>
              <a:buNone/>
            </a:pPr>
            <a:r>
              <a:rPr lang="en-US" sz="1600" b="1" dirty="0">
                <a:solidFill>
                  <a:schemeClr val="tx1"/>
                </a:solidFill>
              </a:rPr>
              <a:t>Meta et CIESIN, grille de population 250 m</a:t>
            </a:r>
            <a:endParaRPr lang="en-US" sz="1600" dirty="0"/>
          </a:p>
          <a:p>
            <a:pPr indent="0" marL="0">
              <a:spcAft>
                <a:spcPts val="400"/>
              </a:spcAft>
              <a:buNone/>
            </a:pPr>
            <a:r>
              <a:rPr lang="en-US" sz="1600" dirty="0">
                <a:solidFill>
                  <a:srgbClr val="64748B"/>
                </a:solidFill>
              </a:rPr>
              <a:t>Où vivent précisément les habitants</a:t>
            </a:r>
            <a:endParaRPr lang="en-US" sz="1600" dirty="0"/>
          </a:p>
          <a:p>
            <a:pPr indent="0" marL="0">
              <a:spcAft>
                <a:spcPts val="400"/>
              </a:spcAft>
              <a:buNone/>
            </a:pPr>
            <a:r>
              <a:rPr lang="en-US" sz="1600" b="1" dirty="0">
                <a:solidFill>
                  <a:schemeClr val="tx1"/>
                </a:solidFill>
              </a:rPr>
              <a:t>INS et Banque mondiale, carte de la pauvreté</a:t>
            </a:r>
            <a:endParaRPr lang="en-US" sz="1600" dirty="0"/>
          </a:p>
          <a:p>
            <a:pPr indent="0" marL="0">
              <a:spcAft>
                <a:spcPts val="400"/>
              </a:spcAft>
              <a:buNone/>
            </a:pPr>
            <a:r>
              <a:rPr lang="en-US" sz="1600" dirty="0">
                <a:solidFill>
                  <a:srgbClr val="64748B"/>
                </a:solidFill>
              </a:rPr>
              <a:t>Pouvoir d’achat de chaque délégation</a:t>
            </a:r>
            <a:endParaRPr lang="en-US" sz="1600" dirty="0"/>
          </a:p>
          <a:p>
            <a:pPr indent="0" marL="0">
              <a:spcAft>
                <a:spcPts val="400"/>
              </a:spcAft>
              <a:buNone/>
            </a:pPr>
            <a:r>
              <a:rPr lang="en-US" sz="1600" b="1" dirty="0">
                <a:solidFill>
                  <a:schemeClr val="tx1"/>
                </a:solidFill>
              </a:rPr>
              <a:t>Overture Maps et OpenStreetMap</a:t>
            </a:r>
            <a:endParaRPr lang="en-US" sz="1600" dirty="0"/>
          </a:p>
          <a:p>
            <a:pPr indent="0" marL="0">
              <a:spcAft>
                <a:spcPts val="400"/>
              </a:spcAft>
              <a:buNone/>
            </a:pPr>
            <a:r>
              <a:rPr lang="en-US" sz="1600" dirty="0">
                <a:solidFill>
                  <a:srgbClr val="64748B"/>
                </a:solidFill>
              </a:rPr>
              <a:t>Routes, grandes surfaces, générateurs de trafic</a:t>
            </a:r>
            <a:endParaRPr lang="en-US" sz="1600" dirty="0"/>
          </a:p>
        </p:txBody>
      </p:sp>
      <p:sp>
        <p:nvSpPr>
          <p:cNvPr id="7" name="Pastille"/>
          <p:cNvSpPr/>
          <p:nvPr/>
        </p:nvSpPr>
        <p:spPr>
          <a:xfrm>
            <a:off x="6355080" y="1874520"/>
            <a:ext cx="457200" cy="457200"/>
          </a:xfrm>
          <a:prstGeom prst="roundRect">
            <a:avLst>
              <a:gd name="adj" fmla="val 24000"/>
            </a:avLst>
          </a:prstGeom>
          <a:solidFill>
            <a:srgbClr val="EEF0FF"/>
          </a:solidFill>
          <a:ln/>
        </p:spPr>
      </p:sp>
      <p:pic>
        <p:nvPicPr>
          <p:cNvPr id="8" name="Icône" descr="preencoded.png">    </p:cNvPr>
          <p:cNvPicPr>
            <a:picLocks noChangeAspect="1"/>
          </p:cNvPicPr>
          <p:nvPr/>
        </p:nvPicPr>
        <p:blipFill>
          <a:blip r:embed="rId1"/>
          <a:stretch>
            <a:fillRect/>
          </a:stretch>
        </p:blipFill>
        <p:spPr>
          <a:xfrm>
            <a:off x="6455664" y="1975104"/>
            <a:ext cx="256032" cy="256032"/>
          </a:xfrm>
          <a:prstGeom prst="rect">
            <a:avLst/>
          </a:prstGeom>
        </p:spPr>
      </p:pic>
      <p:sp>
        <p:nvSpPr>
          <p:cNvPr id="9" name="Texte Chaque société dans son espace"/>
          <p:cNvSpPr txBox="1"/>
          <p:nvPr/>
        </p:nvSpPr>
        <p:spPr>
          <a:xfrm>
            <a:off x="6976872" y="1837944"/>
            <a:ext cx="463600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Chaque société dans son espace</a:t>
            </a:r>
            <a:endParaRPr lang="en-US" sz="1600" dirty="0"/>
          </a:p>
          <a:p>
            <a:pPr indent="0" marL="0">
              <a:spcAft>
                <a:spcPts val="200"/>
              </a:spcAft>
              <a:buNone/>
            </a:pPr>
            <a:r>
              <a:rPr lang="en-US" sz="1400" dirty="0">
                <a:solidFill>
                  <a:srgbClr val="64748B"/>
                </a:solidFill>
              </a:rPr>
              <a:t>Vos points, ventes et visites ne sont visibles que par votre équipe.</a:t>
            </a:r>
            <a:endParaRPr lang="en-US" sz="1600" dirty="0"/>
          </a:p>
        </p:txBody>
      </p:sp>
      <p:sp>
        <p:nvSpPr>
          <p:cNvPr id="10" name="Pastille"/>
          <p:cNvSpPr/>
          <p:nvPr/>
        </p:nvSpPr>
        <p:spPr>
          <a:xfrm>
            <a:off x="6355080" y="2971800"/>
            <a:ext cx="457200" cy="457200"/>
          </a:xfrm>
          <a:prstGeom prst="roundRect">
            <a:avLst>
              <a:gd name="adj" fmla="val 24000"/>
            </a:avLst>
          </a:prstGeom>
          <a:solidFill>
            <a:srgbClr val="EEF0FF"/>
          </a:solidFill>
          <a:ln/>
        </p:spPr>
      </p:sp>
      <p:pic>
        <p:nvPicPr>
          <p:cNvPr id="11" name="Icône" descr="preencoded.png">    </p:cNvPr>
          <p:cNvPicPr>
            <a:picLocks noChangeAspect="1"/>
          </p:cNvPicPr>
          <p:nvPr/>
        </p:nvPicPr>
        <p:blipFill>
          <a:blip r:embed="rId2"/>
          <a:stretch>
            <a:fillRect/>
          </a:stretch>
        </p:blipFill>
        <p:spPr>
          <a:xfrm>
            <a:off x="6455664" y="3072384"/>
            <a:ext cx="256032" cy="256032"/>
          </a:xfrm>
          <a:prstGeom prst="rect">
            <a:avLst/>
          </a:prstGeom>
        </p:spPr>
      </p:pic>
      <p:sp>
        <p:nvSpPr>
          <p:cNvPr id="12" name="Texte Droits par rôle"/>
          <p:cNvSpPr txBox="1"/>
          <p:nvPr/>
        </p:nvSpPr>
        <p:spPr>
          <a:xfrm>
            <a:off x="6976872" y="2935224"/>
            <a:ext cx="463600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Droits par rôle</a:t>
            </a:r>
            <a:endParaRPr lang="en-US" sz="1600" dirty="0"/>
          </a:p>
          <a:p>
            <a:pPr indent="0" marL="0">
              <a:spcAft>
                <a:spcPts val="200"/>
              </a:spcAft>
              <a:buNone/>
            </a:pPr>
            <a:r>
              <a:rPr lang="en-US" sz="1400" dirty="0">
                <a:solidFill>
                  <a:srgbClr val="64748B"/>
                </a:solidFill>
              </a:rPr>
              <a:t>Contrôlés côté serveur : un commercial ne peut pas valider ni supprimer.</a:t>
            </a:r>
            <a:endParaRPr lang="en-US" sz="1600" dirty="0"/>
          </a:p>
        </p:txBody>
      </p:sp>
      <p:sp>
        <p:nvSpPr>
          <p:cNvPr id="13" name="Pastille"/>
          <p:cNvSpPr/>
          <p:nvPr/>
        </p:nvSpPr>
        <p:spPr>
          <a:xfrm>
            <a:off x="6355080" y="4069080"/>
            <a:ext cx="457200" cy="457200"/>
          </a:xfrm>
          <a:prstGeom prst="roundRect">
            <a:avLst>
              <a:gd name="adj" fmla="val 24000"/>
            </a:avLst>
          </a:prstGeom>
          <a:solidFill>
            <a:srgbClr val="EEF0FF"/>
          </a:solidFill>
          <a:ln/>
        </p:spPr>
      </p:sp>
      <p:pic>
        <p:nvPicPr>
          <p:cNvPr id="14" name="Icône" descr="preencoded.png">    </p:cNvPr>
          <p:cNvPicPr>
            <a:picLocks noChangeAspect="1"/>
          </p:cNvPicPr>
          <p:nvPr/>
        </p:nvPicPr>
        <p:blipFill>
          <a:blip r:embed="rId3"/>
          <a:stretch>
            <a:fillRect/>
          </a:stretch>
        </p:blipFill>
        <p:spPr>
          <a:xfrm>
            <a:off x="6455664" y="4169664"/>
            <a:ext cx="256032" cy="256032"/>
          </a:xfrm>
          <a:prstGeom prst="rect">
            <a:avLst/>
          </a:prstGeom>
        </p:spPr>
      </p:pic>
      <p:sp>
        <p:nvSpPr>
          <p:cNvPr id="15" name="Texte Traçabilité"/>
          <p:cNvSpPr txBox="1"/>
          <p:nvPr/>
        </p:nvSpPr>
        <p:spPr>
          <a:xfrm>
            <a:off x="6976872" y="4032504"/>
            <a:ext cx="463600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Traçabilité</a:t>
            </a:r>
            <a:endParaRPr lang="en-US" sz="1600" dirty="0"/>
          </a:p>
          <a:p>
            <a:pPr indent="0" marL="0">
              <a:spcAft>
                <a:spcPts val="200"/>
              </a:spcAft>
              <a:buNone/>
            </a:pPr>
            <a:r>
              <a:rPr lang="en-US" sz="1400" dirty="0">
                <a:solidFill>
                  <a:srgbClr val="64748B"/>
                </a:solidFill>
              </a:rPr>
              <a:t>Journal complet des modifications, non modifiable.</a:t>
            </a:r>
            <a:endParaRPr lang="en-US" sz="1600" dirty="0"/>
          </a:p>
        </p:txBody>
      </p:sp>
      <p:sp>
        <p:nvSpPr>
          <p:cNvPr id="16" name="Pastille"/>
          <p:cNvSpPr/>
          <p:nvPr/>
        </p:nvSpPr>
        <p:spPr>
          <a:xfrm>
            <a:off x="6355080" y="5166360"/>
            <a:ext cx="457200" cy="457200"/>
          </a:xfrm>
          <a:prstGeom prst="roundRect">
            <a:avLst>
              <a:gd name="adj" fmla="val 24000"/>
            </a:avLst>
          </a:prstGeom>
          <a:solidFill>
            <a:srgbClr val="EEF0FF"/>
          </a:solidFill>
          <a:ln/>
        </p:spPr>
      </p:sp>
      <p:pic>
        <p:nvPicPr>
          <p:cNvPr id="17" name="Icône" descr="preencoded.png">    </p:cNvPr>
          <p:cNvPicPr>
            <a:picLocks noChangeAspect="1"/>
          </p:cNvPicPr>
          <p:nvPr/>
        </p:nvPicPr>
        <p:blipFill>
          <a:blip r:embed="rId4"/>
          <a:stretch>
            <a:fillRect/>
          </a:stretch>
        </p:blipFill>
        <p:spPr>
          <a:xfrm>
            <a:off x="6455664" y="5266944"/>
            <a:ext cx="256032" cy="256032"/>
          </a:xfrm>
          <a:prstGeom prst="rect">
            <a:avLst/>
          </a:prstGeom>
        </p:spPr>
      </p:pic>
      <p:sp>
        <p:nvSpPr>
          <p:cNvPr id="18" name="Texte Estimations vérifiées"/>
          <p:cNvSpPr txBox="1"/>
          <p:nvPr/>
        </p:nvSpPr>
        <p:spPr>
          <a:xfrm>
            <a:off x="6976872" y="5129784"/>
            <a:ext cx="4636008" cy="7772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Estimations vérifiées</a:t>
            </a:r>
            <a:endParaRPr lang="en-US" sz="1600" dirty="0"/>
          </a:p>
          <a:p>
            <a:pPr indent="0" marL="0">
              <a:spcAft>
                <a:spcPts val="200"/>
              </a:spcAft>
              <a:buNone/>
            </a:pPr>
            <a:r>
              <a:rPr lang="en-US" sz="1400" dirty="0">
                <a:solidFill>
                  <a:srgbClr val="64748B"/>
                </a:solidFill>
              </a:rPr>
              <a:t>Chaque modèle est testé sur vos ventes ; l’erreur est affichée à l’écran.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Des formules simples, sans engagement long</a:t>
            </a:r>
            <a:endParaRPr lang="en-US" sz="3400" dirty="0"/>
          </a:p>
        </p:txBody>
      </p:sp>
      <p:sp>
        <p:nvSpPr>
          <p:cNvPr id="3" name="Text 1"/>
          <p:cNvSpPr/>
          <p:nvPr>
            <p:ph idx="102" type="body" hasCustomPrompt="1"/>
          </p:nvPr>
        </p:nvSpPr>
        <p:spPr>
          <a:xfrm>
            <a:off x="548640" y="1051560"/>
            <a:ext cx="11064240" cy="411480"/>
          </a:xfrm>
          <a:prstGeom prst="rect">
            <a:avLst/>
          </a:prstGeom>
          <a:noFill/>
          <a:ln/>
        </p:spPr>
        <p:txBody>
          <a:bodyPr wrap="square" lIns="0" tIns="0" rIns="0" bIns="0" rtlCol="0" anchor="t"/>
          <a:lstStyle/>
          <a:p>
            <a:pPr indent="0" marL="0">
              <a:buNone/>
            </a:pPr>
            <a:r>
              <a:rPr lang="en-US" sz="1600" dirty="0">
                <a:solidFill>
                  <a:srgbClr val="64748B"/>
                </a:solidFill>
              </a:rPr>
              <a:t>Paiement par virement, mensuel ou annuel avec 2 mois offerts</a:t>
            </a:r>
            <a:endParaRPr lang="en-US" sz="1600" dirty="0"/>
          </a:p>
        </p:txBody>
      </p:sp>
      <p:sp>
        <p:nvSpPr>
          <p:cNvPr id="4" name="Formule Essentiel"/>
          <p:cNvSpPr/>
          <p:nvPr/>
        </p:nvSpPr>
        <p:spPr>
          <a:xfrm>
            <a:off x="548640" y="1691640"/>
            <a:ext cx="2651760" cy="3611880"/>
          </a:xfrm>
          <a:prstGeom prst="roundRect">
            <a:avLst>
              <a:gd name="adj" fmla="val 551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5" name="Text 3"/>
          <p:cNvSpPr txBox="1"/>
          <p:nvPr/>
        </p:nvSpPr>
        <p:spPr>
          <a:xfrm>
            <a:off x="822960" y="1920240"/>
            <a:ext cx="2103120" cy="411480"/>
          </a:xfrm>
          <a:prstGeom prst="rect">
            <a:avLst/>
          </a:prstGeom>
          <a:noFill/>
          <a:ln/>
        </p:spPr>
        <p:txBody>
          <a:bodyPr wrap="square" lIns="0" tIns="0" rIns="0" bIns="0" rtlCol="0" anchor="ctr"/>
          <a:lstStyle/>
          <a:p>
            <a:pPr indent="0" marL="0">
              <a:buNone/>
            </a:pPr>
            <a:r>
              <a:rPr lang="en-US" sz="2000" b="1" dirty="0">
                <a:solidFill>
                  <a:schemeClr val="tx1"/>
                </a:solidFill>
              </a:rPr>
              <a:t>Essentiel</a:t>
            </a:r>
            <a:endParaRPr lang="en-US" sz="2000" dirty="0"/>
          </a:p>
        </p:txBody>
      </p:sp>
      <p:sp>
        <p:nvSpPr>
          <p:cNvPr id="6" name="Prix Essentiel"/>
          <p:cNvSpPr txBox="1"/>
          <p:nvPr/>
        </p:nvSpPr>
        <p:spPr>
          <a:xfrm>
            <a:off x="822960" y="2377440"/>
            <a:ext cx="2103120" cy="960120"/>
          </a:xfrm>
          <a:prstGeom prst="rect">
            <a:avLst/>
          </a:prstGeom>
          <a:noFill/>
          <a:ln/>
        </p:spPr>
        <p:txBody>
          <a:bodyPr wrap="square" lIns="0" tIns="0" rIns="0" bIns="0" rtlCol="0" anchor="t"/>
          <a:lstStyle/>
          <a:p>
            <a:pPr indent="0" marL="0">
              <a:buNone/>
            </a:pPr>
            <a:r>
              <a:rPr lang="en-US" sz="3600" b="1" dirty="0">
                <a:solidFill>
                  <a:schemeClr val="accent1"/>
                </a:solidFill>
              </a:rPr>
              <a:t>390</a:t>
            </a:r>
            <a:endParaRPr lang="en-US" sz="3600" dirty="0"/>
          </a:p>
          <a:p>
            <a:pPr indent="0" marL="0">
              <a:buNone/>
            </a:pPr>
            <a:r>
              <a:rPr lang="en-US" sz="1200" dirty="0">
                <a:solidFill>
                  <a:srgbClr val="64748B"/>
                </a:solidFill>
              </a:rPr>
              <a:t>TND HT / mois</a:t>
            </a:r>
            <a:endParaRPr lang="en-US" sz="3600" dirty="0"/>
          </a:p>
        </p:txBody>
      </p:sp>
      <p:sp>
        <p:nvSpPr>
          <p:cNvPr id="7" name="Inclus Essentiel"/>
          <p:cNvSpPr txBox="1"/>
          <p:nvPr/>
        </p:nvSpPr>
        <p:spPr>
          <a:xfrm>
            <a:off x="822960" y="3474720"/>
            <a:ext cx="2194560" cy="2286000"/>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1"/>
                </a:solidFill>
              </a:rPr>
              <a:t>Jusqu’à 50 points</a:t>
            </a:r>
            <a:endParaRPr lang="en-US" sz="1300" dirty="0"/>
          </a:p>
          <a:p>
            <a:pPr marL="342900" indent="-342900">
              <a:spcAft>
                <a:spcPts val="500"/>
              </a:spcAft>
              <a:buSzPct val="100000"/>
              <a:buChar char="•"/>
            </a:pPr>
            <a:r>
              <a:rPr lang="en-US" sz="1300" b="1" dirty="0">
                <a:solidFill>
                  <a:schemeClr val="tx1"/>
                </a:solidFill>
              </a:rPr>
              <a:t>2 comptes bureau</a:t>
            </a:r>
            <a:endParaRPr lang="en-US" sz="1300" dirty="0"/>
          </a:p>
          <a:p>
            <a:pPr marL="342900" indent="-342900">
              <a:spcAft>
                <a:spcPts val="500"/>
              </a:spcAft>
              <a:buSzPct val="100000"/>
              <a:buChar char="•"/>
            </a:pPr>
            <a:r>
              <a:rPr lang="en-US" sz="1300" b="1" dirty="0">
                <a:solidFill>
                  <a:schemeClr val="tx1"/>
                </a:solidFill>
              </a:rPr>
              <a:t>5 commerciaux</a:t>
            </a:r>
            <a:endParaRPr lang="en-US" sz="1300" dirty="0"/>
          </a:p>
          <a:p>
            <a:pPr marL="342900" indent="-342900">
              <a:spcAft>
                <a:spcPts val="500"/>
              </a:spcAft>
              <a:buSzPct val="100000"/>
              <a:buChar char="•"/>
            </a:pPr>
            <a:r>
              <a:rPr lang="en-US" sz="1300" dirty="0">
                <a:solidFill>
                  <a:schemeClr val="tx1"/>
                </a:solidFill>
              </a:rPr>
              <a:t>Carte, visites, démographie</a:t>
            </a:r>
            <a:endParaRPr lang="en-US" sz="1300" dirty="0"/>
          </a:p>
          <a:p>
            <a:pPr marL="342900" indent="-342900">
              <a:spcAft>
                <a:spcPts val="500"/>
              </a:spcAft>
              <a:buSzPct val="100000"/>
              <a:buChar char="•"/>
            </a:pPr>
            <a:r>
              <a:rPr lang="en-US" sz="1300" dirty="0">
                <a:solidFill>
                  <a:schemeClr val="tx1"/>
                </a:solidFill>
              </a:rPr>
              <a:t>Import des ventes</a:t>
            </a:r>
            <a:endParaRPr lang="en-US" sz="1300" dirty="0"/>
          </a:p>
        </p:txBody>
      </p:sp>
      <p:sp>
        <p:nvSpPr>
          <p:cNvPr id="8" name="Formule Pro"/>
          <p:cNvSpPr/>
          <p:nvPr/>
        </p:nvSpPr>
        <p:spPr>
          <a:xfrm>
            <a:off x="3353105" y="1691640"/>
            <a:ext cx="2651760" cy="3611880"/>
          </a:xfrm>
          <a:prstGeom prst="roundRect">
            <a:avLst>
              <a:gd name="adj" fmla="val 551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9" name="Text 7"/>
          <p:cNvSpPr txBox="1"/>
          <p:nvPr/>
        </p:nvSpPr>
        <p:spPr>
          <a:xfrm>
            <a:off x="3627425" y="1920240"/>
            <a:ext cx="2103120" cy="411480"/>
          </a:xfrm>
          <a:prstGeom prst="rect">
            <a:avLst/>
          </a:prstGeom>
          <a:noFill/>
          <a:ln/>
        </p:spPr>
        <p:txBody>
          <a:bodyPr wrap="square" lIns="0" tIns="0" rIns="0" bIns="0" rtlCol="0" anchor="ctr"/>
          <a:lstStyle/>
          <a:p>
            <a:pPr indent="0" marL="0">
              <a:buNone/>
            </a:pPr>
            <a:r>
              <a:rPr lang="en-US" sz="2000" b="1" dirty="0">
                <a:solidFill>
                  <a:schemeClr val="tx1"/>
                </a:solidFill>
              </a:rPr>
              <a:t>Pro</a:t>
            </a:r>
            <a:endParaRPr lang="en-US" sz="2000" dirty="0"/>
          </a:p>
        </p:txBody>
      </p:sp>
      <p:sp>
        <p:nvSpPr>
          <p:cNvPr id="10" name="Prix Pro"/>
          <p:cNvSpPr txBox="1"/>
          <p:nvPr/>
        </p:nvSpPr>
        <p:spPr>
          <a:xfrm>
            <a:off x="3627425" y="2377440"/>
            <a:ext cx="2103120" cy="960120"/>
          </a:xfrm>
          <a:prstGeom prst="rect">
            <a:avLst/>
          </a:prstGeom>
          <a:noFill/>
          <a:ln/>
        </p:spPr>
        <p:txBody>
          <a:bodyPr wrap="square" lIns="0" tIns="0" rIns="0" bIns="0" rtlCol="0" anchor="t"/>
          <a:lstStyle/>
          <a:p>
            <a:pPr indent="0" marL="0">
              <a:buNone/>
            </a:pPr>
            <a:r>
              <a:rPr lang="en-US" sz="3600" b="1" dirty="0">
                <a:solidFill>
                  <a:schemeClr val="accent1"/>
                </a:solidFill>
              </a:rPr>
              <a:t>790</a:t>
            </a:r>
            <a:endParaRPr lang="en-US" sz="3600" dirty="0"/>
          </a:p>
          <a:p>
            <a:pPr indent="0" marL="0">
              <a:buNone/>
            </a:pPr>
            <a:r>
              <a:rPr lang="en-US" sz="1200" dirty="0">
                <a:solidFill>
                  <a:srgbClr val="64748B"/>
                </a:solidFill>
              </a:rPr>
              <a:t>TND HT / mois</a:t>
            </a:r>
            <a:endParaRPr lang="en-US" sz="3600" dirty="0"/>
          </a:p>
        </p:txBody>
      </p:sp>
      <p:sp>
        <p:nvSpPr>
          <p:cNvPr id="11" name="Inclus Pro"/>
          <p:cNvSpPr txBox="1"/>
          <p:nvPr/>
        </p:nvSpPr>
        <p:spPr>
          <a:xfrm>
            <a:off x="3627425" y="3474720"/>
            <a:ext cx="2194560" cy="2286000"/>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1"/>
                </a:solidFill>
              </a:rPr>
              <a:t>Jusqu’à 150 points</a:t>
            </a:r>
            <a:endParaRPr lang="en-US" sz="1300" dirty="0"/>
          </a:p>
          <a:p>
            <a:pPr marL="342900" indent="-342900">
              <a:spcAft>
                <a:spcPts val="500"/>
              </a:spcAft>
              <a:buSzPct val="100000"/>
              <a:buChar char="•"/>
            </a:pPr>
            <a:r>
              <a:rPr lang="en-US" sz="1300" b="1" dirty="0">
                <a:solidFill>
                  <a:schemeClr val="tx1"/>
                </a:solidFill>
              </a:rPr>
              <a:t>5 comptes bureau</a:t>
            </a:r>
            <a:endParaRPr lang="en-US" sz="1300" dirty="0"/>
          </a:p>
          <a:p>
            <a:pPr marL="342900" indent="-342900">
              <a:spcAft>
                <a:spcPts val="500"/>
              </a:spcAft>
              <a:buSzPct val="100000"/>
              <a:buChar char="•"/>
            </a:pPr>
            <a:r>
              <a:rPr lang="en-US" sz="1300" b="1" dirty="0">
                <a:solidFill>
                  <a:schemeClr val="tx1"/>
                </a:solidFill>
              </a:rPr>
              <a:t>15 commerciaux</a:t>
            </a:r>
            <a:endParaRPr lang="en-US" sz="1300" dirty="0"/>
          </a:p>
          <a:p>
            <a:pPr marL="342900" indent="-342900">
              <a:spcAft>
                <a:spcPts val="500"/>
              </a:spcAft>
              <a:buSzPct val="100000"/>
              <a:buChar char="•"/>
            </a:pPr>
            <a:r>
              <a:rPr lang="en-US" sz="1300" dirty="0">
                <a:solidFill>
                  <a:schemeClr val="tx1"/>
                </a:solidFill>
              </a:rPr>
              <a:t>Tout Essentiel</a:t>
            </a:r>
            <a:endParaRPr lang="en-US" sz="1300" dirty="0"/>
          </a:p>
          <a:p>
            <a:pPr marL="342900" indent="-342900">
              <a:spcAft>
                <a:spcPts val="500"/>
              </a:spcAft>
              <a:buSzPct val="100000"/>
              <a:buChar char="•"/>
            </a:pPr>
            <a:r>
              <a:rPr lang="en-US" sz="1300" dirty="0">
                <a:solidFill>
                  <a:schemeClr val="tx1"/>
                </a:solidFill>
              </a:rPr>
              <a:t>Simulateur, comparateur et rapport PDF</a:t>
            </a:r>
            <a:endParaRPr lang="en-US" sz="1300" dirty="0"/>
          </a:p>
        </p:txBody>
      </p:sp>
      <p:sp>
        <p:nvSpPr>
          <p:cNvPr id="12" name="Formule Business"/>
          <p:cNvSpPr/>
          <p:nvPr/>
        </p:nvSpPr>
        <p:spPr>
          <a:xfrm>
            <a:off x="6157570" y="1691640"/>
            <a:ext cx="2651760" cy="3611880"/>
          </a:xfrm>
          <a:prstGeom prst="roundRect">
            <a:avLst>
              <a:gd name="adj" fmla="val 5517"/>
            </a:avLst>
          </a:prstGeom>
          <a:solidFill>
            <a:schemeClr val="tx2"/>
          </a:solidFill>
          <a:ln w="19050">
            <a:solidFill>
              <a:srgbClr val="4F46E5"/>
            </a:solidFill>
            <a:prstDash val="solid"/>
          </a:ln>
          <a:effectLst>
            <a:outerShdw sx="100000" sy="100000" kx="0" ky="0" algn="bl" rotWithShape="0" blurRad="177800" dist="38100" dir="5400000">
              <a:srgbClr val="1E1B4B">
                <a:alpha val="16000"/>
              </a:srgbClr>
            </a:outerShdw>
          </a:effectLst>
        </p:spPr>
      </p:sp>
      <p:sp>
        <p:nvSpPr>
          <p:cNvPr id="13" name="Text 11"/>
          <p:cNvSpPr txBox="1"/>
          <p:nvPr/>
        </p:nvSpPr>
        <p:spPr>
          <a:xfrm>
            <a:off x="6431890" y="1920240"/>
            <a:ext cx="2103120" cy="411480"/>
          </a:xfrm>
          <a:prstGeom prst="rect">
            <a:avLst/>
          </a:prstGeom>
          <a:noFill/>
          <a:ln/>
        </p:spPr>
        <p:txBody>
          <a:bodyPr wrap="square" lIns="0" tIns="0" rIns="0" bIns="0" rtlCol="0" anchor="ctr"/>
          <a:lstStyle/>
          <a:p>
            <a:pPr indent="0" marL="0">
              <a:buNone/>
            </a:pPr>
            <a:r>
              <a:rPr lang="en-US" sz="2000" b="1" dirty="0">
                <a:solidFill>
                  <a:schemeClr val="bg1"/>
                </a:solidFill>
              </a:rPr>
              <a:t>Business</a:t>
            </a:r>
            <a:endParaRPr lang="en-US" sz="2000" dirty="0"/>
          </a:p>
        </p:txBody>
      </p:sp>
      <p:sp>
        <p:nvSpPr>
          <p:cNvPr id="14" name="Prix Business"/>
          <p:cNvSpPr txBox="1"/>
          <p:nvPr/>
        </p:nvSpPr>
        <p:spPr>
          <a:xfrm>
            <a:off x="6431890" y="2377440"/>
            <a:ext cx="2103120" cy="960120"/>
          </a:xfrm>
          <a:prstGeom prst="rect">
            <a:avLst/>
          </a:prstGeom>
          <a:noFill/>
          <a:ln/>
        </p:spPr>
        <p:txBody>
          <a:bodyPr wrap="square" lIns="0" tIns="0" rIns="0" bIns="0" rtlCol="0" anchor="t"/>
          <a:lstStyle/>
          <a:p>
            <a:pPr indent="0" marL="0">
              <a:buNone/>
            </a:pPr>
            <a:r>
              <a:rPr lang="en-US" sz="3600" b="1" dirty="0">
                <a:solidFill>
                  <a:schemeClr val="bg1"/>
                </a:solidFill>
              </a:rPr>
              <a:t>1 290</a:t>
            </a:r>
            <a:endParaRPr lang="en-US" sz="3600" dirty="0"/>
          </a:p>
          <a:p>
            <a:pPr indent="0" marL="0">
              <a:buNone/>
            </a:pPr>
            <a:r>
              <a:rPr lang="en-US" sz="1200" dirty="0">
                <a:solidFill>
                  <a:srgbClr val="C7D2FE"/>
                </a:solidFill>
              </a:rPr>
              <a:t>TND HT / mois</a:t>
            </a:r>
            <a:endParaRPr lang="en-US" sz="3600" dirty="0"/>
          </a:p>
        </p:txBody>
      </p:sp>
      <p:sp>
        <p:nvSpPr>
          <p:cNvPr id="15" name="Inclus Business"/>
          <p:cNvSpPr txBox="1"/>
          <p:nvPr/>
        </p:nvSpPr>
        <p:spPr>
          <a:xfrm>
            <a:off x="6431890" y="3474720"/>
            <a:ext cx="2194560" cy="2286000"/>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bg1"/>
                </a:solidFill>
              </a:rPr>
              <a:t>Jusqu’à 400 points</a:t>
            </a:r>
            <a:endParaRPr lang="en-US" sz="1300" dirty="0"/>
          </a:p>
          <a:p>
            <a:pPr marL="342900" indent="-342900">
              <a:spcAft>
                <a:spcPts val="500"/>
              </a:spcAft>
              <a:buSzPct val="100000"/>
              <a:buChar char="•"/>
            </a:pPr>
            <a:r>
              <a:rPr lang="en-US" sz="1300" b="1" dirty="0">
                <a:solidFill>
                  <a:schemeClr val="bg1"/>
                </a:solidFill>
              </a:rPr>
              <a:t>10 comptes bureau</a:t>
            </a:r>
            <a:endParaRPr lang="en-US" sz="1300" dirty="0"/>
          </a:p>
          <a:p>
            <a:pPr marL="342900" indent="-342900">
              <a:spcAft>
                <a:spcPts val="500"/>
              </a:spcAft>
              <a:buSzPct val="100000"/>
              <a:buChar char="•"/>
            </a:pPr>
            <a:r>
              <a:rPr lang="en-US" sz="1300" b="1" dirty="0">
                <a:solidFill>
                  <a:schemeClr val="bg1"/>
                </a:solidFill>
              </a:rPr>
              <a:t>30 commerciaux</a:t>
            </a:r>
            <a:endParaRPr lang="en-US" sz="1300" dirty="0"/>
          </a:p>
          <a:p>
            <a:pPr marL="342900" indent="-342900">
              <a:spcAft>
                <a:spcPts val="500"/>
              </a:spcAft>
              <a:buSzPct val="100000"/>
              <a:buChar char="•"/>
            </a:pPr>
            <a:r>
              <a:rPr lang="en-US" sz="1300" dirty="0">
                <a:solidFill>
                  <a:schemeClr val="bg1"/>
                </a:solidFill>
              </a:rPr>
              <a:t>Tout Pro</a:t>
            </a:r>
            <a:endParaRPr lang="en-US" sz="1300" dirty="0"/>
          </a:p>
          <a:p>
            <a:pPr marL="342900" indent="-342900">
              <a:spcAft>
                <a:spcPts val="500"/>
              </a:spcAft>
              <a:buSzPct val="100000"/>
              <a:buChar char="•"/>
            </a:pPr>
            <a:r>
              <a:rPr lang="en-US" sz="1300" dirty="0">
                <a:solidFill>
                  <a:schemeClr val="bg1"/>
                </a:solidFill>
              </a:rPr>
              <a:t>Saisonnalité, couverture, zone de chalandise</a:t>
            </a:r>
            <a:endParaRPr lang="en-US" sz="1300" dirty="0"/>
          </a:p>
        </p:txBody>
      </p:sp>
      <p:sp>
        <p:nvSpPr>
          <p:cNvPr id="16" name="Formule Entreprise"/>
          <p:cNvSpPr/>
          <p:nvPr/>
        </p:nvSpPr>
        <p:spPr>
          <a:xfrm>
            <a:off x="8962034" y="1691640"/>
            <a:ext cx="2651760" cy="3611880"/>
          </a:xfrm>
          <a:prstGeom prst="roundRect">
            <a:avLst>
              <a:gd name="adj" fmla="val 5517"/>
            </a:avLst>
          </a:prstGeom>
          <a:solidFill>
            <a:schemeClr val="bg1"/>
          </a:solidFill>
          <a:ln w="9525">
            <a:solidFill>
              <a:srgbClr val="E7E9F0"/>
            </a:solidFill>
            <a:prstDash val="solid"/>
          </a:ln>
          <a:effectLst>
            <a:outerShdw sx="100000" sy="100000" kx="0" ky="0" algn="bl" rotWithShape="0" blurRad="177800" dist="38100" dir="5400000">
              <a:srgbClr val="1E1B4B">
                <a:alpha val="16000"/>
              </a:srgbClr>
            </a:outerShdw>
          </a:effectLst>
        </p:spPr>
      </p:sp>
      <p:sp>
        <p:nvSpPr>
          <p:cNvPr id="17" name="Text 15"/>
          <p:cNvSpPr txBox="1"/>
          <p:nvPr/>
        </p:nvSpPr>
        <p:spPr>
          <a:xfrm>
            <a:off x="9236354" y="1920240"/>
            <a:ext cx="2103120" cy="411480"/>
          </a:xfrm>
          <a:prstGeom prst="rect">
            <a:avLst/>
          </a:prstGeom>
          <a:noFill/>
          <a:ln/>
        </p:spPr>
        <p:txBody>
          <a:bodyPr wrap="square" lIns="0" tIns="0" rIns="0" bIns="0" rtlCol="0" anchor="ctr"/>
          <a:lstStyle/>
          <a:p>
            <a:pPr indent="0" marL="0">
              <a:buNone/>
            </a:pPr>
            <a:r>
              <a:rPr lang="en-US" sz="2000" b="1" dirty="0">
                <a:solidFill>
                  <a:schemeClr val="tx1"/>
                </a:solidFill>
              </a:rPr>
              <a:t>Entreprise</a:t>
            </a:r>
            <a:endParaRPr lang="en-US" sz="2000" dirty="0"/>
          </a:p>
        </p:txBody>
      </p:sp>
      <p:sp>
        <p:nvSpPr>
          <p:cNvPr id="18" name="Prix Entreprise"/>
          <p:cNvSpPr txBox="1"/>
          <p:nvPr/>
        </p:nvSpPr>
        <p:spPr>
          <a:xfrm>
            <a:off x="9236354" y="2377440"/>
            <a:ext cx="2103120" cy="960120"/>
          </a:xfrm>
          <a:prstGeom prst="rect">
            <a:avLst/>
          </a:prstGeom>
          <a:noFill/>
          <a:ln/>
        </p:spPr>
        <p:txBody>
          <a:bodyPr wrap="square" lIns="0" tIns="0" rIns="0" bIns="0" rtlCol="0" anchor="t"/>
          <a:lstStyle/>
          <a:p>
            <a:pPr indent="0" marL="0">
              <a:buNone/>
            </a:pPr>
            <a:r>
              <a:rPr lang="en-US" sz="3600" b="1" dirty="0">
                <a:solidFill>
                  <a:schemeClr val="accent1"/>
                </a:solidFill>
              </a:rPr>
              <a:t>1 900</a:t>
            </a:r>
            <a:endParaRPr lang="en-US" sz="3600" dirty="0"/>
          </a:p>
          <a:p>
            <a:pPr indent="0" marL="0">
              <a:buNone/>
            </a:pPr>
            <a:r>
              <a:rPr lang="en-US" sz="1200" dirty="0">
                <a:solidFill>
                  <a:srgbClr val="64748B"/>
                </a:solidFill>
              </a:rPr>
              <a:t>TND HT / mois</a:t>
            </a:r>
            <a:endParaRPr lang="en-US" sz="3600" dirty="0"/>
          </a:p>
        </p:txBody>
      </p:sp>
      <p:sp>
        <p:nvSpPr>
          <p:cNvPr id="19" name="Inclus Entreprise"/>
          <p:cNvSpPr txBox="1"/>
          <p:nvPr/>
        </p:nvSpPr>
        <p:spPr>
          <a:xfrm>
            <a:off x="9236354" y="3474720"/>
            <a:ext cx="2194560" cy="2286000"/>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1"/>
                </a:solidFill>
              </a:rPr>
              <a:t>Points illimités</a:t>
            </a:r>
            <a:endParaRPr lang="en-US" sz="1300" dirty="0"/>
          </a:p>
          <a:p>
            <a:pPr marL="342900" indent="-342900">
              <a:spcAft>
                <a:spcPts val="500"/>
              </a:spcAft>
              <a:buSzPct val="100000"/>
              <a:buChar char="•"/>
            </a:pPr>
            <a:r>
              <a:rPr lang="en-US" sz="1300" b="1" dirty="0">
                <a:solidFill>
                  <a:schemeClr val="tx1"/>
                </a:solidFill>
              </a:rPr>
              <a:t>Comptes bureau illimités</a:t>
            </a:r>
            <a:endParaRPr lang="en-US" sz="1300" dirty="0"/>
          </a:p>
          <a:p>
            <a:pPr marL="342900" indent="-342900">
              <a:spcAft>
                <a:spcPts val="500"/>
              </a:spcAft>
              <a:buSzPct val="100000"/>
              <a:buChar char="•"/>
            </a:pPr>
            <a:r>
              <a:rPr lang="en-US" sz="1300" b="1" dirty="0">
                <a:solidFill>
                  <a:schemeClr val="tx1"/>
                </a:solidFill>
              </a:rPr>
              <a:t>60 commerciaux</a:t>
            </a:r>
            <a:endParaRPr lang="en-US" sz="1300" dirty="0"/>
          </a:p>
          <a:p>
            <a:pPr marL="342900" indent="-342900">
              <a:spcAft>
                <a:spcPts val="500"/>
              </a:spcAft>
              <a:buSzPct val="100000"/>
              <a:buChar char="•"/>
            </a:pPr>
            <a:r>
              <a:rPr lang="en-US" sz="1300" dirty="0">
                <a:solidFill>
                  <a:schemeClr val="tx1"/>
                </a:solidFill>
              </a:rPr>
              <a:t>Tout Business</a:t>
            </a:r>
            <a:endParaRPr lang="en-US" sz="1300" dirty="0"/>
          </a:p>
          <a:p>
            <a:pPr marL="342900" indent="-342900">
              <a:spcAft>
                <a:spcPts val="500"/>
              </a:spcAft>
              <a:buSzPct val="100000"/>
              <a:buChar char="•"/>
            </a:pPr>
            <a:r>
              <a:rPr lang="en-US" sz="1300" dirty="0">
                <a:solidFill>
                  <a:schemeClr val="tx1"/>
                </a:solidFill>
              </a:rPr>
              <a:t>Import ERP, accompagnement, formation</a:t>
            </a:r>
            <a:endParaRPr lang="en-US" sz="1300" dirty="0"/>
          </a:p>
        </p:txBody>
      </p:sp>
      <p:sp>
        <p:nvSpPr>
          <p:cNvPr id="20" name="Text 18"/>
          <p:cNvSpPr txBox="1"/>
          <p:nvPr/>
        </p:nvSpPr>
        <p:spPr>
          <a:xfrm>
            <a:off x="548640" y="5577840"/>
            <a:ext cx="11064240" cy="320040"/>
          </a:xfrm>
          <a:prstGeom prst="rect">
            <a:avLst/>
          </a:prstGeom>
          <a:noFill/>
          <a:ln/>
        </p:spPr>
        <p:txBody>
          <a:bodyPr wrap="square" lIns="0" tIns="0" rIns="0" bIns="0" rtlCol="0" anchor="ctr"/>
          <a:lstStyle/>
          <a:p>
            <a:pPr algn="ctr" indent="0" marL="0">
              <a:buNone/>
            </a:pPr>
            <a:r>
              <a:rPr lang="en-US" sz="1400" dirty="0">
                <a:solidFill>
                  <a:srgbClr val="64748B"/>
                </a:solidFill>
              </a:rPr>
              <a:t>Comptes bureau : administrateur et managers. Commercial supplémentaire : 15 TND HT / mois. 30 jours d’essai gratuit.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Voyons votre réseau sur la carte</a:t>
            </a:r>
            <a:endParaRPr lang="en-US" sz="4400" dirty="0"/>
          </a:p>
        </p:txBody>
      </p:sp>
      <p:sp>
        <p:nvSpPr>
          <p:cNvPr id="3" name="Text 0"/>
          <p:cNvSpPr/>
          <p:nvPr>
            <p:ph idx="101" type="body" hasCustomPrompt="1"/>
          </p:nvPr>
        </p:nvSpPr>
        <p:spPr>
          <a:xfrm>
            <a:off x="822960" y="3291840"/>
            <a:ext cx="10515600" cy="822960"/>
          </a:xfrm>
          <a:prstGeom prst="rect">
            <a:avLst/>
          </a:prstGeom>
          <a:noFill/>
          <a:ln/>
        </p:spPr>
        <p:txBody>
          <a:bodyPr wrap="square" lIns="0" tIns="0" rIns="0" bIns="0" rtlCol="0" anchor="t"/>
          <a:lstStyle/>
          <a:p>
            <a:pPr indent="0" marL="0">
              <a:buNone/>
            </a:pPr>
            <a:r>
              <a:rPr lang="en-US" sz="2000" dirty="0">
                <a:solidFill>
                  <a:schemeClr val="bg2"/>
                </a:solidFill>
              </a:rPr>
              <a:t>Une démonstration de 30 minutes avec vos propres points suffit pour mesurer ce que GeoPulse vous apporte.</a:t>
            </a:r>
            <a:endParaRPr lang="en-US" sz="2000" dirty="0"/>
          </a:p>
        </p:txBody>
      </p:sp>
      <p:pic>
        <p:nvPicPr>
          <p:cNvPr id="4" name="Logo" descr="Logo">    </p:cNvPr>
          <p:cNvPicPr>
            <a:picLocks noChangeAspect="1"/>
          </p:cNvPicPr>
          <p:nvPr/>
        </p:nvPicPr>
        <p:blipFill>
          <a:blip r:embed="rId1"/>
          <a:stretch>
            <a:fillRect/>
          </a:stretch>
        </p:blipFill>
        <p:spPr>
          <a:xfrm>
            <a:off x="822960" y="1097280"/>
            <a:ext cx="457200" cy="457200"/>
          </a:xfrm>
          <a:prstGeom prst="rect">
            <a:avLst/>
          </a:prstGeom>
        </p:spPr>
      </p:pic>
      <p:sp>
        <p:nvSpPr>
          <p:cNvPr id="5" name="Text 2"/>
          <p:cNvSpPr txBox="1"/>
          <p:nvPr/>
        </p:nvSpPr>
        <p:spPr>
          <a:xfrm>
            <a:off x="1417320" y="1069848"/>
            <a:ext cx="3657600" cy="502920"/>
          </a:xfrm>
          <a:prstGeom prst="rect">
            <a:avLst/>
          </a:prstGeom>
          <a:noFill/>
          <a:ln/>
        </p:spPr>
        <p:txBody>
          <a:bodyPr wrap="square" lIns="0" tIns="0" rIns="0" bIns="0" rtlCol="0" anchor="ctr"/>
          <a:lstStyle/>
          <a:p>
            <a:pPr indent="0" marL="0">
              <a:buNone/>
            </a:pPr>
            <a:r>
              <a:rPr lang="en-US" sz="2600" b="1" dirty="0">
                <a:solidFill>
                  <a:schemeClr val="bg1"/>
                </a:solidFill>
              </a:rPr>
              <a:t>GeoPulse</a:t>
            </a:r>
            <a:endParaRPr lang="en-US" sz="2600" dirty="0"/>
          </a:p>
        </p:txBody>
      </p:sp>
      <p:sp>
        <p:nvSpPr>
          <p:cNvPr id="6" name="Contact"/>
          <p:cNvSpPr txBox="1"/>
          <p:nvPr/>
        </p:nvSpPr>
        <p:spPr>
          <a:xfrm>
            <a:off x="822960" y="4754880"/>
            <a:ext cx="7315200" cy="914400"/>
          </a:xfrm>
          <a:prstGeom prst="rect">
            <a:avLst/>
          </a:prstGeom>
          <a:noFill/>
          <a:ln/>
        </p:spPr>
        <p:txBody>
          <a:bodyPr wrap="square" lIns="0" tIns="0" rIns="0" bIns="0" rtlCol="0" anchor="t"/>
          <a:lstStyle/>
          <a:p>
            <a:pPr indent="0" marL="0">
              <a:buNone/>
            </a:pPr>
            <a:r>
              <a:rPr lang="en-US" sz="1800" b="1" dirty="0">
                <a:solidFill>
                  <a:schemeClr val="bg1"/>
                </a:solidFill>
              </a:rPr>
              <a:t>geopulse-omega-lovat.vercel.app</a:t>
            </a:r>
            <a:endParaRPr lang="en-US" sz="1800" dirty="0"/>
          </a:p>
          <a:p>
            <a:pPr indent="0" marL="0">
              <a:buNone/>
            </a:pPr>
            <a:r>
              <a:rPr lang="en-US" sz="1800" dirty="0">
                <a:solidFill>
                  <a:srgbClr val="C7D2FE"/>
                </a:solidFill>
              </a:rPr>
              <a:t>Sami BDIRA</a:t>
            </a:r>
            <a:endParaRPr lang="en-US" sz="1800" dirty="0"/>
          </a:p>
        </p:txBody>
      </p:sp>
    </p:spTree>
  </p:cSld>
  <p:clrMapOvr>
    <a:masterClrMapping/>
  </p:clrMapOvr>
</p:sld>
</file>

<file path=ppt/theme/theme1.xml><?xml version="1.0" encoding="utf-8"?>
<a:theme xmlns:a="http://schemas.openxmlformats.org/drawingml/2006/main" name="GeoPulse">
  <a:themeElements>
    <a:clrScheme name="GeoPulse">
      <a:dk1>
        <a:srgbClr val="0B1020"/>
      </a:dk1>
      <a:lt1>
        <a:srgbClr val="FFFFFF"/>
      </a:lt1>
      <a:dk2>
        <a:srgbClr val="1E1B4B"/>
      </a:dk2>
      <a:lt2>
        <a:srgbClr val="F6F7FB"/>
      </a:lt2>
      <a:accent1>
        <a:srgbClr val="4F46E5"/>
      </a:accent1>
      <a:accent2>
        <a:srgbClr val="7C3AED"/>
      </a:accent2>
      <a:accent3>
        <a:srgbClr val="059669"/>
      </a:accent3>
      <a:accent4>
        <a:srgbClr val="F97316"/>
      </a:accent4>
      <a:accent5>
        <a:srgbClr val="DC2626"/>
      </a:accent5>
      <a:accent6>
        <a:srgbClr val="0891B2"/>
      </a:accent6>
      <a:hlink>
        <a:srgbClr val="4F46E5"/>
      </a:hlink>
      <a:folHlink>
        <a:srgbClr val="7C3AED"/>
      </a:folHlink>
    </a:clrScheme>
    <a:fontScheme name="Geo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GeoPulse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GeoPulse : présentation</dc:title>
  <dc:subject>PptxGenJS Presentation</dc:subject>
  <dc:creator>Sami BDIRA</dc:creator>
  <cp:lastModifiedBy>Sami BDIRA</cp:lastModifiedBy>
  <cp:revision>1</cp:revision>
  <dcterms:created xsi:type="dcterms:W3CDTF">2026-10-24T16:42:53Z</dcterms:created>
  <dcterms:modified xsi:type="dcterms:W3CDTF">2026-10-24T16:42:53Z</dcterms:modified>
</cp:coreProperties>
</file>