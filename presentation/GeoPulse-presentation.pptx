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Lst>
  <p:notesMasterIdLst>
    <p:notesMasterId r:id="rId22"/>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Ouverture" id="{a898e8b3-4786-ac37-cfb7-9b5f95755234}">
          <p14:sldIdLst>
            <p14:sldId id="256"/>
            <p14:sldId id="257"/>
            <p14:sldId id="258"/>
            <p14:sldId id="259"/>
          </p14:sldIdLst>
        </p14:section>
        <p14:section name="Fonctionnalités" id="{7eb86de1-d360-3e15-98a9-7d9f7d6fc273}">
          <p14:sldIdLst>
            <p14:sldId id="260"/>
            <p14:sldId id="261"/>
            <p14:sldId id="262"/>
            <p14:sldId id="263"/>
            <p14:sldId id="264"/>
            <p14:sldId id="265"/>
            <p14:sldId id="266"/>
            <p14:sldId id="267"/>
            <p14:sldId id="268"/>
            <p14:sldId id="269"/>
            <p14:sldId id="270"/>
          </p14:sldIdLst>
        </p14:section>
        <p14:section name="Mise en route" id="{9a6d1647-2337-aaf4-8a17-de51e155fc9f}">
          <p14:sldIdLst>
            <p14:sldId id="271"/>
            <p14:sldId id="272"/>
            <p14:sldId id="273"/>
            <p14:sldId id="274"/>
          </p14:sldIdLst>
        </p14:section>
        <p14:section name="Conclusion" id="{a3474583-e0d6-42bf-24d4-6027da5bfa40}">
          <p14:sldIdLst>
            <p14:sldId id="275"/>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notesMaster" Target="notesMasters/notesMaster1.xml"/><Relationship Id="rId23" Type="http://schemas.openxmlformats.org/officeDocument/2006/relationships/presProps" Target="presProps.xml"/><Relationship Id="rId24" Type="http://schemas.openxmlformats.org/officeDocument/2006/relationships/viewProps" Target="viewProps.xml"/><Relationship Id="rId25" Type="http://schemas.openxmlformats.org/officeDocument/2006/relationships/theme" Target="theme/theme1.xml"/><Relationship Id="rId26"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Présenter GeoPulse en une phrase : une carte unique où se croisent le réseau du client, ses ventes, ses concurrents et la population de toute la Tunisie, pour décider où ouvrir, où vendre et où envoyer les commerciaux.</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Partir des questions du client avant de montrer l’outil. Demander laquelle le concerne le plus.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Insister : les données de population et de pouvoir d’achat sont déjà dans GeoPulse. Le client n’apporte que ses points et ses ventes.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Montrer en direct : un clic sur un quartier, le CA estimé apparaît avec sa fourchette. Expliquer que GeoPulse teste chaque méthode en cachant un à un les magasins du client : l’erreur affichée est mesurée sur ses propres ventes.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Pour un distributeur, c’est souvent la diapositive qui déclenche la vente : il voit d’un coup les quartiers où il n’est pas et ce qu’il y laisse.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Prix à confirmer avant diffusion : ce sont les prix proposés dans la console GeoPulse, modifiables à tout moment.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Couverture">
    <p:bg>
      <p:bgPr>
        <a:solidFill>
          <a:schemeClr val="tx1"/>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640080" y="1828800"/>
            <a:ext cx="5852160" cy="1737360"/>
          </a:xfrm>
          <a:prstGeom prst="rect">
            <a:avLst/>
          </a:prstGeom>
          <a:noFill/>
          <a:ln/>
        </p:spPr>
        <p:txBody>
          <a:bodyPr wrap="square" rtlCol="0"/>
          <a:lstStyle>
            <a:lvl1pPr algn="l" indent="0" marL="0">
              <a:buNone/>
              <a:defRPr lang="en-US" sz="4400" b="1" dirty="0">
                <a:solidFill>
                  <a:schemeClr val="bg1"/>
                </a:solidFill>
              </a:defRPr>
            </a:lvl1pPr>
          </a:lstStyle>
          <a:p>
            <a:pPr algn="l" indent="0" marL="0">
              <a:buNone/>
            </a:pPr>
            <a:endParaRPr lang="en-US" sz="4400" dirty="0"/>
          </a:p>
        </p:txBody>
      </p:sp>
      <p:sp>
        <p:nvSpPr>
          <p:cNvPr id="3" name="Text 0"/>
          <p:cNvSpPr/>
          <p:nvPr>
            <p:ph idx="101" type="body" hasCustomPrompt="1"/>
          </p:nvPr>
        </p:nvSpPr>
        <p:spPr>
          <a:xfrm>
            <a:off x="640080" y="3703320"/>
            <a:ext cx="5486400" cy="1097280"/>
          </a:xfrm>
          <a:prstGeom prst="rect">
            <a:avLst/>
          </a:prstGeom>
          <a:noFill/>
          <a:ln/>
        </p:spPr>
        <p:txBody>
          <a:bodyPr wrap="square" rtlCol="0"/>
          <a:lstStyle>
            <a:lvl1pPr indent="0" marL="0">
              <a:buNone/>
              <a:defRPr lang="en-US" sz="1800" dirty="0">
                <a:solidFill>
                  <a:schemeClr val="bg2"/>
                </a:solidFill>
              </a:defRPr>
            </a:lvl1pPr>
          </a:lstStyle>
          <a:p>
            <a:pPr indent="0" marL="0">
              <a:buNone/>
            </a:pPr>
            <a:endParaRPr lang="en-US" sz="1800" dirty="0"/>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Intercalaire">
    <p:bg>
      <p:bgPr>
        <a:solidFill>
          <a:schemeClr val="tx2"/>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822960" y="2651760"/>
            <a:ext cx="8686800" cy="1005840"/>
          </a:xfrm>
          <a:prstGeom prst="rect">
            <a:avLst/>
          </a:prstGeom>
          <a:noFill/>
          <a:ln/>
        </p:spPr>
        <p:txBody>
          <a:bodyPr wrap="square" rtlCol="0"/>
          <a:lstStyle>
            <a:lvl1pPr algn="l" indent="0" marL="0">
              <a:buNone/>
              <a:defRPr lang="en-US" sz="4000" b="1" dirty="0">
                <a:solidFill>
                  <a:schemeClr val="bg1"/>
                </a:solidFill>
              </a:defRPr>
            </a:lvl1pPr>
          </a:lstStyle>
          <a:p>
            <a:pPr algn="l" indent="0" marL="0">
              <a:buNone/>
            </a:pPr>
            <a:endParaRPr lang="en-US" sz="4000" dirty="0"/>
          </a:p>
        </p:txBody>
      </p:sp>
      <p:sp>
        <p:nvSpPr>
          <p:cNvPr id="3" name="Text 0"/>
          <p:cNvSpPr/>
          <p:nvPr>
            <p:ph idx="101" type="body" hasCustomPrompt="1"/>
          </p:nvPr>
        </p:nvSpPr>
        <p:spPr>
          <a:xfrm>
            <a:off x="822960" y="3703320"/>
            <a:ext cx="8686800" cy="731520"/>
          </a:xfrm>
          <a:prstGeom prst="rect">
            <a:avLst/>
          </a:prstGeom>
          <a:noFill/>
          <a:ln/>
        </p:spPr>
        <p:txBody>
          <a:bodyPr wrap="square" rtlCol="0"/>
          <a:lstStyle>
            <a:lvl1pPr indent="0" marL="0">
              <a:buNone/>
              <a:defRPr lang="en-US" sz="1800" dirty="0">
                <a:solidFill>
                  <a:schemeClr val="bg2"/>
                </a:solidFill>
              </a:defRPr>
            </a:lvl1pPr>
          </a:lstStyle>
          <a:p>
            <a:pPr indent="0" marL="0">
              <a:buNone/>
            </a:pPr>
            <a:endParaRPr lang="en-US" sz="1800" dirty="0"/>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reserve="1">
  <p:cSld name="Contenu">
    <p:bg>
      <p:bgPr>
        <a:solidFill>
          <a:schemeClr val="bg1"/>
        </a:solidFill>
      </p:bgPr>
    </p:bg>
    <p:spTree>
      <p:nvGrpSpPr>
        <p:cNvPr id="1" name=""/>
        <p:cNvGrpSpPr/>
        <p:nvPr/>
      </p:nvGrpSpPr>
      <p:grpSpPr>
        <a:xfrm>
          <a:off x="0" y="0"/>
          <a:ext cx="0" cy="0"/>
          <a:chOff x="0" y="0"/>
          <a:chExt cx="0" cy="0"/>
        </a:xfrm>
      </p:grpSpPr>
      <p:sp>
        <p:nvSpPr>
          <p:cNvPr id="2" name="Text 0"/>
          <p:cNvSpPr/>
          <p:nvPr/>
        </p:nvSpPr>
        <p:spPr>
          <a:xfrm>
            <a:off x="548640" y="6400800"/>
            <a:ext cx="2743200" cy="274320"/>
          </a:xfrm>
          <a:prstGeom prst="rect">
            <a:avLst/>
          </a:prstGeom>
          <a:noFill/>
          <a:ln/>
        </p:spPr>
        <p:txBody>
          <a:bodyPr wrap="square" lIns="0" tIns="0" rIns="0" bIns="0" rtlCol="0" anchor="ctr"/>
          <a:lstStyle/>
          <a:p>
            <a:pPr indent="0" marL="0">
              <a:buNone/>
            </a:pPr>
            <a:r>
              <a:rPr lang="en-US" sz="1000" b="1" dirty="0">
                <a:solidFill>
                  <a:schemeClr val="accent1"/>
                </a:solidFill>
              </a:rPr>
              <a:t>GeoPulse</a:t>
            </a:r>
            <a:endParaRPr lang="en-US" sz="1000" dirty="0"/>
          </a:p>
        </p:txBody>
      </p:sp>
      <p:sp>
        <p:nvSpPr>
          <p:cNvPr id="3" name="Text 1"/>
          <p:cNvSpPr/>
          <p:nvPr>
            <p:ph idx="101" type="title" hasCustomPrompt="1"/>
          </p:nvPr>
        </p:nvSpPr>
        <p:spPr>
          <a:xfrm>
            <a:off x="548640" y="365760"/>
            <a:ext cx="11064240" cy="685800"/>
          </a:xfrm>
          <a:prstGeom prst="rect">
            <a:avLst/>
          </a:prstGeom>
          <a:noFill/>
          <a:ln/>
        </p:spPr>
        <p:txBody>
          <a:bodyPr wrap="square" rtlCol="0"/>
          <a:lstStyle>
            <a:lvl1pPr algn="l" indent="0" marL="0">
              <a:buNone/>
              <a:defRPr lang="en-US" sz="3400" b="1" dirty="0">
                <a:solidFill>
                  <a:schemeClr val="tx1"/>
                </a:solidFill>
              </a:defRPr>
            </a:lvl1pPr>
          </a:lstStyle>
          <a:p>
            <a:pPr algn="l" indent="0" marL="0">
              <a:buNone/>
            </a:pPr>
            <a:endParaRPr lang="en-US" sz="3400" dirty="0"/>
          </a:p>
        </p:txBody>
      </p:sp>
      <p:sp>
        <p:nvSpPr>
          <p:cNvPr id="4" name="Text 1"/>
          <p:cNvSpPr/>
          <p:nvPr>
            <p:ph idx="102" type="body" hasCustomPrompt="1"/>
          </p:nvPr>
        </p:nvSpPr>
        <p:spPr>
          <a:xfrm>
            <a:off x="548640" y="1051560"/>
            <a:ext cx="11064240" cy="411480"/>
          </a:xfrm>
          <a:prstGeom prst="rect">
            <a:avLst/>
          </a:prstGeom>
          <a:noFill/>
          <a:ln/>
        </p:spPr>
        <p:txBody>
          <a:bodyPr wrap="square" rtlCol="0"/>
          <a:lstStyle>
            <a:lvl1pPr indent="0" marL="0">
              <a:buNone/>
              <a:defRPr lang="en-US" sz="1600" dirty="0">
                <a:solidFill>
                  <a:srgbClr val="64748B"/>
                </a:solidFill>
              </a:defRPr>
            </a:lvl1pPr>
          </a:lstStyle>
          <a:p>
            <a:pPr indent="0" marL="0">
              <a:buNone/>
            </a:pPr>
            <a:endParaRPr lang="en-US" sz="1600" dirty="0"/>
          </a:p>
        </p:txBody>
      </p:sp>
      <p:sp>
        <p:nvSpPr>
          <p:cNvPr id="25" name="Slide Number Placeholder 0"/>
          <p:cNvSpPr>
            <a:spLocks noGrp="1"/>
          </p:cNvSpPr>
          <p:nvPr>
            <p:ph type="sldNum" sz="quarter" idx="4294967295"/>
          </p:nvPr>
        </p:nvSpPr>
        <p:spPr>
          <a:xfrm>
            <a:off x="11155680"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64748B"/>
                </a:solidFill>
              </a:defRPr>
            </a:lvl1pPr>
          </a:lstStyle>
          <a:p>
            <a:pPr algn="r"/>
            <a:fld id="{F7021451-1387-4CA6-816F-3879F97B5CBC}" type="slidenum">
              <a:rPr b="0" lang="en-US"/>
              <a:t>1004</a:t>
            </a:fld>
            <a:endParaRPr lang="en-US"/>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preserve="1">
  <p:cSld name="Contenu clair">
    <p:bg>
      <p:bgPr>
        <a:solidFill>
          <a:schemeClr val="bg2"/>
        </a:solidFill>
      </p:bgPr>
    </p:bg>
    <p:spTree>
      <p:nvGrpSpPr>
        <p:cNvPr id="1" name=""/>
        <p:cNvGrpSpPr/>
        <p:nvPr/>
      </p:nvGrpSpPr>
      <p:grpSpPr>
        <a:xfrm>
          <a:off x="0" y="0"/>
          <a:ext cx="0" cy="0"/>
          <a:chOff x="0" y="0"/>
          <a:chExt cx="0" cy="0"/>
        </a:xfrm>
      </p:grpSpPr>
      <p:sp>
        <p:nvSpPr>
          <p:cNvPr id="2" name="Text 0"/>
          <p:cNvSpPr/>
          <p:nvPr/>
        </p:nvSpPr>
        <p:spPr>
          <a:xfrm>
            <a:off x="548640" y="6400800"/>
            <a:ext cx="2743200" cy="274320"/>
          </a:xfrm>
          <a:prstGeom prst="rect">
            <a:avLst/>
          </a:prstGeom>
          <a:noFill/>
          <a:ln/>
        </p:spPr>
        <p:txBody>
          <a:bodyPr wrap="square" lIns="0" tIns="0" rIns="0" bIns="0" rtlCol="0" anchor="ctr"/>
          <a:lstStyle/>
          <a:p>
            <a:pPr indent="0" marL="0">
              <a:buNone/>
            </a:pPr>
            <a:r>
              <a:rPr lang="en-US" sz="1000" b="1" dirty="0">
                <a:solidFill>
                  <a:schemeClr val="accent1"/>
                </a:solidFill>
              </a:rPr>
              <a:t>GeoPulse</a:t>
            </a:r>
            <a:endParaRPr lang="en-US" sz="1000" dirty="0"/>
          </a:p>
        </p:txBody>
      </p:sp>
      <p:sp>
        <p:nvSpPr>
          <p:cNvPr id="3" name="Text 1"/>
          <p:cNvSpPr/>
          <p:nvPr>
            <p:ph idx="101" type="title" hasCustomPrompt="1"/>
          </p:nvPr>
        </p:nvSpPr>
        <p:spPr>
          <a:xfrm>
            <a:off x="548640" y="365760"/>
            <a:ext cx="11064240" cy="685800"/>
          </a:xfrm>
          <a:prstGeom prst="rect">
            <a:avLst/>
          </a:prstGeom>
          <a:noFill/>
          <a:ln/>
        </p:spPr>
        <p:txBody>
          <a:bodyPr wrap="square" rtlCol="0"/>
          <a:lstStyle>
            <a:lvl1pPr algn="l" indent="0" marL="0">
              <a:buNone/>
              <a:defRPr lang="en-US" sz="3400" b="1" dirty="0">
                <a:solidFill>
                  <a:schemeClr val="tx1"/>
                </a:solidFill>
              </a:defRPr>
            </a:lvl1pPr>
          </a:lstStyle>
          <a:p>
            <a:pPr algn="l" indent="0" marL="0">
              <a:buNone/>
            </a:pPr>
            <a:endParaRPr lang="en-US" sz="3400" dirty="0"/>
          </a:p>
        </p:txBody>
      </p:sp>
      <p:sp>
        <p:nvSpPr>
          <p:cNvPr id="4" name="Text 1"/>
          <p:cNvSpPr/>
          <p:nvPr>
            <p:ph idx="102" type="body" hasCustomPrompt="1"/>
          </p:nvPr>
        </p:nvSpPr>
        <p:spPr>
          <a:xfrm>
            <a:off x="548640" y="1051560"/>
            <a:ext cx="11064240" cy="411480"/>
          </a:xfrm>
          <a:prstGeom prst="rect">
            <a:avLst/>
          </a:prstGeom>
          <a:noFill/>
          <a:ln/>
        </p:spPr>
        <p:txBody>
          <a:bodyPr wrap="square" rtlCol="0"/>
          <a:lstStyle>
            <a:lvl1pPr indent="0" marL="0">
              <a:buNone/>
              <a:defRPr lang="en-US" sz="1600" dirty="0">
                <a:solidFill>
                  <a:srgbClr val="64748B"/>
                </a:solidFill>
              </a:defRPr>
            </a:lvl1pPr>
          </a:lstStyle>
          <a:p>
            <a:pPr indent="0" marL="0">
              <a:buNone/>
            </a:pPr>
            <a:endParaRPr lang="en-US" sz="1600" dirty="0"/>
          </a:p>
        </p:txBody>
      </p:sp>
      <p:sp>
        <p:nvSpPr>
          <p:cNvPr id="25" name="Slide Number Placeholder 0"/>
          <p:cNvSpPr>
            <a:spLocks noGrp="1"/>
          </p:cNvSpPr>
          <p:nvPr>
            <p:ph type="sldNum" sz="quarter" idx="4294967295"/>
          </p:nvPr>
        </p:nvSpPr>
        <p:spPr>
          <a:xfrm>
            <a:off x="11155680"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64748B"/>
                </a:solidFill>
              </a:defRPr>
            </a:lvl1pPr>
          </a:lstStyle>
          <a:p>
            <a:pPr algn="r"/>
            <a:fld id="{F7021451-1387-4CA6-816F-3879F97B5CBC}" type="slidenum">
              <a:rPr b="0" lang="en-US"/>
              <a:t>1005</a:t>
            </a:fld>
            <a:endParaRPr lang="en-US"/>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preserve="1">
  <p:cSld name="Fin">
    <p:bg>
      <p:bgPr>
        <a:solidFill>
          <a:schemeClr val="tx1"/>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822960" y="2103120"/>
            <a:ext cx="10515600" cy="1097280"/>
          </a:xfrm>
          <a:prstGeom prst="rect">
            <a:avLst/>
          </a:prstGeom>
          <a:noFill/>
          <a:ln/>
        </p:spPr>
        <p:txBody>
          <a:bodyPr wrap="square" rtlCol="0"/>
          <a:lstStyle>
            <a:lvl1pPr algn="l" indent="0" marL="0">
              <a:buNone/>
              <a:defRPr lang="en-US" sz="4400" b="1" dirty="0">
                <a:solidFill>
                  <a:schemeClr val="bg1"/>
                </a:solidFill>
              </a:defRPr>
            </a:lvl1pPr>
          </a:lstStyle>
          <a:p>
            <a:pPr algn="l" indent="0" marL="0">
              <a:buNone/>
            </a:pPr>
            <a:endParaRPr lang="en-US" sz="4400" dirty="0"/>
          </a:p>
        </p:txBody>
      </p:sp>
      <p:sp>
        <p:nvSpPr>
          <p:cNvPr id="3" name="Text 0"/>
          <p:cNvSpPr/>
          <p:nvPr>
            <p:ph idx="101" type="body" hasCustomPrompt="1"/>
          </p:nvPr>
        </p:nvSpPr>
        <p:spPr>
          <a:xfrm>
            <a:off x="822960" y="3291840"/>
            <a:ext cx="10515600" cy="822960"/>
          </a:xfrm>
          <a:prstGeom prst="rect">
            <a:avLst/>
          </a:prstGeom>
          <a:noFill/>
          <a:ln/>
        </p:spPr>
        <p:txBody>
          <a:bodyPr wrap="square" rtlCol="0"/>
          <a:lstStyle>
            <a:lvl1pPr indent="0" marL="0">
              <a:buNone/>
              <a:defRPr lang="en-US" sz="2000" dirty="0">
                <a:solidFill>
                  <a:schemeClr val="bg2"/>
                </a:solidFill>
              </a:defRPr>
            </a:lvl1pPr>
          </a:lstStyle>
          <a:p>
            <a:pPr indent="0" marL="0">
              <a:buNone/>
            </a:pPr>
            <a:endParaRPr lang="en-US" sz="2000" dirty="0"/>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1155680"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64748B"/>
                </a:solidFill>
              </a:defRPr>
            </a:lvl1pPr>
          </a:lstStyle>
          <a:p>
            <a:pPr algn="r"/>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image" Target="../media/image-1-2.jpg"/><Relationship Id="rId3" Type="http://schemas.openxmlformats.org/officeDocument/2006/relationships/slideLayout" Target="../slideLayouts/slideLayout2.xml"/><Relationship Id="rId4"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image" Target="../media/image-2-2.png"/><Relationship Id="rId3" Type="http://schemas.openxmlformats.org/officeDocument/2006/relationships/image" Target="../media/image-2-3.png"/><Relationship Id="rId4" Type="http://schemas.openxmlformats.org/officeDocument/2006/relationships/image" Target="../media/image-2-4.png"/><Relationship Id="rId5" Type="http://schemas.openxmlformats.org/officeDocument/2006/relationships/slideLayout" Target="../slideLayouts/slideLayout4.xml"/><Relationship Id="rId6"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jpg"/><Relationship Id="rId2" Type="http://schemas.openxmlformats.org/officeDocument/2006/relationships/slideLayout" Target="../slideLayouts/slideLayout5.xml"/><Relationship Id="rId3"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image" Target="../media/image-4-2.png"/><Relationship Id="rId3" Type="http://schemas.openxmlformats.org/officeDocument/2006/relationships/slideLayout" Target="../slideLayouts/slideLayout4.xml"/><Relationship Id="rId4"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jpg"/><Relationship Id="rId2" Type="http://schemas.openxmlformats.org/officeDocument/2006/relationships/image" Target="../media/image-6-2.png"/><Relationship Id="rId3" Type="http://schemas.openxmlformats.org/officeDocument/2006/relationships/image" Target="../media/image-6-3.png"/><Relationship Id="rId4" Type="http://schemas.openxmlformats.org/officeDocument/2006/relationships/image" Target="../media/image-6-4.png"/><Relationship Id="rId5" Type="http://schemas.openxmlformats.org/officeDocument/2006/relationships/image" Target="../media/image-6-5.png"/><Relationship Id="rId6" Type="http://schemas.openxmlformats.org/officeDocument/2006/relationships/slideLayout" Target="../slideLayouts/slideLayout4.xml"/><Relationship Id="rId7"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jpg"/><Relationship Id="rId2" Type="http://schemas.openxmlformats.org/officeDocument/2006/relationships/image" Target="../media/image-7-2.jpg"/><Relationship Id="rId3" Type="http://schemas.openxmlformats.org/officeDocument/2006/relationships/image" Target="../media/image-7-3.png"/><Relationship Id="rId4" Type="http://schemas.openxmlformats.org/officeDocument/2006/relationships/image" Target="../media/image-7-4.png"/><Relationship Id="rId5" Type="http://schemas.openxmlformats.org/officeDocument/2006/relationships/image" Target="../media/image-7-5.png"/><Relationship Id="rId6" Type="http://schemas.openxmlformats.org/officeDocument/2006/relationships/image" Target="../media/image-7-6.png"/><Relationship Id="rId7" Type="http://schemas.openxmlformats.org/officeDocument/2006/relationships/slideLayout" Target="../slideLayouts/slideLayout5.xml"/><Relationship Id="rId8"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jpg"/><Relationship Id="rId2" Type="http://schemas.openxmlformats.org/officeDocument/2006/relationships/slideLayout" Target="../slideLayouts/slideLayout4.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jpg"/><Relationship Id="rId2" Type="http://schemas.openxmlformats.org/officeDocument/2006/relationships/image" Target="../media/image-9-2.jpg"/><Relationship Id="rId3" Type="http://schemas.openxmlformats.org/officeDocument/2006/relationships/image" Target="../media/image-9-3.png"/><Relationship Id="rId4" Type="http://schemas.openxmlformats.org/officeDocument/2006/relationships/image" Target="../media/image-9-4.png"/><Relationship Id="rId5" Type="http://schemas.openxmlformats.org/officeDocument/2006/relationships/image" Target="../media/image-9-5.png"/><Relationship Id="rId6" Type="http://schemas.openxmlformats.org/officeDocument/2006/relationships/slideLayout" Target="../slideLayouts/slideLayout5.xml"/><Relationship Id="rId7"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jpg"/><Relationship Id="rId2" Type="http://schemas.openxmlformats.org/officeDocument/2006/relationships/slideLayout" Target="../slideLayouts/slideLayout4.xm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jpg"/><Relationship Id="rId2" Type="http://schemas.openxmlformats.org/officeDocument/2006/relationships/image" Target="../media/image-11-2.jpg"/><Relationship Id="rId3" Type="http://schemas.openxmlformats.org/officeDocument/2006/relationships/slideLayout" Target="../slideLayouts/slideLayout5.xml"/><Relationship Id="rId4"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jpg"/><Relationship Id="rId2" Type="http://schemas.openxmlformats.org/officeDocument/2006/relationships/image" Target="../media/image-12-2.jpg"/><Relationship Id="rId3" Type="http://schemas.openxmlformats.org/officeDocument/2006/relationships/image" Target="../media/image-12-3.png"/><Relationship Id="rId4" Type="http://schemas.openxmlformats.org/officeDocument/2006/relationships/image" Target="../media/image-12-4.png"/><Relationship Id="rId5" Type="http://schemas.openxmlformats.org/officeDocument/2006/relationships/image" Target="../media/image-12-5.png"/><Relationship Id="rId6" Type="http://schemas.openxmlformats.org/officeDocument/2006/relationships/slideLayout" Target="../slideLayouts/slideLayout4.xml"/><Relationship Id="rId7"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jpg"/><Relationship Id="rId2" Type="http://schemas.openxmlformats.org/officeDocument/2006/relationships/image" Target="../media/image-13-2.jpg"/><Relationship Id="rId3" Type="http://schemas.openxmlformats.org/officeDocument/2006/relationships/image" Target="../media/image-13-3.png"/><Relationship Id="rId4" Type="http://schemas.openxmlformats.org/officeDocument/2006/relationships/image" Target="../media/image-13-4.png"/><Relationship Id="rId5" Type="http://schemas.openxmlformats.org/officeDocument/2006/relationships/image" Target="../media/image-13-5.png"/><Relationship Id="rId6" Type="http://schemas.openxmlformats.org/officeDocument/2006/relationships/slideLayout" Target="../slideLayouts/slideLayout5.xml"/><Relationship Id="rId7"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jpg"/><Relationship Id="rId2" Type="http://schemas.openxmlformats.org/officeDocument/2006/relationships/image" Target="../media/image-14-2.jpg"/><Relationship Id="rId3" Type="http://schemas.openxmlformats.org/officeDocument/2006/relationships/slideLayout" Target="../slideLayouts/slideLayout4.xml"/><Relationship Id="rId4"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jpg"/><Relationship Id="rId2" Type="http://schemas.openxmlformats.org/officeDocument/2006/relationships/image" Target="../media/image-15-2.jpg"/><Relationship Id="rId3" Type="http://schemas.openxmlformats.org/officeDocument/2006/relationships/image" Target="../media/image-15-3.jpg"/><Relationship Id="rId4" Type="http://schemas.openxmlformats.org/officeDocument/2006/relationships/image" Target="../media/image-15-4.jpg"/><Relationship Id="rId5" Type="http://schemas.openxmlformats.org/officeDocument/2006/relationships/slideLayout" Target="../slideLayouts/slideLayout5.xml"/><Relationship Id="rId6"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image" Target="../media/image-17-1.png"/><Relationship Id="rId2" Type="http://schemas.openxmlformats.org/officeDocument/2006/relationships/image" Target="../media/image-17-2.png"/><Relationship Id="rId3" Type="http://schemas.openxmlformats.org/officeDocument/2006/relationships/image" Target="../media/image-17-3.png"/><Relationship Id="rId4" Type="http://schemas.openxmlformats.org/officeDocument/2006/relationships/image" Target="../media/image-17-4.png"/><Relationship Id="rId5" Type="http://schemas.openxmlformats.org/officeDocument/2006/relationships/image" Target="../media/image-17-5.png"/><Relationship Id="rId6" Type="http://schemas.openxmlformats.org/officeDocument/2006/relationships/slideLayout" Target="../slideLayouts/slideLayout4.xml"/><Relationship Id="rId7"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image" Target="../media/image-18-1.png"/><Relationship Id="rId2" Type="http://schemas.openxmlformats.org/officeDocument/2006/relationships/image" Target="../media/image-18-2.png"/><Relationship Id="rId3" Type="http://schemas.openxmlformats.org/officeDocument/2006/relationships/image" Target="../media/image-18-3.png"/><Relationship Id="rId4" Type="http://schemas.openxmlformats.org/officeDocument/2006/relationships/image" Target="../media/image-18-4.png"/><Relationship Id="rId5" Type="http://schemas.openxmlformats.org/officeDocument/2006/relationships/slideLayout" Target="../slideLayouts/slideLayout5.xml"/><Relationship Id="rId6"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image" Target="../media/image-20-1.png"/><Relationship Id="rId2" Type="http://schemas.openxmlformats.org/officeDocument/2006/relationships/slideLayout" Target="../slideLayouts/slideLayout6.xml"/><Relationship Id="rId3" Type="http://schemas.openxmlformats.org/officeDocument/2006/relationships/notesSlide" Target="../notesSlides/notesSlide20.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ext 0"/>
          <p:cNvSpPr/>
          <p:nvPr>
            <p:ph idx="100" type="title" hasCustomPrompt="1"/>
          </p:nvPr>
        </p:nvSpPr>
        <p:spPr>
          <a:xfrm>
            <a:off x="640080" y="1828800"/>
            <a:ext cx="5852160" cy="1737360"/>
          </a:xfrm>
          <a:prstGeom prst="rect">
            <a:avLst/>
          </a:prstGeom>
          <a:noFill/>
          <a:ln/>
        </p:spPr>
        <p:txBody>
          <a:bodyPr wrap="square" lIns="0" tIns="0" rIns="0" bIns="0" rtlCol="0" anchor="t"/>
          <a:lstStyle/>
          <a:p>
            <a:pPr algn="l" indent="0" marL="0">
              <a:buNone/>
            </a:pPr>
            <a:r>
              <a:rPr lang="en-US" sz="4400" b="1" dirty="0">
                <a:solidFill>
                  <a:schemeClr val="bg1"/>
                </a:solidFill>
              </a:rPr>
              <a:t>Pilotez votre réseau. Gagnez du terrain.</a:t>
            </a:r>
            <a:endParaRPr lang="en-US" sz="4400" dirty="0"/>
          </a:p>
        </p:txBody>
      </p:sp>
      <p:sp>
        <p:nvSpPr>
          <p:cNvPr id="3" name="Text 0"/>
          <p:cNvSpPr/>
          <p:nvPr>
            <p:ph idx="101" type="body" hasCustomPrompt="1"/>
          </p:nvPr>
        </p:nvSpPr>
        <p:spPr>
          <a:xfrm>
            <a:off x="640080" y="3703320"/>
            <a:ext cx="5486400" cy="1097280"/>
          </a:xfrm>
          <a:prstGeom prst="rect">
            <a:avLst/>
          </a:prstGeom>
          <a:noFill/>
          <a:ln/>
        </p:spPr>
        <p:txBody>
          <a:bodyPr wrap="square" lIns="0" tIns="0" rIns="0" bIns="0" rtlCol="0" anchor="t"/>
          <a:lstStyle/>
          <a:p>
            <a:pPr indent="0" marL="0">
              <a:buNone/>
            </a:pPr>
            <a:r>
              <a:rPr lang="en-US" sz="1800" dirty="0">
                <a:solidFill>
                  <a:schemeClr val="bg2"/>
                </a:solidFill>
              </a:rPr>
              <a:t>GeoPulse, le géomarketing conçu pour la Tunisie : vos points, vos ventes, vos concurrents et la population sur une seule carte.</a:t>
            </a:r>
            <a:endParaRPr lang="en-US" sz="1800" dirty="0"/>
          </a:p>
        </p:txBody>
      </p:sp>
      <p:pic>
        <p:nvPicPr>
          <p:cNvPr id="4" name="Logo" descr="Logo">    </p:cNvPr>
          <p:cNvPicPr>
            <a:picLocks noChangeAspect="1"/>
          </p:cNvPicPr>
          <p:nvPr/>
        </p:nvPicPr>
        <p:blipFill>
          <a:blip r:embed="rId1"/>
          <a:stretch>
            <a:fillRect/>
          </a:stretch>
        </p:blipFill>
        <p:spPr>
          <a:xfrm>
            <a:off x="640080" y="685800"/>
            <a:ext cx="384048" cy="384048"/>
          </a:xfrm>
          <a:prstGeom prst="rect">
            <a:avLst/>
          </a:prstGeom>
        </p:spPr>
      </p:pic>
      <p:sp>
        <p:nvSpPr>
          <p:cNvPr id="5" name="Marque"/>
          <p:cNvSpPr txBox="1"/>
          <p:nvPr/>
        </p:nvSpPr>
        <p:spPr>
          <a:xfrm>
            <a:off x="1143000" y="658368"/>
            <a:ext cx="2743200" cy="457200"/>
          </a:xfrm>
          <a:prstGeom prst="rect">
            <a:avLst/>
          </a:prstGeom>
          <a:noFill/>
          <a:ln/>
        </p:spPr>
        <p:txBody>
          <a:bodyPr wrap="square" lIns="0" tIns="0" rIns="0" bIns="0" rtlCol="0" anchor="ctr"/>
          <a:lstStyle/>
          <a:p>
            <a:pPr indent="0" marL="0">
              <a:buNone/>
            </a:pPr>
            <a:r>
              <a:rPr lang="en-US" sz="2200" b="1" dirty="0">
                <a:solidFill>
                  <a:schemeClr val="bg1"/>
                </a:solidFill>
              </a:rPr>
              <a:t>GeoPulse</a:t>
            </a:r>
            <a:endParaRPr lang="en-US" sz="2200" dirty="0"/>
          </a:p>
        </p:txBody>
      </p:sp>
      <p:sp>
        <p:nvSpPr>
          <p:cNvPr id="6" name="Mention"/>
          <p:cNvSpPr txBox="1"/>
          <p:nvPr/>
        </p:nvSpPr>
        <p:spPr>
          <a:xfrm>
            <a:off x="640080" y="5989320"/>
            <a:ext cx="5486400" cy="365760"/>
          </a:xfrm>
          <a:prstGeom prst="rect">
            <a:avLst/>
          </a:prstGeom>
          <a:noFill/>
          <a:ln/>
        </p:spPr>
        <p:txBody>
          <a:bodyPr wrap="square" lIns="0" tIns="0" rIns="0" bIns="0" rtlCol="0" anchor="ctr"/>
          <a:lstStyle/>
          <a:p>
            <a:pPr indent="0" marL="0">
              <a:buNone/>
            </a:pPr>
            <a:r>
              <a:rPr lang="en-US" sz="1300" dirty="0">
                <a:solidFill>
                  <a:srgbClr val="C7D2FE"/>
                </a:solidFill>
              </a:rPr>
              <a:t>Présentation commerciale</a:t>
            </a:r>
            <a:endParaRPr lang="en-US" sz="1300" dirty="0"/>
          </a:p>
        </p:txBody>
      </p:sp>
      <p:sp>
        <p:nvSpPr>
          <p:cNvPr id="7" name="Cadre v1-vitrine-ordinateur"/>
          <p:cNvSpPr/>
          <p:nvPr/>
        </p:nvSpPr>
        <p:spPr>
          <a:xfrm>
            <a:off x="6720840" y="1829943"/>
            <a:ext cx="5029200" cy="3198114"/>
          </a:xfrm>
          <a:prstGeom prst="roundRect">
            <a:avLst>
              <a:gd name="adj" fmla="val 3431"/>
            </a:avLst>
          </a:prstGeom>
          <a:solidFill>
            <a:schemeClr val="bg1"/>
          </a:solidFill>
          <a:ln w="9525">
            <a:solidFill>
              <a:srgbClr val="E7E9F0"/>
            </a:solidFill>
            <a:prstDash val="solid"/>
          </a:ln>
          <a:effectLst>
            <a:outerShdw sx="100000" sy="100000" kx="0" ky="0" algn="bl" rotWithShape="0" blurRad="177800" dist="38100" dir="5400000">
              <a:srgbClr val="1E1B4B">
                <a:alpha val="16000"/>
              </a:srgbClr>
            </a:outerShdw>
          </a:effectLst>
        </p:spPr>
      </p:sp>
      <p:pic>
        <p:nvPicPr>
          <p:cNvPr id="8" name="Capture v1-vitrine-ordinateur" descr="Page d’accueil de GeoPulse">    </p:cNvPr>
          <p:cNvPicPr>
            <a:picLocks noChangeAspect="1"/>
          </p:cNvPicPr>
          <p:nvPr/>
        </p:nvPicPr>
        <p:blipFill>
          <a:blip r:embed="rId2"/>
          <a:stretch>
            <a:fillRect/>
          </a:stretch>
        </p:blipFill>
        <p:spPr>
          <a:xfrm>
            <a:off x="6793992" y="1903095"/>
            <a:ext cx="4882896" cy="3051810"/>
          </a:xfrm>
          <a:prstGeom prst="rect">
            <a:avLst/>
          </a:prstGeom>
        </p:spPr>
      </p:pic>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64240" cy="685800"/>
          </a:xfrm>
          <a:prstGeom prst="rect">
            <a:avLst/>
          </a:prstGeom>
          <a:noFill/>
          <a:ln/>
        </p:spPr>
        <p:txBody>
          <a:bodyPr wrap="square" lIns="0" tIns="0" rIns="0" bIns="0" rtlCol="0" anchor="t"/>
          <a:lstStyle/>
          <a:p>
            <a:pPr algn="l" indent="0" marL="0">
              <a:buNone/>
            </a:pPr>
            <a:r>
              <a:rPr lang="en-US" sz="3400" b="1" dirty="0">
                <a:solidFill>
                  <a:schemeClr val="tx1"/>
                </a:solidFill>
              </a:rPr>
              <a:t>Les questions que se posent les directions</a:t>
            </a:r>
            <a:endParaRPr lang="en-US" sz="3400" dirty="0"/>
          </a:p>
        </p:txBody>
      </p:sp>
      <p:sp>
        <p:nvSpPr>
          <p:cNvPr id="3" name="Text 1"/>
          <p:cNvSpPr/>
          <p:nvPr>
            <p:ph idx="102" type="body" hasCustomPrompt="1"/>
          </p:nvPr>
        </p:nvSpPr>
        <p:spPr>
          <a:xfrm>
            <a:off x="548640" y="1051560"/>
            <a:ext cx="11064240" cy="411480"/>
          </a:xfrm>
          <a:prstGeom prst="rect">
            <a:avLst/>
          </a:prstGeom>
          <a:noFill/>
          <a:ln/>
        </p:spPr>
        <p:txBody>
          <a:bodyPr wrap="square" lIns="0" tIns="0" rIns="0" bIns="0" rtlCol="0" anchor="t"/>
          <a:lstStyle/>
          <a:p>
            <a:pPr indent="0" marL="0">
              <a:buNone/>
            </a:pPr>
            <a:r>
              <a:rPr lang="en-US" sz="1600" dirty="0">
                <a:solidFill>
                  <a:srgbClr val="64748B"/>
                </a:solidFill>
              </a:rPr>
              <a:t>Commerciales, développement, marketing : chaque jour, des décisions coûteuses prises sans carte</a:t>
            </a:r>
            <a:endParaRPr lang="en-US" sz="1600" dirty="0"/>
          </a:p>
        </p:txBody>
      </p:sp>
      <p:sp>
        <p:nvSpPr>
          <p:cNvPr id="4" name="Carte"/>
          <p:cNvSpPr/>
          <p:nvPr/>
        </p:nvSpPr>
        <p:spPr>
          <a:xfrm>
            <a:off x="548640" y="1783080"/>
            <a:ext cx="5440680" cy="1874520"/>
          </a:xfrm>
          <a:prstGeom prst="roundRect">
            <a:avLst>
              <a:gd name="adj" fmla="val 6829"/>
            </a:avLst>
          </a:prstGeom>
          <a:solidFill>
            <a:schemeClr val="bg1"/>
          </a:solidFill>
          <a:ln w="9525">
            <a:solidFill>
              <a:srgbClr val="E7E9F0"/>
            </a:solidFill>
            <a:prstDash val="solid"/>
          </a:ln>
          <a:effectLst>
            <a:outerShdw sx="100000" sy="100000" kx="0" ky="0" algn="bl" rotWithShape="0" blurRad="177800" dist="38100" dir="5400000">
              <a:srgbClr val="1E1B4B">
                <a:alpha val="16000"/>
              </a:srgbClr>
            </a:outerShdw>
          </a:effectLst>
        </p:spPr>
      </p:sp>
      <p:sp>
        <p:nvSpPr>
          <p:cNvPr id="5" name="Pastille"/>
          <p:cNvSpPr/>
          <p:nvPr/>
        </p:nvSpPr>
        <p:spPr>
          <a:xfrm>
            <a:off x="868680" y="2148840"/>
            <a:ext cx="566928" cy="566928"/>
          </a:xfrm>
          <a:prstGeom prst="roundRect">
            <a:avLst>
              <a:gd name="adj" fmla="val 19355"/>
            </a:avLst>
          </a:prstGeom>
          <a:solidFill>
            <a:srgbClr val="EEF0FF"/>
          </a:solidFill>
          <a:ln/>
        </p:spPr>
      </p:sp>
      <p:pic>
        <p:nvPicPr>
          <p:cNvPr id="6" name="Icône" descr="preencoded.png">    </p:cNvPr>
          <p:cNvPicPr>
            <a:picLocks noChangeAspect="1"/>
          </p:cNvPicPr>
          <p:nvPr/>
        </p:nvPicPr>
        <p:blipFill>
          <a:blip r:embed="rId1"/>
          <a:stretch>
            <a:fillRect/>
          </a:stretch>
        </p:blipFill>
        <p:spPr>
          <a:xfrm>
            <a:off x="993404" y="2273564"/>
            <a:ext cx="317480" cy="317480"/>
          </a:xfrm>
          <a:prstGeom prst="rect">
            <a:avLst/>
          </a:prstGeom>
        </p:spPr>
      </p:pic>
      <p:sp>
        <p:nvSpPr>
          <p:cNvPr id="7" name="Question 1"/>
          <p:cNvSpPr txBox="1"/>
          <p:nvPr/>
        </p:nvSpPr>
        <p:spPr>
          <a:xfrm>
            <a:off x="1645920" y="2103120"/>
            <a:ext cx="4114800" cy="1325880"/>
          </a:xfrm>
          <a:prstGeom prst="rect">
            <a:avLst/>
          </a:prstGeom>
          <a:noFill/>
          <a:ln/>
        </p:spPr>
        <p:txBody>
          <a:bodyPr wrap="square" lIns="0" tIns="0" rIns="0" bIns="0" rtlCol="0" anchor="t"/>
          <a:lstStyle/>
          <a:p>
            <a:pPr indent="0" marL="0">
              <a:spcAft>
                <a:spcPts val="400"/>
              </a:spcAft>
              <a:buNone/>
            </a:pPr>
            <a:r>
              <a:rPr lang="en-US" sz="2000" b="1" dirty="0">
                <a:solidFill>
                  <a:schemeClr val="tx1"/>
                </a:solidFill>
              </a:rPr>
              <a:t>Où ouvrir le prochain point ?</a:t>
            </a:r>
            <a:endParaRPr lang="en-US" sz="2000" dirty="0"/>
          </a:p>
          <a:p>
            <a:pPr indent="0" marL="0">
              <a:spcAft>
                <a:spcPts val="400"/>
              </a:spcAft>
              <a:buNone/>
            </a:pPr>
            <a:r>
              <a:rPr lang="en-US" sz="1500" dirty="0">
                <a:solidFill>
                  <a:srgbClr val="64748B"/>
                </a:solidFill>
              </a:rPr>
              <a:t>Quel chiffre d’affaires attendre, et combien il prendra à mes autres magasins.</a:t>
            </a:r>
            <a:endParaRPr lang="en-US" sz="2000" dirty="0"/>
          </a:p>
        </p:txBody>
      </p:sp>
      <p:sp>
        <p:nvSpPr>
          <p:cNvPr id="8" name="Carte"/>
          <p:cNvSpPr/>
          <p:nvPr/>
        </p:nvSpPr>
        <p:spPr>
          <a:xfrm>
            <a:off x="6172200" y="1783080"/>
            <a:ext cx="5440680" cy="1874520"/>
          </a:xfrm>
          <a:prstGeom prst="roundRect">
            <a:avLst>
              <a:gd name="adj" fmla="val 6829"/>
            </a:avLst>
          </a:prstGeom>
          <a:solidFill>
            <a:schemeClr val="bg1"/>
          </a:solidFill>
          <a:ln w="9525">
            <a:solidFill>
              <a:srgbClr val="E7E9F0"/>
            </a:solidFill>
            <a:prstDash val="solid"/>
          </a:ln>
          <a:effectLst>
            <a:outerShdw sx="100000" sy="100000" kx="0" ky="0" algn="bl" rotWithShape="0" blurRad="177800" dist="38100" dir="5400000">
              <a:srgbClr val="1E1B4B">
                <a:alpha val="16000"/>
              </a:srgbClr>
            </a:outerShdw>
          </a:effectLst>
        </p:spPr>
      </p:sp>
      <p:sp>
        <p:nvSpPr>
          <p:cNvPr id="9" name="Pastille"/>
          <p:cNvSpPr/>
          <p:nvPr/>
        </p:nvSpPr>
        <p:spPr>
          <a:xfrm>
            <a:off x="6492240" y="2148840"/>
            <a:ext cx="566928" cy="566928"/>
          </a:xfrm>
          <a:prstGeom prst="roundRect">
            <a:avLst>
              <a:gd name="adj" fmla="val 19355"/>
            </a:avLst>
          </a:prstGeom>
          <a:solidFill>
            <a:srgbClr val="EEF0FF"/>
          </a:solidFill>
          <a:ln/>
        </p:spPr>
      </p:sp>
      <p:pic>
        <p:nvPicPr>
          <p:cNvPr id="10" name="Icône" descr="preencoded.png">    </p:cNvPr>
          <p:cNvPicPr>
            <a:picLocks noChangeAspect="1"/>
          </p:cNvPicPr>
          <p:nvPr/>
        </p:nvPicPr>
        <p:blipFill>
          <a:blip r:embed="rId2"/>
          <a:stretch>
            <a:fillRect/>
          </a:stretch>
        </p:blipFill>
        <p:spPr>
          <a:xfrm>
            <a:off x="6616964" y="2273564"/>
            <a:ext cx="317480" cy="317480"/>
          </a:xfrm>
          <a:prstGeom prst="rect">
            <a:avLst/>
          </a:prstGeom>
        </p:spPr>
      </p:pic>
      <p:sp>
        <p:nvSpPr>
          <p:cNvPr id="11" name="Question 2"/>
          <p:cNvSpPr txBox="1"/>
          <p:nvPr/>
        </p:nvSpPr>
        <p:spPr>
          <a:xfrm>
            <a:off x="7269480" y="2103120"/>
            <a:ext cx="4114800" cy="1325880"/>
          </a:xfrm>
          <a:prstGeom prst="rect">
            <a:avLst/>
          </a:prstGeom>
          <a:noFill/>
          <a:ln/>
        </p:spPr>
        <p:txBody>
          <a:bodyPr wrap="square" lIns="0" tIns="0" rIns="0" bIns="0" rtlCol="0" anchor="t"/>
          <a:lstStyle/>
          <a:p>
            <a:pPr indent="0" marL="0">
              <a:spcAft>
                <a:spcPts val="400"/>
              </a:spcAft>
              <a:buNone/>
            </a:pPr>
            <a:r>
              <a:rPr lang="en-US" sz="2000" b="1" dirty="0">
                <a:solidFill>
                  <a:schemeClr val="tx1"/>
                </a:solidFill>
              </a:rPr>
              <a:t>Où sont mes zones blanches ?</a:t>
            </a:r>
            <a:endParaRPr lang="en-US" sz="2000" dirty="0"/>
          </a:p>
          <a:p>
            <a:pPr indent="0" marL="0">
              <a:spcAft>
                <a:spcPts val="400"/>
              </a:spcAft>
              <a:buNone/>
            </a:pPr>
            <a:r>
              <a:rPr lang="en-US" sz="1500" dirty="0">
                <a:solidFill>
                  <a:srgbClr val="64748B"/>
                </a:solidFill>
              </a:rPr>
              <a:t>Les quartiers et délégations où je ne suis pas, et ce qu’ils pourraient rapporter.</a:t>
            </a:r>
            <a:endParaRPr lang="en-US" sz="2000" dirty="0"/>
          </a:p>
        </p:txBody>
      </p:sp>
      <p:sp>
        <p:nvSpPr>
          <p:cNvPr id="12" name="Carte"/>
          <p:cNvSpPr/>
          <p:nvPr/>
        </p:nvSpPr>
        <p:spPr>
          <a:xfrm>
            <a:off x="548640" y="3931920"/>
            <a:ext cx="5440680" cy="1874520"/>
          </a:xfrm>
          <a:prstGeom prst="roundRect">
            <a:avLst>
              <a:gd name="adj" fmla="val 6829"/>
            </a:avLst>
          </a:prstGeom>
          <a:solidFill>
            <a:schemeClr val="bg1"/>
          </a:solidFill>
          <a:ln w="9525">
            <a:solidFill>
              <a:srgbClr val="E7E9F0"/>
            </a:solidFill>
            <a:prstDash val="solid"/>
          </a:ln>
          <a:effectLst>
            <a:outerShdw sx="100000" sy="100000" kx="0" ky="0" algn="bl" rotWithShape="0" blurRad="177800" dist="38100" dir="5400000">
              <a:srgbClr val="1E1B4B">
                <a:alpha val="16000"/>
              </a:srgbClr>
            </a:outerShdw>
          </a:effectLst>
        </p:spPr>
      </p:sp>
      <p:sp>
        <p:nvSpPr>
          <p:cNvPr id="13" name="Pastille"/>
          <p:cNvSpPr/>
          <p:nvPr/>
        </p:nvSpPr>
        <p:spPr>
          <a:xfrm>
            <a:off x="868680" y="4297680"/>
            <a:ext cx="566928" cy="566928"/>
          </a:xfrm>
          <a:prstGeom prst="roundRect">
            <a:avLst>
              <a:gd name="adj" fmla="val 19355"/>
            </a:avLst>
          </a:prstGeom>
          <a:solidFill>
            <a:srgbClr val="EEF0FF"/>
          </a:solidFill>
          <a:ln/>
        </p:spPr>
      </p:sp>
      <p:pic>
        <p:nvPicPr>
          <p:cNvPr id="14" name="Icône" descr="preencoded.png">    </p:cNvPr>
          <p:cNvPicPr>
            <a:picLocks noChangeAspect="1"/>
          </p:cNvPicPr>
          <p:nvPr/>
        </p:nvPicPr>
        <p:blipFill>
          <a:blip r:embed="rId3"/>
          <a:stretch>
            <a:fillRect/>
          </a:stretch>
        </p:blipFill>
        <p:spPr>
          <a:xfrm>
            <a:off x="993404" y="4422404"/>
            <a:ext cx="317480" cy="317480"/>
          </a:xfrm>
          <a:prstGeom prst="rect">
            <a:avLst/>
          </a:prstGeom>
        </p:spPr>
      </p:pic>
      <p:sp>
        <p:nvSpPr>
          <p:cNvPr id="15" name="Question 3"/>
          <p:cNvSpPr txBox="1"/>
          <p:nvPr/>
        </p:nvSpPr>
        <p:spPr>
          <a:xfrm>
            <a:off x="1645920" y="4251960"/>
            <a:ext cx="4114800" cy="1325880"/>
          </a:xfrm>
          <a:prstGeom prst="rect">
            <a:avLst/>
          </a:prstGeom>
          <a:noFill/>
          <a:ln/>
        </p:spPr>
        <p:txBody>
          <a:bodyPr wrap="square" lIns="0" tIns="0" rIns="0" bIns="0" rtlCol="0" anchor="t"/>
          <a:lstStyle/>
          <a:p>
            <a:pPr indent="0" marL="0">
              <a:spcAft>
                <a:spcPts val="400"/>
              </a:spcAft>
              <a:buNone/>
            </a:pPr>
            <a:r>
              <a:rPr lang="en-US" sz="2000" b="1" dirty="0">
                <a:solidFill>
                  <a:schemeClr val="tx1"/>
                </a:solidFill>
              </a:rPr>
              <a:t>Pourquoi ce point vend moins ?</a:t>
            </a:r>
            <a:endParaRPr lang="en-US" sz="2000" dirty="0"/>
          </a:p>
          <a:p>
            <a:pPr indent="0" marL="0">
              <a:spcAft>
                <a:spcPts val="400"/>
              </a:spcAft>
              <a:buNone/>
            </a:pPr>
            <a:r>
              <a:rPr lang="en-US" sz="1500" dirty="0">
                <a:solidFill>
                  <a:srgbClr val="64748B"/>
                </a:solidFill>
              </a:rPr>
              <a:t>Le comparer aux zones semblables : population, pouvoir d’achat, concurrence.</a:t>
            </a:r>
            <a:endParaRPr lang="en-US" sz="2000" dirty="0"/>
          </a:p>
        </p:txBody>
      </p:sp>
      <p:sp>
        <p:nvSpPr>
          <p:cNvPr id="16" name="Carte"/>
          <p:cNvSpPr/>
          <p:nvPr/>
        </p:nvSpPr>
        <p:spPr>
          <a:xfrm>
            <a:off x="6172200" y="3931920"/>
            <a:ext cx="5440680" cy="1874520"/>
          </a:xfrm>
          <a:prstGeom prst="roundRect">
            <a:avLst>
              <a:gd name="adj" fmla="val 6829"/>
            </a:avLst>
          </a:prstGeom>
          <a:solidFill>
            <a:schemeClr val="bg1"/>
          </a:solidFill>
          <a:ln w="9525">
            <a:solidFill>
              <a:srgbClr val="E7E9F0"/>
            </a:solidFill>
            <a:prstDash val="solid"/>
          </a:ln>
          <a:effectLst>
            <a:outerShdw sx="100000" sy="100000" kx="0" ky="0" algn="bl" rotWithShape="0" blurRad="177800" dist="38100" dir="5400000">
              <a:srgbClr val="1E1B4B">
                <a:alpha val="16000"/>
              </a:srgbClr>
            </a:outerShdw>
          </a:effectLst>
        </p:spPr>
      </p:sp>
      <p:sp>
        <p:nvSpPr>
          <p:cNvPr id="17" name="Pastille"/>
          <p:cNvSpPr/>
          <p:nvPr/>
        </p:nvSpPr>
        <p:spPr>
          <a:xfrm>
            <a:off x="6492240" y="4297680"/>
            <a:ext cx="566928" cy="566928"/>
          </a:xfrm>
          <a:prstGeom prst="roundRect">
            <a:avLst>
              <a:gd name="adj" fmla="val 19355"/>
            </a:avLst>
          </a:prstGeom>
          <a:solidFill>
            <a:srgbClr val="EEF0FF"/>
          </a:solidFill>
          <a:ln/>
        </p:spPr>
      </p:sp>
      <p:pic>
        <p:nvPicPr>
          <p:cNvPr id="18" name="Icône" descr="preencoded.png">    </p:cNvPr>
          <p:cNvPicPr>
            <a:picLocks noChangeAspect="1"/>
          </p:cNvPicPr>
          <p:nvPr/>
        </p:nvPicPr>
        <p:blipFill>
          <a:blip r:embed="rId4"/>
          <a:stretch>
            <a:fillRect/>
          </a:stretch>
        </p:blipFill>
        <p:spPr>
          <a:xfrm>
            <a:off x="6616964" y="4422404"/>
            <a:ext cx="317480" cy="317480"/>
          </a:xfrm>
          <a:prstGeom prst="rect">
            <a:avLst/>
          </a:prstGeom>
        </p:spPr>
      </p:pic>
      <p:sp>
        <p:nvSpPr>
          <p:cNvPr id="19" name="Question 4"/>
          <p:cNvSpPr txBox="1"/>
          <p:nvPr/>
        </p:nvSpPr>
        <p:spPr>
          <a:xfrm>
            <a:off x="7269480" y="4251960"/>
            <a:ext cx="4114800" cy="1325880"/>
          </a:xfrm>
          <a:prstGeom prst="rect">
            <a:avLst/>
          </a:prstGeom>
          <a:noFill/>
          <a:ln/>
        </p:spPr>
        <p:txBody>
          <a:bodyPr wrap="square" lIns="0" tIns="0" rIns="0" bIns="0" rtlCol="0" anchor="t"/>
          <a:lstStyle/>
          <a:p>
            <a:pPr indent="0" marL="0">
              <a:spcAft>
                <a:spcPts val="400"/>
              </a:spcAft>
              <a:buNone/>
            </a:pPr>
            <a:r>
              <a:rPr lang="en-US" sz="2000" b="1" dirty="0">
                <a:solidFill>
                  <a:schemeClr val="tx1"/>
                </a:solidFill>
              </a:rPr>
              <a:t>Mes commerciaux passent-ils au bon endroit ?</a:t>
            </a:r>
            <a:endParaRPr lang="en-US" sz="2000" dirty="0"/>
          </a:p>
          <a:p>
            <a:pPr indent="0" marL="0">
              <a:spcAft>
                <a:spcPts val="400"/>
              </a:spcAft>
              <a:buNone/>
            </a:pPr>
            <a:r>
              <a:rPr lang="en-US" sz="1500" dirty="0">
                <a:solidFill>
                  <a:srgbClr val="64748B"/>
                </a:solidFill>
              </a:rPr>
              <a:t>Qui a été visité, qui a commandé, qui est oublié depuis 30 jours.</a:t>
            </a:r>
            <a:endParaRPr lang="en-US" sz="2000" dirty="0"/>
          </a:p>
        </p:txBody>
      </p:sp>
      <p:sp>
        <p:nvSpPr>
          <p:cNvPr id="25" name="Slide Number Placeholder 0"/>
          <p:cNvSpPr>
            <a:spLocks noGrp="1"/>
          </p:cNvSpPr>
          <p:nvPr>
            <p:ph type="sldNum" sz="quarter" idx="4294967295"/>
          </p:nvPr>
        </p:nvSpPr>
        <p:spPr>
          <a:xfrm>
            <a:off x="11155680"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64748B"/>
                </a:solidFill>
              </a:defRPr>
            </a:lvl1pPr>
          </a:lstStyle>
          <a:p>
            <a:pPr algn="r"/>
            <a:fld id="{F7021451-1387-4CA6-816F-3879F97B5CBC}" type="slidenum">
              <a:rPr b="0"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64240" cy="685800"/>
          </a:xfrm>
          <a:prstGeom prst="rect">
            <a:avLst/>
          </a:prstGeom>
          <a:noFill/>
          <a:ln/>
        </p:spPr>
        <p:txBody>
          <a:bodyPr wrap="square" lIns="0" tIns="0" rIns="0" bIns="0" rtlCol="0" anchor="t"/>
          <a:lstStyle/>
          <a:p>
            <a:pPr algn="l" indent="0" marL="0">
              <a:buNone/>
            </a:pPr>
            <a:r>
              <a:rPr lang="en-US" sz="3400" b="1" dirty="0">
                <a:solidFill>
                  <a:schemeClr val="tx1"/>
                </a:solidFill>
              </a:rPr>
              <a:t>Une seule carte pour décider</a:t>
            </a:r>
            <a:endParaRPr lang="en-US" sz="3400" dirty="0"/>
          </a:p>
        </p:txBody>
      </p:sp>
      <p:sp>
        <p:nvSpPr>
          <p:cNvPr id="3" name="Text 1"/>
          <p:cNvSpPr/>
          <p:nvPr>
            <p:ph idx="102" type="body" hasCustomPrompt="1"/>
          </p:nvPr>
        </p:nvSpPr>
        <p:spPr>
          <a:xfrm>
            <a:off x="548640" y="1051560"/>
            <a:ext cx="11064240" cy="411480"/>
          </a:xfrm>
          <a:prstGeom prst="rect">
            <a:avLst/>
          </a:prstGeom>
          <a:noFill/>
          <a:ln/>
        </p:spPr>
        <p:txBody>
          <a:bodyPr wrap="square" lIns="0" tIns="0" rIns="0" bIns="0" rtlCol="0" anchor="t"/>
          <a:lstStyle/>
          <a:p>
            <a:pPr indent="0" marL="0">
              <a:buNone/>
            </a:pPr>
            <a:r>
              <a:rPr lang="en-US" sz="1600" dirty="0">
                <a:solidFill>
                  <a:srgbClr val="64748B"/>
                </a:solidFill>
              </a:rPr>
              <a:t>Votre réseau, vos ventes, vos concurrents et toute la population tunisienne, réunis et à jour</a:t>
            </a:r>
            <a:endParaRPr lang="en-US" sz="1600" dirty="0"/>
          </a:p>
        </p:txBody>
      </p:sp>
      <p:sp>
        <p:nvSpPr>
          <p:cNvPr id="4" name="Cadre h1-pays"/>
          <p:cNvSpPr/>
          <p:nvPr/>
        </p:nvSpPr>
        <p:spPr>
          <a:xfrm>
            <a:off x="548640" y="1755648"/>
            <a:ext cx="6949440" cy="4398264"/>
          </a:xfrm>
          <a:prstGeom prst="roundRect">
            <a:avLst>
              <a:gd name="adj" fmla="val 2495"/>
            </a:avLst>
          </a:prstGeom>
          <a:solidFill>
            <a:schemeClr val="bg1"/>
          </a:solidFill>
          <a:ln w="9525">
            <a:solidFill>
              <a:srgbClr val="E7E9F0"/>
            </a:solidFill>
            <a:prstDash val="solid"/>
          </a:ln>
          <a:effectLst>
            <a:outerShdw sx="100000" sy="100000" kx="0" ky="0" algn="bl" rotWithShape="0" blurRad="177800" dist="38100" dir="5400000">
              <a:srgbClr val="1E1B4B">
                <a:alpha val="16000"/>
              </a:srgbClr>
            </a:outerShdw>
          </a:effectLst>
        </p:spPr>
      </p:sp>
      <p:pic>
        <p:nvPicPr>
          <p:cNvPr id="5" name="Capture h1-pays" descr="Carte du réseau et couverture">    </p:cNvPr>
          <p:cNvPicPr>
            <a:picLocks noChangeAspect="1"/>
          </p:cNvPicPr>
          <p:nvPr/>
        </p:nvPicPr>
        <p:blipFill>
          <a:blip r:embed="rId1"/>
          <a:stretch>
            <a:fillRect/>
          </a:stretch>
        </p:blipFill>
        <p:spPr>
          <a:xfrm>
            <a:off x="621792" y="1828800"/>
            <a:ext cx="6803136" cy="4251960"/>
          </a:xfrm>
          <a:prstGeom prst="rect">
            <a:avLst/>
          </a:prstGeom>
        </p:spPr>
      </p:pic>
      <p:sp>
        <p:nvSpPr>
          <p:cNvPr id="6" name="Chiffre habitants localisés au carré de 250 m"/>
          <p:cNvSpPr txBox="1"/>
          <p:nvPr/>
        </p:nvSpPr>
        <p:spPr>
          <a:xfrm>
            <a:off x="8001000" y="1783080"/>
            <a:ext cx="3657600" cy="1005840"/>
          </a:xfrm>
          <a:prstGeom prst="rect">
            <a:avLst/>
          </a:prstGeom>
          <a:noFill/>
          <a:ln/>
        </p:spPr>
        <p:txBody>
          <a:bodyPr wrap="square" lIns="0" tIns="0" rIns="0" bIns="0" rtlCol="0" anchor="t"/>
          <a:lstStyle/>
          <a:p>
            <a:pPr indent="0" marL="0">
              <a:buNone/>
            </a:pPr>
            <a:r>
              <a:rPr lang="en-US" sz="3600" b="1" dirty="0">
                <a:solidFill>
                  <a:schemeClr val="accent1"/>
                </a:solidFill>
              </a:rPr>
              <a:t>11,8 M</a:t>
            </a:r>
            <a:endParaRPr lang="en-US" sz="3600" dirty="0"/>
          </a:p>
          <a:p>
            <a:pPr indent="0" marL="0">
              <a:buNone/>
            </a:pPr>
            <a:r>
              <a:rPr lang="en-US" sz="1300" dirty="0">
                <a:solidFill>
                  <a:srgbClr val="64748B"/>
                </a:solidFill>
              </a:rPr>
              <a:t>habitants localisés au carré de 250 m</a:t>
            </a:r>
            <a:endParaRPr lang="en-US" sz="3600" dirty="0"/>
          </a:p>
        </p:txBody>
      </p:sp>
      <p:sp>
        <p:nvSpPr>
          <p:cNvPr id="7" name="Chiffre délégations avec le recensement 2024 et le pouvoir d’achat"/>
          <p:cNvSpPr txBox="1"/>
          <p:nvPr/>
        </p:nvSpPr>
        <p:spPr>
          <a:xfrm>
            <a:off x="8001000" y="2880360"/>
            <a:ext cx="3657600" cy="1005840"/>
          </a:xfrm>
          <a:prstGeom prst="rect">
            <a:avLst/>
          </a:prstGeom>
          <a:noFill/>
          <a:ln/>
        </p:spPr>
        <p:txBody>
          <a:bodyPr wrap="square" lIns="0" tIns="0" rIns="0" bIns="0" rtlCol="0" anchor="t"/>
          <a:lstStyle/>
          <a:p>
            <a:pPr indent="0" marL="0">
              <a:buNone/>
            </a:pPr>
            <a:r>
              <a:rPr lang="en-US" sz="3600" b="1" dirty="0">
                <a:solidFill>
                  <a:schemeClr val="accent1"/>
                </a:solidFill>
              </a:rPr>
              <a:t>265</a:t>
            </a:r>
            <a:endParaRPr lang="en-US" sz="3600" dirty="0"/>
          </a:p>
          <a:p>
            <a:pPr indent="0" marL="0">
              <a:buNone/>
            </a:pPr>
            <a:r>
              <a:rPr lang="en-US" sz="1300" dirty="0">
                <a:solidFill>
                  <a:srgbClr val="64748B"/>
                </a:solidFill>
              </a:rPr>
              <a:t>délégations avec le recensement 2024 et le pouvoir d’achat</a:t>
            </a:r>
            <a:endParaRPr lang="en-US" sz="3600" dirty="0"/>
          </a:p>
        </p:txBody>
      </p:sp>
      <p:sp>
        <p:nvSpPr>
          <p:cNvPr id="8" name="Chiffre pour estimer le chiffre d’affaires d’un emplacement"/>
          <p:cNvSpPr txBox="1"/>
          <p:nvPr/>
        </p:nvSpPr>
        <p:spPr>
          <a:xfrm>
            <a:off x="8001000" y="3977640"/>
            <a:ext cx="3657600" cy="1005840"/>
          </a:xfrm>
          <a:prstGeom prst="rect">
            <a:avLst/>
          </a:prstGeom>
          <a:noFill/>
          <a:ln/>
        </p:spPr>
        <p:txBody>
          <a:bodyPr wrap="square" lIns="0" tIns="0" rIns="0" bIns="0" rtlCol="0" anchor="t"/>
          <a:lstStyle/>
          <a:p>
            <a:pPr indent="0" marL="0">
              <a:buNone/>
            </a:pPr>
            <a:r>
              <a:rPr lang="en-US" sz="3600" b="1" dirty="0">
                <a:solidFill>
                  <a:schemeClr val="accent1"/>
                </a:solidFill>
              </a:rPr>
              <a:t>1 s</a:t>
            </a:r>
            <a:endParaRPr lang="en-US" sz="3600" dirty="0"/>
          </a:p>
          <a:p>
            <a:pPr indent="0" marL="0">
              <a:buNone/>
            </a:pPr>
            <a:r>
              <a:rPr lang="en-US" sz="1300" dirty="0">
                <a:solidFill>
                  <a:srgbClr val="64748B"/>
                </a:solidFill>
              </a:rPr>
              <a:t>pour estimer le chiffre d’affaires d’un emplacement</a:t>
            </a:r>
            <a:endParaRPr lang="en-US" sz="3600" dirty="0"/>
          </a:p>
        </p:txBody>
      </p:sp>
      <p:sp>
        <p:nvSpPr>
          <p:cNvPr id="9" name="Chiffre dans le navigateur et sur téléphone, sans installation"/>
          <p:cNvSpPr txBox="1"/>
          <p:nvPr/>
        </p:nvSpPr>
        <p:spPr>
          <a:xfrm>
            <a:off x="8001000" y="5074920"/>
            <a:ext cx="3657600" cy="1005840"/>
          </a:xfrm>
          <a:prstGeom prst="rect">
            <a:avLst/>
          </a:prstGeom>
          <a:noFill/>
          <a:ln/>
        </p:spPr>
        <p:txBody>
          <a:bodyPr wrap="square" lIns="0" tIns="0" rIns="0" bIns="0" rtlCol="0" anchor="t"/>
          <a:lstStyle/>
          <a:p>
            <a:pPr indent="0" marL="0">
              <a:buNone/>
            </a:pPr>
            <a:r>
              <a:rPr lang="en-US" sz="3600" b="1" dirty="0">
                <a:solidFill>
                  <a:schemeClr val="accent1"/>
                </a:solidFill>
              </a:rPr>
              <a:t>100 %</a:t>
            </a:r>
            <a:endParaRPr lang="en-US" sz="3600" dirty="0"/>
          </a:p>
          <a:p>
            <a:pPr indent="0" marL="0">
              <a:buNone/>
            </a:pPr>
            <a:r>
              <a:rPr lang="en-US" sz="1300" dirty="0">
                <a:solidFill>
                  <a:srgbClr val="64748B"/>
                </a:solidFill>
              </a:rPr>
              <a:t>dans le navigateur et sur téléphone, sans installation</a:t>
            </a:r>
            <a:endParaRPr lang="en-US" sz="3600" dirty="0"/>
          </a:p>
        </p:txBody>
      </p:sp>
      <p:sp>
        <p:nvSpPr>
          <p:cNvPr id="25" name="Slide Number Placeholder 0"/>
          <p:cNvSpPr>
            <a:spLocks noGrp="1"/>
          </p:cNvSpPr>
          <p:nvPr>
            <p:ph type="sldNum" sz="quarter" idx="4294967295"/>
          </p:nvPr>
        </p:nvSpPr>
        <p:spPr>
          <a:xfrm>
            <a:off x="11155680"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64748B"/>
                </a:solidFill>
              </a:defRPr>
            </a:lvl1pPr>
          </a:lstStyle>
          <a:p>
            <a:pPr algn="r"/>
            <a:fld id="{F7021451-1387-4CA6-816F-3879F97B5CBC}" type="slidenum">
              <a:rPr b="0"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64240" cy="685800"/>
          </a:xfrm>
          <a:prstGeom prst="rect">
            <a:avLst/>
          </a:prstGeom>
          <a:noFill/>
          <a:ln/>
        </p:spPr>
        <p:txBody>
          <a:bodyPr wrap="square" lIns="0" tIns="0" rIns="0" bIns="0" rtlCol="0" anchor="t"/>
          <a:lstStyle/>
          <a:p>
            <a:pPr algn="l" indent="0" marL="0">
              <a:buNone/>
            </a:pPr>
            <a:r>
              <a:rPr lang="en-US" sz="3400" b="1" dirty="0">
                <a:solidFill>
                  <a:schemeClr val="tx1"/>
                </a:solidFill>
              </a:rPr>
              <a:t>Pour les réseaux et les distributeurs</a:t>
            </a:r>
            <a:endParaRPr lang="en-US" sz="3400" dirty="0"/>
          </a:p>
        </p:txBody>
      </p:sp>
      <p:sp>
        <p:nvSpPr>
          <p:cNvPr id="3" name="Text 1"/>
          <p:cNvSpPr/>
          <p:nvPr>
            <p:ph idx="102" type="body" hasCustomPrompt="1"/>
          </p:nvPr>
        </p:nvSpPr>
        <p:spPr>
          <a:xfrm>
            <a:off x="548640" y="1051560"/>
            <a:ext cx="11064240" cy="411480"/>
          </a:xfrm>
          <a:prstGeom prst="rect">
            <a:avLst/>
          </a:prstGeom>
          <a:noFill/>
          <a:ln/>
        </p:spPr>
        <p:txBody>
          <a:bodyPr wrap="square" lIns="0" tIns="0" rIns="0" bIns="0" rtlCol="0" anchor="t"/>
          <a:lstStyle/>
          <a:p>
            <a:pPr indent="0" marL="0">
              <a:buNone/>
            </a:pPr>
            <a:r>
              <a:rPr lang="en-US" sz="1600" dirty="0">
                <a:solidFill>
                  <a:srgbClr val="64748B"/>
                </a:solidFill>
              </a:rPr>
              <a:t>Deux façons de travailler, le même outil</a:t>
            </a:r>
            <a:endParaRPr lang="en-US" sz="1600" dirty="0"/>
          </a:p>
        </p:txBody>
      </p:sp>
      <p:sp>
        <p:nvSpPr>
          <p:cNvPr id="4" name="Carte"/>
          <p:cNvSpPr/>
          <p:nvPr/>
        </p:nvSpPr>
        <p:spPr>
          <a:xfrm>
            <a:off x="548640" y="1783080"/>
            <a:ext cx="5440680" cy="3246120"/>
          </a:xfrm>
          <a:prstGeom prst="roundRect">
            <a:avLst>
              <a:gd name="adj" fmla="val 3944"/>
            </a:avLst>
          </a:prstGeom>
          <a:solidFill>
            <a:schemeClr val="bg1"/>
          </a:solidFill>
          <a:ln w="9525">
            <a:solidFill>
              <a:srgbClr val="E7E9F0"/>
            </a:solidFill>
            <a:prstDash val="solid"/>
          </a:ln>
          <a:effectLst>
            <a:outerShdw sx="100000" sy="100000" kx="0" ky="0" algn="bl" rotWithShape="0" blurRad="177800" dist="38100" dir="5400000">
              <a:srgbClr val="1E1B4B">
                <a:alpha val="16000"/>
              </a:srgbClr>
            </a:outerShdw>
          </a:effectLst>
        </p:spPr>
      </p:sp>
      <p:sp>
        <p:nvSpPr>
          <p:cNvPr id="5" name="Pastille"/>
          <p:cNvSpPr/>
          <p:nvPr/>
        </p:nvSpPr>
        <p:spPr>
          <a:xfrm>
            <a:off x="868680" y="2103120"/>
            <a:ext cx="566928" cy="566928"/>
          </a:xfrm>
          <a:prstGeom prst="roundRect">
            <a:avLst>
              <a:gd name="adj" fmla="val 19355"/>
            </a:avLst>
          </a:prstGeom>
          <a:solidFill>
            <a:srgbClr val="EEF0FF"/>
          </a:solidFill>
          <a:ln/>
        </p:spPr>
      </p:sp>
      <p:pic>
        <p:nvPicPr>
          <p:cNvPr id="6" name="Icône" descr="preencoded.png">    </p:cNvPr>
          <p:cNvPicPr>
            <a:picLocks noChangeAspect="1"/>
          </p:cNvPicPr>
          <p:nvPr/>
        </p:nvPicPr>
        <p:blipFill>
          <a:blip r:embed="rId1"/>
          <a:stretch>
            <a:fillRect/>
          </a:stretch>
        </p:blipFill>
        <p:spPr>
          <a:xfrm>
            <a:off x="993404" y="2227844"/>
            <a:ext cx="317480" cy="317480"/>
          </a:xfrm>
          <a:prstGeom prst="rect">
            <a:avLst/>
          </a:prstGeom>
        </p:spPr>
      </p:pic>
      <p:sp>
        <p:nvSpPr>
          <p:cNvPr id="7" name="Text 4"/>
          <p:cNvSpPr txBox="1"/>
          <p:nvPr/>
        </p:nvSpPr>
        <p:spPr>
          <a:xfrm>
            <a:off x="1600200" y="2148840"/>
            <a:ext cx="4114800" cy="457200"/>
          </a:xfrm>
          <a:prstGeom prst="rect">
            <a:avLst/>
          </a:prstGeom>
          <a:noFill/>
          <a:ln/>
        </p:spPr>
        <p:txBody>
          <a:bodyPr wrap="square" lIns="0" tIns="0" rIns="0" bIns="0" rtlCol="0" anchor="ctr"/>
          <a:lstStyle/>
          <a:p>
            <a:pPr indent="0" marL="0">
              <a:buNone/>
            </a:pPr>
            <a:r>
              <a:rPr lang="en-US" sz="2100" b="1" dirty="0">
                <a:solidFill>
                  <a:schemeClr val="tx1"/>
                </a:solidFill>
              </a:rPr>
              <a:t>Réseaux de points de vente</a:t>
            </a:r>
            <a:endParaRPr lang="en-US" sz="2100" dirty="0"/>
          </a:p>
        </p:txBody>
      </p:sp>
      <p:sp>
        <p:nvSpPr>
          <p:cNvPr id="8" name="Réseaux"/>
          <p:cNvSpPr txBox="1"/>
          <p:nvPr/>
        </p:nvSpPr>
        <p:spPr>
          <a:xfrm>
            <a:off x="868680" y="2788920"/>
            <a:ext cx="4846320" cy="2011680"/>
          </a:xfrm>
          <a:prstGeom prst="rect">
            <a:avLst/>
          </a:prstGeom>
          <a:noFill/>
          <a:ln/>
        </p:spPr>
        <p:txBody>
          <a:bodyPr wrap="square" lIns="0" tIns="0" rIns="0" bIns="0" rtlCol="0" anchor="t"/>
          <a:lstStyle/>
          <a:p>
            <a:pPr marL="342900" indent="-342900">
              <a:spcAft>
                <a:spcPts val="600"/>
              </a:spcAft>
              <a:buSzPct val="100000"/>
              <a:buChar char="•"/>
            </a:pPr>
            <a:r>
              <a:rPr lang="en-US" sz="1500" dirty="0">
                <a:solidFill>
                  <a:schemeClr val="tx1"/>
                </a:solidFill>
              </a:rPr>
              <a:t>Magasins propres, franchisés, en gérance libre</a:t>
            </a:r>
            <a:endParaRPr lang="en-US" sz="1500" dirty="0"/>
          </a:p>
          <a:p>
            <a:pPr marL="342900" indent="-342900">
              <a:spcAft>
                <a:spcPts val="600"/>
              </a:spcAft>
              <a:buSzPct val="100000"/>
              <a:buChar char="•"/>
            </a:pPr>
            <a:r>
              <a:rPr lang="en-US" sz="1500" dirty="0">
                <a:solidFill>
                  <a:schemeClr val="tx1"/>
                </a:solidFill>
              </a:rPr>
              <a:t>Chiffre d’affaires d’un nouveau point avant de signer le bail</a:t>
            </a:r>
            <a:endParaRPr lang="en-US" sz="1500" dirty="0"/>
          </a:p>
          <a:p>
            <a:pPr marL="342900" indent="-342900">
              <a:spcAft>
                <a:spcPts val="600"/>
              </a:spcAft>
              <a:buSzPct val="100000"/>
              <a:buChar char="•"/>
            </a:pPr>
            <a:r>
              <a:rPr lang="en-US" sz="1500" dirty="0">
                <a:solidFill>
                  <a:schemeClr val="tx1"/>
                </a:solidFill>
              </a:rPr>
              <a:t>CA par m², par habitant, rentabilité et point mort</a:t>
            </a:r>
            <a:endParaRPr lang="en-US" sz="1500" dirty="0"/>
          </a:p>
          <a:p>
            <a:pPr marL="342900" indent="-342900">
              <a:spcAft>
                <a:spcPts val="600"/>
              </a:spcAft>
              <a:buSzPct val="100000"/>
              <a:buChar char="•"/>
            </a:pPr>
            <a:r>
              <a:rPr lang="en-US" sz="1500" dirty="0">
                <a:solidFill>
                  <a:schemeClr val="tx1"/>
                </a:solidFill>
              </a:rPr>
              <a:t>Concurrents cartographiés et chiffrés</a:t>
            </a:r>
            <a:endParaRPr lang="en-US" sz="1500" dirty="0"/>
          </a:p>
        </p:txBody>
      </p:sp>
      <p:sp>
        <p:nvSpPr>
          <p:cNvPr id="9" name="Carte"/>
          <p:cNvSpPr/>
          <p:nvPr/>
        </p:nvSpPr>
        <p:spPr>
          <a:xfrm>
            <a:off x="6172200" y="1783080"/>
            <a:ext cx="5440680" cy="3246120"/>
          </a:xfrm>
          <a:prstGeom prst="roundRect">
            <a:avLst>
              <a:gd name="adj" fmla="val 3944"/>
            </a:avLst>
          </a:prstGeom>
          <a:solidFill>
            <a:schemeClr val="bg1"/>
          </a:solidFill>
          <a:ln w="9525">
            <a:solidFill>
              <a:srgbClr val="E7E9F0"/>
            </a:solidFill>
            <a:prstDash val="solid"/>
          </a:ln>
          <a:effectLst>
            <a:outerShdw sx="100000" sy="100000" kx="0" ky="0" algn="bl" rotWithShape="0" blurRad="177800" dist="38100" dir="5400000">
              <a:srgbClr val="1E1B4B">
                <a:alpha val="16000"/>
              </a:srgbClr>
            </a:outerShdw>
          </a:effectLst>
        </p:spPr>
      </p:sp>
      <p:sp>
        <p:nvSpPr>
          <p:cNvPr id="10" name="Pastille"/>
          <p:cNvSpPr/>
          <p:nvPr/>
        </p:nvSpPr>
        <p:spPr>
          <a:xfrm>
            <a:off x="6492240" y="2103120"/>
            <a:ext cx="566928" cy="566928"/>
          </a:xfrm>
          <a:prstGeom prst="roundRect">
            <a:avLst>
              <a:gd name="adj" fmla="val 19355"/>
            </a:avLst>
          </a:prstGeom>
          <a:solidFill>
            <a:srgbClr val="EEF0FF"/>
          </a:solidFill>
          <a:ln/>
        </p:spPr>
      </p:sp>
      <p:pic>
        <p:nvPicPr>
          <p:cNvPr id="11" name="Icône" descr="preencoded.png">    </p:cNvPr>
          <p:cNvPicPr>
            <a:picLocks noChangeAspect="1"/>
          </p:cNvPicPr>
          <p:nvPr/>
        </p:nvPicPr>
        <p:blipFill>
          <a:blip r:embed="rId2"/>
          <a:stretch>
            <a:fillRect/>
          </a:stretch>
        </p:blipFill>
        <p:spPr>
          <a:xfrm>
            <a:off x="6616964" y="2227844"/>
            <a:ext cx="317480" cy="317480"/>
          </a:xfrm>
          <a:prstGeom prst="rect">
            <a:avLst/>
          </a:prstGeom>
        </p:spPr>
      </p:pic>
      <p:sp>
        <p:nvSpPr>
          <p:cNvPr id="12" name="Text 8"/>
          <p:cNvSpPr txBox="1"/>
          <p:nvPr/>
        </p:nvSpPr>
        <p:spPr>
          <a:xfrm>
            <a:off x="7223760" y="2148840"/>
            <a:ext cx="4114800" cy="457200"/>
          </a:xfrm>
          <a:prstGeom prst="rect">
            <a:avLst/>
          </a:prstGeom>
          <a:noFill/>
          <a:ln/>
        </p:spPr>
        <p:txBody>
          <a:bodyPr wrap="square" lIns="0" tIns="0" rIns="0" bIns="0" rtlCol="0" anchor="ctr"/>
          <a:lstStyle/>
          <a:p>
            <a:pPr indent="0" marL="0">
              <a:buNone/>
            </a:pPr>
            <a:r>
              <a:rPr lang="en-US" sz="2100" b="1" dirty="0">
                <a:solidFill>
                  <a:schemeClr val="tx1"/>
                </a:solidFill>
              </a:rPr>
              <a:t>Distributeurs</a:t>
            </a:r>
            <a:endParaRPr lang="en-US" sz="2100" dirty="0"/>
          </a:p>
        </p:txBody>
      </p:sp>
      <p:sp>
        <p:nvSpPr>
          <p:cNvPr id="13" name="Distributeurs"/>
          <p:cNvSpPr txBox="1"/>
          <p:nvPr/>
        </p:nvSpPr>
        <p:spPr>
          <a:xfrm>
            <a:off x="6492240" y="2788920"/>
            <a:ext cx="4846320" cy="2011680"/>
          </a:xfrm>
          <a:prstGeom prst="rect">
            <a:avLst/>
          </a:prstGeom>
          <a:noFill/>
          <a:ln/>
        </p:spPr>
        <p:txBody>
          <a:bodyPr wrap="square" lIns="0" tIns="0" rIns="0" bIns="0" rtlCol="0" anchor="t"/>
          <a:lstStyle/>
          <a:p>
            <a:pPr marL="342900" indent="-342900">
              <a:spcAft>
                <a:spcPts val="600"/>
              </a:spcAft>
              <a:buSzPct val="100000"/>
              <a:buChar char="•"/>
            </a:pPr>
            <a:r>
              <a:rPr lang="en-US" sz="1500" dirty="0">
                <a:solidFill>
                  <a:schemeClr val="tx1"/>
                </a:solidFill>
              </a:rPr>
              <a:t>Vos clients (épiceries, pharmacies, cafés…) sur la carte</a:t>
            </a:r>
            <a:endParaRPr lang="en-US" sz="1500" dirty="0"/>
          </a:p>
          <a:p>
            <a:pPr marL="342900" indent="-342900">
              <a:spcAft>
                <a:spcPts val="600"/>
              </a:spcAft>
              <a:buSzPct val="100000"/>
              <a:buChar char="•"/>
            </a:pPr>
            <a:r>
              <a:rPr lang="en-US" sz="1500" dirty="0">
                <a:solidFill>
                  <a:schemeClr val="tx1"/>
                </a:solidFill>
              </a:rPr>
              <a:t>Zones couvertes et zones blanches, hexagone par hexagone</a:t>
            </a:r>
            <a:endParaRPr lang="en-US" sz="1500" dirty="0"/>
          </a:p>
          <a:p>
            <a:pPr marL="342900" indent="-342900">
              <a:spcAft>
                <a:spcPts val="600"/>
              </a:spcAft>
              <a:buSzPct val="100000"/>
              <a:buChar char="•"/>
            </a:pPr>
            <a:r>
              <a:rPr lang="en-US" sz="1500" dirty="0">
                <a:solidFill>
                  <a:schemeClr val="tx1"/>
                </a:solidFill>
              </a:rPr>
              <a:t>Potentiel des zones non couvertes, chiffré</a:t>
            </a:r>
            <a:endParaRPr lang="en-US" sz="1500" dirty="0"/>
          </a:p>
          <a:p>
            <a:pPr marL="342900" indent="-342900">
              <a:spcAft>
                <a:spcPts val="600"/>
              </a:spcAft>
              <a:buSzPct val="100000"/>
              <a:buChar char="•"/>
            </a:pPr>
            <a:r>
              <a:rPr lang="en-US" sz="1500" dirty="0">
                <a:solidFill>
                  <a:schemeClr val="tx1"/>
                </a:solidFill>
              </a:rPr>
              <a:t>Tournées et visites des commerciaux</a:t>
            </a:r>
            <a:endParaRPr lang="en-US" sz="1500" dirty="0"/>
          </a:p>
        </p:txBody>
      </p:sp>
      <p:sp>
        <p:nvSpPr>
          <p:cNvPr id="14" name="Secteurs"/>
          <p:cNvSpPr txBox="1"/>
          <p:nvPr/>
        </p:nvSpPr>
        <p:spPr>
          <a:xfrm>
            <a:off x="548640" y="5349240"/>
            <a:ext cx="11064240" cy="457200"/>
          </a:xfrm>
          <a:prstGeom prst="rect">
            <a:avLst/>
          </a:prstGeom>
          <a:noFill/>
          <a:ln/>
        </p:spPr>
        <p:txBody>
          <a:bodyPr wrap="square" lIns="0" tIns="0" rIns="0" bIns="0" rtlCol="0" anchor="ctr"/>
          <a:lstStyle/>
          <a:p>
            <a:pPr algn="ctr" indent="0" marL="0">
              <a:buNone/>
            </a:pPr>
            <a:r>
              <a:rPr lang="en-US" sz="1600" b="1" dirty="0">
                <a:solidFill>
                  <a:schemeClr val="accent1"/>
                </a:solidFill>
              </a:rPr>
              <a:t>Agroalimentaire · Alimentaire · Pharmacie et parapharmacie · Habillement · Boissons · Produits laitiers</a:t>
            </a:r>
            <a:endParaRPr lang="en-US" sz="1600" dirty="0"/>
          </a:p>
        </p:txBody>
      </p:sp>
      <p:sp>
        <p:nvSpPr>
          <p:cNvPr id="25" name="Slide Number Placeholder 0"/>
          <p:cNvSpPr>
            <a:spLocks noGrp="1"/>
          </p:cNvSpPr>
          <p:nvPr>
            <p:ph type="sldNum" sz="quarter" idx="4294967295"/>
          </p:nvPr>
        </p:nvSpPr>
        <p:spPr>
          <a:xfrm>
            <a:off x="11155680"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64748B"/>
                </a:solidFill>
              </a:defRPr>
            </a:lvl1pPr>
          </a:lstStyle>
          <a:p>
            <a:pPr algn="r"/>
            <a:fld id="{F7021451-1387-4CA6-816F-3879F97B5CBC}" type="slidenum">
              <a:rPr b="0"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p:nvPr>
            <p:ph idx="100" type="title" hasCustomPrompt="1"/>
          </p:nvPr>
        </p:nvSpPr>
        <p:spPr>
          <a:xfrm>
            <a:off x="822960" y="2651760"/>
            <a:ext cx="8686800" cy="1005840"/>
          </a:xfrm>
          <a:prstGeom prst="rect">
            <a:avLst/>
          </a:prstGeom>
          <a:noFill/>
          <a:ln/>
        </p:spPr>
        <p:txBody>
          <a:bodyPr wrap="square" lIns="0" tIns="0" rIns="0" bIns="0" rtlCol="0" anchor="t"/>
          <a:lstStyle/>
          <a:p>
            <a:pPr algn="l" indent="0" marL="0">
              <a:buNone/>
            </a:pPr>
            <a:r>
              <a:rPr lang="en-US" sz="4000" b="1" dirty="0">
                <a:solidFill>
                  <a:schemeClr val="bg1"/>
                </a:solidFill>
              </a:rPr>
              <a:t>Ce que fait GeoPulse</a:t>
            </a:r>
            <a:endParaRPr lang="en-US" sz="4000" dirty="0"/>
          </a:p>
        </p:txBody>
      </p:sp>
      <p:sp>
        <p:nvSpPr>
          <p:cNvPr id="3" name="Text 0"/>
          <p:cNvSpPr/>
          <p:nvPr>
            <p:ph idx="101" type="body" hasCustomPrompt="1"/>
          </p:nvPr>
        </p:nvSpPr>
        <p:spPr>
          <a:xfrm>
            <a:off x="822960" y="3703320"/>
            <a:ext cx="8686800" cy="731520"/>
          </a:xfrm>
          <a:prstGeom prst="rect">
            <a:avLst/>
          </a:prstGeom>
          <a:noFill/>
          <a:ln/>
        </p:spPr>
        <p:txBody>
          <a:bodyPr wrap="square" lIns="0" tIns="0" rIns="0" bIns="0" rtlCol="0" anchor="t"/>
          <a:lstStyle/>
          <a:p>
            <a:pPr indent="0" marL="0">
              <a:buNone/>
            </a:pPr>
            <a:r>
              <a:rPr lang="en-US" sz="1800" dirty="0">
                <a:solidFill>
                  <a:schemeClr val="bg2"/>
                </a:solidFill>
              </a:rPr>
              <a:t>Dix outils, une seule carte</a:t>
            </a:r>
            <a:endParaRPr lang="en-US" sz="18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64240" cy="685800"/>
          </a:xfrm>
          <a:prstGeom prst="rect">
            <a:avLst/>
          </a:prstGeom>
          <a:noFill/>
          <a:ln/>
        </p:spPr>
        <p:txBody>
          <a:bodyPr wrap="square" lIns="0" tIns="0" rIns="0" bIns="0" rtlCol="0" anchor="t"/>
          <a:lstStyle/>
          <a:p>
            <a:pPr algn="l" indent="0" marL="0">
              <a:buNone/>
            </a:pPr>
            <a:r>
              <a:rPr lang="en-US" sz="3400" b="1" dirty="0">
                <a:solidFill>
                  <a:schemeClr val="tx1"/>
                </a:solidFill>
              </a:rPr>
              <a:t>Votre réseau et vos concurrents sur la carte</a:t>
            </a:r>
            <a:endParaRPr lang="en-US" sz="3400" dirty="0"/>
          </a:p>
        </p:txBody>
      </p:sp>
      <p:sp>
        <p:nvSpPr>
          <p:cNvPr id="3" name="Text 1"/>
          <p:cNvSpPr/>
          <p:nvPr>
            <p:ph idx="102" type="body" hasCustomPrompt="1"/>
          </p:nvPr>
        </p:nvSpPr>
        <p:spPr>
          <a:xfrm>
            <a:off x="548640" y="1051560"/>
            <a:ext cx="11064240" cy="411480"/>
          </a:xfrm>
          <a:prstGeom prst="rect">
            <a:avLst/>
          </a:prstGeom>
          <a:noFill/>
          <a:ln/>
        </p:spPr>
        <p:txBody>
          <a:bodyPr wrap="square" lIns="0" tIns="0" rIns="0" bIns="0" rtlCol="0" anchor="t"/>
          <a:lstStyle/>
          <a:p>
            <a:pPr indent="0" marL="0">
              <a:buNone/>
            </a:pPr>
            <a:r>
              <a:rPr lang="en-US" sz="1600" dirty="0">
                <a:solidFill>
                  <a:srgbClr val="64748B"/>
                </a:solidFill>
              </a:rPr>
              <a:t>Chaque point avec ses informations, ses ventes et son indice de passage</a:t>
            </a:r>
            <a:endParaRPr lang="en-US" sz="1600" dirty="0"/>
          </a:p>
        </p:txBody>
      </p:sp>
      <p:sp>
        <p:nvSpPr>
          <p:cNvPr id="4" name="Cadre g3-couche"/>
          <p:cNvSpPr/>
          <p:nvPr/>
        </p:nvSpPr>
        <p:spPr>
          <a:xfrm>
            <a:off x="548640" y="1755648"/>
            <a:ext cx="6949440" cy="4398264"/>
          </a:xfrm>
          <a:prstGeom prst="roundRect">
            <a:avLst>
              <a:gd name="adj" fmla="val 2495"/>
            </a:avLst>
          </a:prstGeom>
          <a:solidFill>
            <a:schemeClr val="bg1"/>
          </a:solidFill>
          <a:ln w="9525">
            <a:solidFill>
              <a:srgbClr val="E7E9F0"/>
            </a:solidFill>
            <a:prstDash val="solid"/>
          </a:ln>
          <a:effectLst>
            <a:outerShdw sx="100000" sy="100000" kx="0" ky="0" algn="bl" rotWithShape="0" blurRad="177800" dist="38100" dir="5400000">
              <a:srgbClr val="1E1B4B">
                <a:alpha val="16000"/>
              </a:srgbClr>
            </a:outerShdw>
          </a:effectLst>
        </p:spPr>
      </p:sp>
      <p:pic>
        <p:nvPicPr>
          <p:cNvPr id="5" name="Capture g3-couche" descr="Carte avec générateurs de trafic">    </p:cNvPr>
          <p:cNvPicPr>
            <a:picLocks noChangeAspect="1"/>
          </p:cNvPicPr>
          <p:nvPr/>
        </p:nvPicPr>
        <p:blipFill>
          <a:blip r:embed="rId1"/>
          <a:stretch>
            <a:fillRect/>
          </a:stretch>
        </p:blipFill>
        <p:spPr>
          <a:xfrm>
            <a:off x="621792" y="1828800"/>
            <a:ext cx="6803136" cy="4251960"/>
          </a:xfrm>
          <a:prstGeom prst="rect">
            <a:avLst/>
          </a:prstGeom>
        </p:spPr>
      </p:pic>
      <p:sp>
        <p:nvSpPr>
          <p:cNvPr id="6" name="Pastille"/>
          <p:cNvSpPr/>
          <p:nvPr/>
        </p:nvSpPr>
        <p:spPr>
          <a:xfrm>
            <a:off x="7863840" y="1783080"/>
            <a:ext cx="457200" cy="457200"/>
          </a:xfrm>
          <a:prstGeom prst="roundRect">
            <a:avLst>
              <a:gd name="adj" fmla="val 24000"/>
            </a:avLst>
          </a:prstGeom>
          <a:solidFill>
            <a:srgbClr val="EEF0FF"/>
          </a:solidFill>
          <a:ln/>
        </p:spPr>
      </p:sp>
      <p:pic>
        <p:nvPicPr>
          <p:cNvPr id="7" name="Icône" descr="preencoded.png">    </p:cNvPr>
          <p:cNvPicPr>
            <a:picLocks noChangeAspect="1"/>
          </p:cNvPicPr>
          <p:nvPr/>
        </p:nvPicPr>
        <p:blipFill>
          <a:blip r:embed="rId2"/>
          <a:stretch>
            <a:fillRect/>
          </a:stretch>
        </p:blipFill>
        <p:spPr>
          <a:xfrm>
            <a:off x="7964424" y="1883664"/>
            <a:ext cx="256032" cy="256032"/>
          </a:xfrm>
          <a:prstGeom prst="rect">
            <a:avLst/>
          </a:prstGeom>
        </p:spPr>
      </p:pic>
      <p:sp>
        <p:nvSpPr>
          <p:cNvPr id="8" name="Texte Vos propres catégories"/>
          <p:cNvSpPr txBox="1"/>
          <p:nvPr/>
        </p:nvSpPr>
        <p:spPr>
          <a:xfrm>
            <a:off x="8485632" y="1746504"/>
            <a:ext cx="3127248" cy="777240"/>
          </a:xfrm>
          <a:prstGeom prst="rect">
            <a:avLst/>
          </a:prstGeom>
          <a:noFill/>
          <a:ln/>
        </p:spPr>
        <p:txBody>
          <a:bodyPr wrap="square" lIns="0" tIns="0" rIns="0" bIns="0" rtlCol="0" anchor="t"/>
          <a:lstStyle/>
          <a:p>
            <a:pPr indent="0" marL="0">
              <a:spcAft>
                <a:spcPts val="200"/>
              </a:spcAft>
              <a:buNone/>
            </a:pPr>
            <a:r>
              <a:rPr lang="en-US" sz="1600" b="1" dirty="0">
                <a:solidFill>
                  <a:schemeClr val="tx1"/>
                </a:solidFill>
              </a:rPr>
              <a:t>Vos propres catégories</a:t>
            </a:r>
            <a:endParaRPr lang="en-US" sz="1600" dirty="0"/>
          </a:p>
          <a:p>
            <a:pPr indent="0" marL="0">
              <a:spcAft>
                <a:spcPts val="200"/>
              </a:spcAft>
              <a:buNone/>
            </a:pPr>
            <a:r>
              <a:rPr lang="en-US" sz="1400" dirty="0">
                <a:solidFill>
                  <a:srgbClr val="64748B"/>
                </a:solidFill>
              </a:rPr>
              <a:t>Magasin propre, franchise, client, concurrent, prospect : vous créez vos types et leurs champs.</a:t>
            </a:r>
            <a:endParaRPr lang="en-US" sz="1600" dirty="0"/>
          </a:p>
        </p:txBody>
      </p:sp>
      <p:sp>
        <p:nvSpPr>
          <p:cNvPr id="9" name="Pastille"/>
          <p:cNvSpPr/>
          <p:nvPr/>
        </p:nvSpPr>
        <p:spPr>
          <a:xfrm>
            <a:off x="7863840" y="2880360"/>
            <a:ext cx="457200" cy="457200"/>
          </a:xfrm>
          <a:prstGeom prst="roundRect">
            <a:avLst>
              <a:gd name="adj" fmla="val 24000"/>
            </a:avLst>
          </a:prstGeom>
          <a:solidFill>
            <a:srgbClr val="EEF0FF"/>
          </a:solidFill>
          <a:ln/>
        </p:spPr>
      </p:sp>
      <p:pic>
        <p:nvPicPr>
          <p:cNvPr id="10" name="Icône" descr="preencoded.png">    </p:cNvPr>
          <p:cNvPicPr>
            <a:picLocks noChangeAspect="1"/>
          </p:cNvPicPr>
          <p:nvPr/>
        </p:nvPicPr>
        <p:blipFill>
          <a:blip r:embed="rId3"/>
          <a:stretch>
            <a:fillRect/>
          </a:stretch>
        </p:blipFill>
        <p:spPr>
          <a:xfrm>
            <a:off x="7964424" y="2980944"/>
            <a:ext cx="256032" cy="256032"/>
          </a:xfrm>
          <a:prstGeom prst="rect">
            <a:avLst/>
          </a:prstGeom>
        </p:spPr>
      </p:pic>
      <p:sp>
        <p:nvSpPr>
          <p:cNvPr id="11" name="Texte Une fiche par point"/>
          <p:cNvSpPr txBox="1"/>
          <p:nvPr/>
        </p:nvSpPr>
        <p:spPr>
          <a:xfrm>
            <a:off x="8485632" y="2843784"/>
            <a:ext cx="3127248" cy="777240"/>
          </a:xfrm>
          <a:prstGeom prst="rect">
            <a:avLst/>
          </a:prstGeom>
          <a:noFill/>
          <a:ln/>
        </p:spPr>
        <p:txBody>
          <a:bodyPr wrap="square" lIns="0" tIns="0" rIns="0" bIns="0" rtlCol="0" anchor="t"/>
          <a:lstStyle/>
          <a:p>
            <a:pPr indent="0" marL="0">
              <a:spcAft>
                <a:spcPts val="200"/>
              </a:spcAft>
              <a:buNone/>
            </a:pPr>
            <a:r>
              <a:rPr lang="en-US" sz="1600" b="1" dirty="0">
                <a:solidFill>
                  <a:schemeClr val="tx1"/>
                </a:solidFill>
              </a:rPr>
              <a:t>Une fiche par point</a:t>
            </a:r>
            <a:endParaRPr lang="en-US" sz="1600" dirty="0"/>
          </a:p>
          <a:p>
            <a:pPr indent="0" marL="0">
              <a:spcAft>
                <a:spcPts val="200"/>
              </a:spcAft>
              <a:buNone/>
            </a:pPr>
            <a:r>
              <a:rPr lang="en-US" sz="1400" dirty="0">
                <a:solidFill>
                  <a:srgbClr val="64748B"/>
                </a:solidFill>
              </a:rPr>
              <a:t>Code ERP, surface, gérant, CA des 12 derniers mois et son évolution.</a:t>
            </a:r>
            <a:endParaRPr lang="en-US" sz="1600" dirty="0"/>
          </a:p>
        </p:txBody>
      </p:sp>
      <p:sp>
        <p:nvSpPr>
          <p:cNvPr id="12" name="Pastille"/>
          <p:cNvSpPr/>
          <p:nvPr/>
        </p:nvSpPr>
        <p:spPr>
          <a:xfrm>
            <a:off x="7863840" y="3977640"/>
            <a:ext cx="457200" cy="457200"/>
          </a:xfrm>
          <a:prstGeom prst="roundRect">
            <a:avLst>
              <a:gd name="adj" fmla="val 24000"/>
            </a:avLst>
          </a:prstGeom>
          <a:solidFill>
            <a:srgbClr val="EEF0FF"/>
          </a:solidFill>
          <a:ln/>
        </p:spPr>
      </p:sp>
      <p:pic>
        <p:nvPicPr>
          <p:cNvPr id="13" name="Icône" descr="preencoded.png">    </p:cNvPr>
          <p:cNvPicPr>
            <a:picLocks noChangeAspect="1"/>
          </p:cNvPicPr>
          <p:nvPr/>
        </p:nvPicPr>
        <p:blipFill>
          <a:blip r:embed="rId4"/>
          <a:stretch>
            <a:fillRect/>
          </a:stretch>
        </p:blipFill>
        <p:spPr>
          <a:xfrm>
            <a:off x="7964424" y="4078224"/>
            <a:ext cx="256032" cy="256032"/>
          </a:xfrm>
          <a:prstGeom prst="rect">
            <a:avLst/>
          </a:prstGeom>
        </p:spPr>
      </p:pic>
      <p:sp>
        <p:nvSpPr>
          <p:cNvPr id="14" name="Texte Générateurs de trafic"/>
          <p:cNvSpPr txBox="1"/>
          <p:nvPr/>
        </p:nvSpPr>
        <p:spPr>
          <a:xfrm>
            <a:off x="8485632" y="3941064"/>
            <a:ext cx="3127248" cy="960120"/>
          </a:xfrm>
          <a:prstGeom prst="rect">
            <a:avLst/>
          </a:prstGeom>
          <a:noFill/>
          <a:ln/>
        </p:spPr>
        <p:txBody>
          <a:bodyPr wrap="square" lIns="0" tIns="0" rIns="0" bIns="0" rtlCol="0" anchor="t"/>
          <a:lstStyle/>
          <a:p>
            <a:pPr indent="0" marL="0">
              <a:spcAft>
                <a:spcPts val="200"/>
              </a:spcAft>
              <a:buNone/>
            </a:pPr>
            <a:r>
              <a:rPr lang="en-US" sz="1600" b="1" dirty="0">
                <a:solidFill>
                  <a:schemeClr val="tx1"/>
                </a:solidFill>
              </a:rPr>
              <a:t>Générateurs de trafic</a:t>
            </a:r>
            <a:endParaRPr lang="en-US" sz="1600" dirty="0"/>
          </a:p>
          <a:p>
            <a:pPr indent="0" marL="0">
              <a:spcAft>
                <a:spcPts val="200"/>
              </a:spcAft>
              <a:buNone/>
            </a:pPr>
            <a:r>
              <a:rPr lang="en-US" sz="1400" dirty="0">
                <a:solidFill>
                  <a:srgbClr val="64748B"/>
                </a:solidFill>
              </a:rPr>
              <a:t>Écoles, mosquées, hôpitaux, gares, marchés : un indice de passage pour chaque adresse.</a:t>
            </a:r>
            <a:endParaRPr lang="en-US" sz="1600" dirty="0"/>
          </a:p>
        </p:txBody>
      </p:sp>
      <p:sp>
        <p:nvSpPr>
          <p:cNvPr id="15" name="Pastille"/>
          <p:cNvSpPr/>
          <p:nvPr/>
        </p:nvSpPr>
        <p:spPr>
          <a:xfrm>
            <a:off x="7863840" y="5257800"/>
            <a:ext cx="457200" cy="457200"/>
          </a:xfrm>
          <a:prstGeom prst="roundRect">
            <a:avLst>
              <a:gd name="adj" fmla="val 24000"/>
            </a:avLst>
          </a:prstGeom>
          <a:solidFill>
            <a:srgbClr val="EEF0FF"/>
          </a:solidFill>
          <a:ln/>
        </p:spPr>
      </p:sp>
      <p:pic>
        <p:nvPicPr>
          <p:cNvPr id="16" name="Icône" descr="preencoded.png">    </p:cNvPr>
          <p:cNvPicPr>
            <a:picLocks noChangeAspect="1"/>
          </p:cNvPicPr>
          <p:nvPr/>
        </p:nvPicPr>
        <p:blipFill>
          <a:blip r:embed="rId5"/>
          <a:stretch>
            <a:fillRect/>
          </a:stretch>
        </p:blipFill>
        <p:spPr>
          <a:xfrm>
            <a:off x="7964424" y="5358384"/>
            <a:ext cx="256032" cy="256032"/>
          </a:xfrm>
          <a:prstGeom prst="rect">
            <a:avLst/>
          </a:prstGeom>
        </p:spPr>
      </p:pic>
      <p:sp>
        <p:nvSpPr>
          <p:cNvPr id="17" name="Texte Validation des points"/>
          <p:cNvSpPr txBox="1"/>
          <p:nvPr/>
        </p:nvSpPr>
        <p:spPr>
          <a:xfrm>
            <a:off x="8485632" y="5221224"/>
            <a:ext cx="3127248" cy="777240"/>
          </a:xfrm>
          <a:prstGeom prst="rect">
            <a:avLst/>
          </a:prstGeom>
          <a:noFill/>
          <a:ln/>
        </p:spPr>
        <p:txBody>
          <a:bodyPr wrap="square" lIns="0" tIns="0" rIns="0" bIns="0" rtlCol="0" anchor="t"/>
          <a:lstStyle/>
          <a:p>
            <a:pPr indent="0" marL="0">
              <a:spcAft>
                <a:spcPts val="200"/>
              </a:spcAft>
              <a:buNone/>
            </a:pPr>
            <a:r>
              <a:rPr lang="en-US" sz="1600" b="1" dirty="0">
                <a:solidFill>
                  <a:schemeClr val="tx1"/>
                </a:solidFill>
              </a:rPr>
              <a:t>Validation des points</a:t>
            </a:r>
            <a:endParaRPr lang="en-US" sz="1600" dirty="0"/>
          </a:p>
          <a:p>
            <a:pPr indent="0" marL="0">
              <a:spcAft>
                <a:spcPts val="200"/>
              </a:spcAft>
              <a:buNone/>
            </a:pPr>
            <a:r>
              <a:rPr lang="en-US" sz="1400" dirty="0">
                <a:solidFill>
                  <a:srgbClr val="64748B"/>
                </a:solidFill>
              </a:rPr>
              <a:t>Le commercial propose, le manager valide : une base propre.</a:t>
            </a:r>
            <a:endParaRPr lang="en-US" sz="1600" dirty="0"/>
          </a:p>
        </p:txBody>
      </p:sp>
      <p:sp>
        <p:nvSpPr>
          <p:cNvPr id="25" name="Slide Number Placeholder 0"/>
          <p:cNvSpPr>
            <a:spLocks noGrp="1"/>
          </p:cNvSpPr>
          <p:nvPr>
            <p:ph type="sldNum" sz="quarter" idx="4294967295"/>
          </p:nvPr>
        </p:nvSpPr>
        <p:spPr>
          <a:xfrm>
            <a:off x="11155680"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64748B"/>
                </a:solidFill>
              </a:defRPr>
            </a:lvl1pPr>
          </a:lstStyle>
          <a:p>
            <a:pPr algn="r"/>
            <a:fld id="{F7021451-1387-4CA6-816F-3879F97B5CBC}" type="slidenum">
              <a:rPr b="0"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64240" cy="685800"/>
          </a:xfrm>
          <a:prstGeom prst="rect">
            <a:avLst/>
          </a:prstGeom>
          <a:noFill/>
          <a:ln/>
        </p:spPr>
        <p:txBody>
          <a:bodyPr wrap="square" lIns="0" tIns="0" rIns="0" bIns="0" rtlCol="0" anchor="t"/>
          <a:lstStyle/>
          <a:p>
            <a:pPr algn="l" indent="0" marL="0">
              <a:buNone/>
            </a:pPr>
            <a:r>
              <a:rPr lang="en-US" sz="3400" b="1" dirty="0">
                <a:solidFill>
                  <a:schemeClr val="tx1"/>
                </a:solidFill>
              </a:rPr>
              <a:t>Simulateur : le CA d’un emplacement en un clic</a:t>
            </a:r>
            <a:endParaRPr lang="en-US" sz="3400" dirty="0"/>
          </a:p>
        </p:txBody>
      </p:sp>
      <p:sp>
        <p:nvSpPr>
          <p:cNvPr id="3" name="Text 1"/>
          <p:cNvSpPr/>
          <p:nvPr>
            <p:ph idx="102" type="body" hasCustomPrompt="1"/>
          </p:nvPr>
        </p:nvSpPr>
        <p:spPr>
          <a:xfrm>
            <a:off x="548640" y="1051560"/>
            <a:ext cx="11064240" cy="411480"/>
          </a:xfrm>
          <a:prstGeom prst="rect">
            <a:avLst/>
          </a:prstGeom>
          <a:noFill/>
          <a:ln/>
        </p:spPr>
        <p:txBody>
          <a:bodyPr wrap="square" lIns="0" tIns="0" rIns="0" bIns="0" rtlCol="0" anchor="t"/>
          <a:lstStyle/>
          <a:p>
            <a:pPr indent="0" marL="0">
              <a:buNone/>
            </a:pPr>
            <a:r>
              <a:rPr lang="en-US" sz="1600" dirty="0">
                <a:solidFill>
                  <a:srgbClr val="64748B"/>
                </a:solidFill>
              </a:rPr>
              <a:t>Cliquez sur la carte, GeoPulse estime le chiffre d’affaires mensuel et sa fourchette</a:t>
            </a:r>
            <a:endParaRPr lang="en-US" sz="1600" dirty="0"/>
          </a:p>
        </p:txBody>
      </p:sp>
      <p:sp>
        <p:nvSpPr>
          <p:cNvPr id="4" name="Cadre t1-pied-c"/>
          <p:cNvSpPr/>
          <p:nvPr/>
        </p:nvSpPr>
        <p:spPr>
          <a:xfrm>
            <a:off x="702977" y="1645920"/>
            <a:ext cx="2937446" cy="4617720"/>
          </a:xfrm>
          <a:prstGeom prst="roundRect">
            <a:avLst>
              <a:gd name="adj" fmla="val 3735"/>
            </a:avLst>
          </a:prstGeom>
          <a:solidFill>
            <a:schemeClr val="bg1"/>
          </a:solidFill>
          <a:ln w="9525">
            <a:solidFill>
              <a:srgbClr val="E7E9F0"/>
            </a:solidFill>
            <a:prstDash val="solid"/>
          </a:ln>
          <a:effectLst>
            <a:outerShdw sx="100000" sy="100000" kx="0" ky="0" algn="bl" rotWithShape="0" blurRad="177800" dist="38100" dir="5400000">
              <a:srgbClr val="1E1B4B">
                <a:alpha val="16000"/>
              </a:srgbClr>
            </a:outerShdw>
          </a:effectLst>
        </p:spPr>
      </p:sp>
      <p:pic>
        <p:nvPicPr>
          <p:cNvPr id="5" name="Capture t1-pied-c" descr="Simulateur d’emplacement">    </p:cNvPr>
          <p:cNvPicPr>
            <a:picLocks noChangeAspect="1"/>
          </p:cNvPicPr>
          <p:nvPr/>
        </p:nvPicPr>
        <p:blipFill>
          <a:blip r:embed="rId1"/>
          <a:stretch>
            <a:fillRect/>
          </a:stretch>
        </p:blipFill>
        <p:spPr>
          <a:xfrm>
            <a:off x="776129" y="1719072"/>
            <a:ext cx="2791142" cy="4471416"/>
          </a:xfrm>
          <a:prstGeom prst="rect">
            <a:avLst/>
          </a:prstGeom>
        </p:spPr>
      </p:pic>
      <p:sp>
        <p:nvSpPr>
          <p:cNvPr id="6" name="Cadre i1-voiture-map"/>
          <p:cNvSpPr/>
          <p:nvPr/>
        </p:nvSpPr>
        <p:spPr>
          <a:xfrm>
            <a:off x="4069080" y="2163959"/>
            <a:ext cx="3794760" cy="3581642"/>
          </a:xfrm>
          <a:prstGeom prst="roundRect">
            <a:avLst>
              <a:gd name="adj" fmla="val 3064"/>
            </a:avLst>
          </a:prstGeom>
          <a:solidFill>
            <a:schemeClr val="bg1"/>
          </a:solidFill>
          <a:ln w="9525">
            <a:solidFill>
              <a:srgbClr val="E7E9F0"/>
            </a:solidFill>
            <a:prstDash val="solid"/>
          </a:ln>
          <a:effectLst>
            <a:outerShdw sx="100000" sy="100000" kx="0" ky="0" algn="bl" rotWithShape="0" blurRad="177800" dist="38100" dir="5400000">
              <a:srgbClr val="1E1B4B">
                <a:alpha val="16000"/>
              </a:srgbClr>
            </a:outerShdw>
          </a:effectLst>
        </p:spPr>
      </p:sp>
      <p:pic>
        <p:nvPicPr>
          <p:cNvPr id="7" name="Capture i1-voiture-map" descr="Zone à 10 minutes en voiture">    </p:cNvPr>
          <p:cNvPicPr>
            <a:picLocks noChangeAspect="1"/>
          </p:cNvPicPr>
          <p:nvPr/>
        </p:nvPicPr>
        <p:blipFill>
          <a:blip r:embed="rId2"/>
          <a:stretch>
            <a:fillRect/>
          </a:stretch>
        </p:blipFill>
        <p:spPr>
          <a:xfrm>
            <a:off x="4142232" y="2237111"/>
            <a:ext cx="3648456" cy="3435338"/>
          </a:xfrm>
          <a:prstGeom prst="rect">
            <a:avLst/>
          </a:prstGeom>
        </p:spPr>
      </p:pic>
      <p:sp>
        <p:nvSpPr>
          <p:cNvPr id="8" name="Pastille"/>
          <p:cNvSpPr/>
          <p:nvPr/>
        </p:nvSpPr>
        <p:spPr>
          <a:xfrm>
            <a:off x="8183880" y="1783080"/>
            <a:ext cx="457200" cy="457200"/>
          </a:xfrm>
          <a:prstGeom prst="roundRect">
            <a:avLst>
              <a:gd name="adj" fmla="val 24000"/>
            </a:avLst>
          </a:prstGeom>
          <a:solidFill>
            <a:srgbClr val="EEF0FF"/>
          </a:solidFill>
          <a:ln/>
        </p:spPr>
      </p:sp>
      <p:pic>
        <p:nvPicPr>
          <p:cNvPr id="9" name="Icône" descr="preencoded.png">    </p:cNvPr>
          <p:cNvPicPr>
            <a:picLocks noChangeAspect="1"/>
          </p:cNvPicPr>
          <p:nvPr/>
        </p:nvPicPr>
        <p:blipFill>
          <a:blip r:embed="rId3"/>
          <a:stretch>
            <a:fillRect/>
          </a:stretch>
        </p:blipFill>
        <p:spPr>
          <a:xfrm>
            <a:off x="8284464" y="1883664"/>
            <a:ext cx="256032" cy="256032"/>
          </a:xfrm>
          <a:prstGeom prst="rect">
            <a:avLst/>
          </a:prstGeom>
        </p:spPr>
      </p:pic>
      <p:sp>
        <p:nvSpPr>
          <p:cNvPr id="10" name="Texte Deux méthodes croisées"/>
          <p:cNvSpPr txBox="1"/>
          <p:nvPr/>
        </p:nvSpPr>
        <p:spPr>
          <a:xfrm>
            <a:off x="8805672" y="1746504"/>
            <a:ext cx="2852928" cy="960120"/>
          </a:xfrm>
          <a:prstGeom prst="rect">
            <a:avLst/>
          </a:prstGeom>
          <a:noFill/>
          <a:ln/>
        </p:spPr>
        <p:txBody>
          <a:bodyPr wrap="square" lIns="0" tIns="0" rIns="0" bIns="0" rtlCol="0" anchor="t"/>
          <a:lstStyle/>
          <a:p>
            <a:pPr indent="0" marL="0">
              <a:spcAft>
                <a:spcPts val="200"/>
              </a:spcAft>
              <a:buNone/>
            </a:pPr>
            <a:r>
              <a:rPr lang="en-US" sz="1600" b="1" dirty="0">
                <a:solidFill>
                  <a:schemeClr val="tx1"/>
                </a:solidFill>
              </a:rPr>
              <a:t>Deux méthodes croisées</a:t>
            </a:r>
            <a:endParaRPr lang="en-US" sz="1600" dirty="0"/>
          </a:p>
          <a:p>
            <a:pPr indent="0" marL="0">
              <a:spcAft>
                <a:spcPts val="200"/>
              </a:spcAft>
              <a:buNone/>
            </a:pPr>
            <a:r>
              <a:rPr lang="en-US" sz="1400" dirty="0">
                <a:solidFill>
                  <a:srgbClr val="64748B"/>
                </a:solidFill>
              </a:rPr>
              <a:t>Modèle gravitaire réglé sur vos ventes et magasins jumeaux les plus semblables.</a:t>
            </a:r>
            <a:endParaRPr lang="en-US" sz="1600" dirty="0"/>
          </a:p>
        </p:txBody>
      </p:sp>
      <p:sp>
        <p:nvSpPr>
          <p:cNvPr id="11" name="Pastille"/>
          <p:cNvSpPr/>
          <p:nvPr/>
        </p:nvSpPr>
        <p:spPr>
          <a:xfrm>
            <a:off x="8183880" y="2971800"/>
            <a:ext cx="457200" cy="457200"/>
          </a:xfrm>
          <a:prstGeom prst="roundRect">
            <a:avLst>
              <a:gd name="adj" fmla="val 24000"/>
            </a:avLst>
          </a:prstGeom>
          <a:solidFill>
            <a:srgbClr val="EEF0FF"/>
          </a:solidFill>
          <a:ln/>
        </p:spPr>
      </p:sp>
      <p:pic>
        <p:nvPicPr>
          <p:cNvPr id="12" name="Icône" descr="preencoded.png">    </p:cNvPr>
          <p:cNvPicPr>
            <a:picLocks noChangeAspect="1"/>
          </p:cNvPicPr>
          <p:nvPr/>
        </p:nvPicPr>
        <p:blipFill>
          <a:blip r:embed="rId4"/>
          <a:stretch>
            <a:fillRect/>
          </a:stretch>
        </p:blipFill>
        <p:spPr>
          <a:xfrm>
            <a:off x="8284464" y="3072384"/>
            <a:ext cx="256032" cy="256032"/>
          </a:xfrm>
          <a:prstGeom prst="rect">
            <a:avLst/>
          </a:prstGeom>
        </p:spPr>
      </p:pic>
      <p:sp>
        <p:nvSpPr>
          <p:cNvPr id="13" name="Texte Zone réelle"/>
          <p:cNvSpPr txBox="1"/>
          <p:nvPr/>
        </p:nvSpPr>
        <p:spPr>
          <a:xfrm>
            <a:off x="8805672" y="2935224"/>
            <a:ext cx="2852928" cy="960120"/>
          </a:xfrm>
          <a:prstGeom prst="rect">
            <a:avLst/>
          </a:prstGeom>
          <a:noFill/>
          <a:ln/>
        </p:spPr>
        <p:txBody>
          <a:bodyPr wrap="square" lIns="0" tIns="0" rIns="0" bIns="0" rtlCol="0" anchor="t"/>
          <a:lstStyle/>
          <a:p>
            <a:pPr indent="0" marL="0">
              <a:spcAft>
                <a:spcPts val="200"/>
              </a:spcAft>
              <a:buNone/>
            </a:pPr>
            <a:r>
              <a:rPr lang="en-US" sz="1600" b="1" dirty="0">
                <a:solidFill>
                  <a:schemeClr val="tx1"/>
                </a:solidFill>
              </a:rPr>
              <a:t>Zone réelle</a:t>
            </a:r>
            <a:endParaRPr lang="en-US" sz="1600" dirty="0"/>
          </a:p>
          <a:p>
            <a:pPr indent="0" marL="0">
              <a:spcAft>
                <a:spcPts val="200"/>
              </a:spcAft>
              <a:buNone/>
            </a:pPr>
            <a:r>
              <a:rPr lang="en-US" sz="1400" dirty="0">
                <a:solidFill>
                  <a:srgbClr val="64748B"/>
                </a:solidFill>
              </a:rPr>
              <a:t>Cercle, ou 5, 10, 15 minutes à pied ou en voiture par les routes.</a:t>
            </a:r>
            <a:endParaRPr lang="en-US" sz="1600" dirty="0"/>
          </a:p>
        </p:txBody>
      </p:sp>
      <p:sp>
        <p:nvSpPr>
          <p:cNvPr id="14" name="Pastille"/>
          <p:cNvSpPr/>
          <p:nvPr/>
        </p:nvSpPr>
        <p:spPr>
          <a:xfrm>
            <a:off x="8183880" y="4160520"/>
            <a:ext cx="457200" cy="457200"/>
          </a:xfrm>
          <a:prstGeom prst="roundRect">
            <a:avLst>
              <a:gd name="adj" fmla="val 24000"/>
            </a:avLst>
          </a:prstGeom>
          <a:solidFill>
            <a:srgbClr val="EEF0FF"/>
          </a:solidFill>
          <a:ln/>
        </p:spPr>
      </p:sp>
      <p:pic>
        <p:nvPicPr>
          <p:cNvPr id="15" name="Icône" descr="preencoded.png">    </p:cNvPr>
          <p:cNvPicPr>
            <a:picLocks noChangeAspect="1"/>
          </p:cNvPicPr>
          <p:nvPr/>
        </p:nvPicPr>
        <p:blipFill>
          <a:blip r:embed="rId5"/>
          <a:stretch>
            <a:fillRect/>
          </a:stretch>
        </p:blipFill>
        <p:spPr>
          <a:xfrm>
            <a:off x="8284464" y="4261104"/>
            <a:ext cx="256032" cy="256032"/>
          </a:xfrm>
          <a:prstGeom prst="rect">
            <a:avLst/>
          </a:prstGeom>
        </p:spPr>
      </p:pic>
      <p:sp>
        <p:nvSpPr>
          <p:cNvPr id="16" name="Texte Fiabilité affichée"/>
          <p:cNvSpPr txBox="1"/>
          <p:nvPr/>
        </p:nvSpPr>
        <p:spPr>
          <a:xfrm>
            <a:off x="8805672" y="4123944"/>
            <a:ext cx="2852928" cy="960120"/>
          </a:xfrm>
          <a:prstGeom prst="rect">
            <a:avLst/>
          </a:prstGeom>
          <a:noFill/>
          <a:ln/>
        </p:spPr>
        <p:txBody>
          <a:bodyPr wrap="square" lIns="0" tIns="0" rIns="0" bIns="0" rtlCol="0" anchor="t"/>
          <a:lstStyle/>
          <a:p>
            <a:pPr indent="0" marL="0">
              <a:spcAft>
                <a:spcPts val="200"/>
              </a:spcAft>
              <a:buNone/>
            </a:pPr>
            <a:r>
              <a:rPr lang="en-US" sz="1600" b="1" dirty="0">
                <a:solidFill>
                  <a:schemeClr val="tx1"/>
                </a:solidFill>
              </a:rPr>
              <a:t>Fiabilité affichée</a:t>
            </a:r>
            <a:endParaRPr lang="en-US" sz="1600" dirty="0"/>
          </a:p>
          <a:p>
            <a:pPr indent="0" marL="0">
              <a:spcAft>
                <a:spcPts val="200"/>
              </a:spcAft>
              <a:buNone/>
            </a:pPr>
            <a:r>
              <a:rPr lang="en-US" sz="1400" dirty="0">
                <a:solidFill>
                  <a:srgbClr val="64748B"/>
                </a:solidFill>
              </a:rPr>
              <a:t>Fourchette, note de confiance et erreur mesurée sur votre propre réseau.</a:t>
            </a:r>
            <a:endParaRPr lang="en-US" sz="1600" dirty="0"/>
          </a:p>
        </p:txBody>
      </p:sp>
      <p:sp>
        <p:nvSpPr>
          <p:cNvPr id="17" name="Pastille"/>
          <p:cNvSpPr/>
          <p:nvPr/>
        </p:nvSpPr>
        <p:spPr>
          <a:xfrm>
            <a:off x="8183880" y="5349240"/>
            <a:ext cx="457200" cy="457200"/>
          </a:xfrm>
          <a:prstGeom prst="roundRect">
            <a:avLst>
              <a:gd name="adj" fmla="val 24000"/>
            </a:avLst>
          </a:prstGeom>
          <a:solidFill>
            <a:srgbClr val="EEF0FF"/>
          </a:solidFill>
          <a:ln/>
        </p:spPr>
      </p:sp>
      <p:pic>
        <p:nvPicPr>
          <p:cNvPr id="18" name="Icône" descr="preencoded.png">    </p:cNvPr>
          <p:cNvPicPr>
            <a:picLocks noChangeAspect="1"/>
          </p:cNvPicPr>
          <p:nvPr/>
        </p:nvPicPr>
        <p:blipFill>
          <a:blip r:embed="rId6"/>
          <a:stretch>
            <a:fillRect/>
          </a:stretch>
        </p:blipFill>
        <p:spPr>
          <a:xfrm>
            <a:off x="8284464" y="5449824"/>
            <a:ext cx="256032" cy="256032"/>
          </a:xfrm>
          <a:prstGeom prst="rect">
            <a:avLst/>
          </a:prstGeom>
        </p:spPr>
      </p:pic>
      <p:sp>
        <p:nvSpPr>
          <p:cNvPr id="19" name="Texte Rentabilité"/>
          <p:cNvSpPr txBox="1"/>
          <p:nvPr/>
        </p:nvSpPr>
        <p:spPr>
          <a:xfrm>
            <a:off x="8805672" y="5312664"/>
            <a:ext cx="2852928" cy="914400"/>
          </a:xfrm>
          <a:prstGeom prst="rect">
            <a:avLst/>
          </a:prstGeom>
          <a:noFill/>
          <a:ln/>
        </p:spPr>
        <p:txBody>
          <a:bodyPr wrap="square" lIns="0" tIns="0" rIns="0" bIns="0" rtlCol="0" anchor="t"/>
          <a:lstStyle/>
          <a:p>
            <a:pPr indent="0" marL="0">
              <a:spcAft>
                <a:spcPts val="200"/>
              </a:spcAft>
              <a:buNone/>
            </a:pPr>
            <a:r>
              <a:rPr lang="en-US" sz="1600" b="1" dirty="0">
                <a:solidFill>
                  <a:schemeClr val="tx1"/>
                </a:solidFill>
              </a:rPr>
              <a:t>Rentabilité</a:t>
            </a:r>
            <a:endParaRPr lang="en-US" sz="1600" dirty="0"/>
          </a:p>
          <a:p>
            <a:pPr indent="0" marL="0">
              <a:spcAft>
                <a:spcPts val="200"/>
              </a:spcAft>
              <a:buNone/>
            </a:pPr>
            <a:r>
              <a:rPr lang="en-US" sz="1400" dirty="0">
                <a:solidFill>
                  <a:srgbClr val="64748B"/>
                </a:solidFill>
              </a:rPr>
              <a:t>Cannibalisation, résultat mensuel, point mort et délai de retour.</a:t>
            </a:r>
            <a:endParaRPr lang="en-US" sz="1600" dirty="0"/>
          </a:p>
        </p:txBody>
      </p:sp>
      <p:sp>
        <p:nvSpPr>
          <p:cNvPr id="25" name="Slide Number Placeholder 0"/>
          <p:cNvSpPr>
            <a:spLocks noGrp="1"/>
          </p:cNvSpPr>
          <p:nvPr>
            <p:ph type="sldNum" sz="quarter" idx="4294967295"/>
          </p:nvPr>
        </p:nvSpPr>
        <p:spPr>
          <a:xfrm>
            <a:off x="11155680"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64748B"/>
                </a:solidFill>
              </a:defRPr>
            </a:lvl1pPr>
          </a:lstStyle>
          <a:p>
            <a:pPr algn="r"/>
            <a:fld id="{F7021451-1387-4CA6-816F-3879F97B5CBC}" type="slidenum">
              <a:rPr b="0"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64240" cy="685800"/>
          </a:xfrm>
          <a:prstGeom prst="rect">
            <a:avLst/>
          </a:prstGeom>
          <a:noFill/>
          <a:ln/>
        </p:spPr>
        <p:txBody>
          <a:bodyPr wrap="square" lIns="0" tIns="0" rIns="0" bIns="0" rtlCol="0" anchor="t"/>
          <a:lstStyle/>
          <a:p>
            <a:pPr algn="l" indent="0" marL="0">
              <a:buNone/>
            </a:pPr>
            <a:r>
              <a:rPr lang="en-US" sz="3400" b="1" dirty="0">
                <a:solidFill>
                  <a:schemeClr val="tx1"/>
                </a:solidFill>
              </a:rPr>
              <a:t>La zone de chalandise qui colle à vos ventes</a:t>
            </a:r>
            <a:endParaRPr lang="en-US" sz="3400" dirty="0"/>
          </a:p>
        </p:txBody>
      </p:sp>
      <p:sp>
        <p:nvSpPr>
          <p:cNvPr id="3" name="Text 1"/>
          <p:cNvSpPr/>
          <p:nvPr>
            <p:ph idx="102" type="body" hasCustomPrompt="1"/>
          </p:nvPr>
        </p:nvSpPr>
        <p:spPr>
          <a:xfrm>
            <a:off x="548640" y="1051560"/>
            <a:ext cx="11064240" cy="411480"/>
          </a:xfrm>
          <a:prstGeom prst="rect">
            <a:avLst/>
          </a:prstGeom>
          <a:noFill/>
          <a:ln/>
        </p:spPr>
        <p:txBody>
          <a:bodyPr wrap="square" lIns="0" tIns="0" rIns="0" bIns="0" rtlCol="0" anchor="t"/>
          <a:lstStyle/>
          <a:p>
            <a:pPr indent="0" marL="0">
              <a:buNone/>
            </a:pPr>
            <a:r>
              <a:rPr lang="en-US" sz="1600" dirty="0">
                <a:solidFill>
                  <a:srgbClr val="64748B"/>
                </a:solidFill>
              </a:rPr>
              <a:t>GeoPulse teste chaque taille de zone sur vos magasins et vous dit laquelle est la plus précise</a:t>
            </a:r>
            <a:endParaRPr lang="en-US" sz="1600" dirty="0"/>
          </a:p>
        </p:txBody>
      </p:sp>
      <p:sp>
        <p:nvSpPr>
          <p:cNvPr id="4" name="Cadre t2-comparaison-c"/>
          <p:cNvSpPr/>
          <p:nvPr/>
        </p:nvSpPr>
        <p:spPr>
          <a:xfrm>
            <a:off x="548640" y="1936096"/>
            <a:ext cx="5120640" cy="4037368"/>
          </a:xfrm>
          <a:prstGeom prst="roundRect">
            <a:avLst>
              <a:gd name="adj" fmla="val 2718"/>
            </a:avLst>
          </a:prstGeom>
          <a:solidFill>
            <a:schemeClr val="bg1"/>
          </a:solidFill>
          <a:ln w="9525">
            <a:solidFill>
              <a:srgbClr val="E7E9F0"/>
            </a:solidFill>
            <a:prstDash val="solid"/>
          </a:ln>
          <a:effectLst>
            <a:outerShdw sx="100000" sy="100000" kx="0" ky="0" algn="bl" rotWithShape="0" blurRad="177800" dist="38100" dir="5400000">
              <a:srgbClr val="1E1B4B">
                <a:alpha val="16000"/>
              </a:srgbClr>
            </a:outerShdw>
          </a:effectLst>
        </p:spPr>
      </p:sp>
      <p:pic>
        <p:nvPicPr>
          <p:cNvPr id="5" name="Capture t2-comparaison-c" descr="Précision de chaque zone">    </p:cNvPr>
          <p:cNvPicPr>
            <a:picLocks noChangeAspect="1"/>
          </p:cNvPicPr>
          <p:nvPr/>
        </p:nvPicPr>
        <p:blipFill>
          <a:blip r:embed="rId1"/>
          <a:stretch>
            <a:fillRect/>
          </a:stretch>
        </p:blipFill>
        <p:spPr>
          <a:xfrm>
            <a:off x="621792" y="2009248"/>
            <a:ext cx="4974336" cy="3891064"/>
          </a:xfrm>
          <a:prstGeom prst="rect">
            <a:avLst/>
          </a:prstGeom>
        </p:spPr>
      </p:pic>
      <p:sp>
        <p:nvSpPr>
          <p:cNvPr id="6" name="Carte"/>
          <p:cNvSpPr/>
          <p:nvPr/>
        </p:nvSpPr>
        <p:spPr>
          <a:xfrm>
            <a:off x="6035040" y="1783080"/>
            <a:ext cx="5577840" cy="4343400"/>
          </a:xfrm>
          <a:prstGeom prst="roundRect">
            <a:avLst>
              <a:gd name="adj" fmla="val 2947"/>
            </a:avLst>
          </a:prstGeom>
          <a:solidFill>
            <a:schemeClr val="bg1"/>
          </a:solidFill>
          <a:ln w="9525">
            <a:solidFill>
              <a:srgbClr val="E7E9F0"/>
            </a:solidFill>
            <a:prstDash val="solid"/>
          </a:ln>
          <a:effectLst>
            <a:outerShdw sx="100000" sy="100000" kx="0" ky="0" algn="bl" rotWithShape="0" blurRad="177800" dist="38100" dir="5400000">
              <a:srgbClr val="1E1B4B">
                <a:alpha val="16000"/>
              </a:srgbClr>
            </a:outerShdw>
          </a:effectLst>
        </p:spPr>
      </p:sp>
      <p:sp>
        <p:nvSpPr>
          <p:cNvPr id="7" name="Text 4"/>
          <p:cNvSpPr txBox="1"/>
          <p:nvPr/>
        </p:nvSpPr>
        <p:spPr>
          <a:xfrm>
            <a:off x="6355080" y="2057400"/>
            <a:ext cx="4937760" cy="457200"/>
          </a:xfrm>
          <a:prstGeom prst="rect">
            <a:avLst/>
          </a:prstGeom>
          <a:noFill/>
          <a:ln/>
        </p:spPr>
        <p:txBody>
          <a:bodyPr wrap="square" lIns="0" tIns="0" rIns="0" bIns="0" rtlCol="0" anchor="ctr"/>
          <a:lstStyle/>
          <a:p>
            <a:pPr indent="0" marL="0">
              <a:buNone/>
            </a:pPr>
            <a:r>
              <a:rPr lang="en-US" sz="2000" b="1" dirty="0">
                <a:solidFill>
                  <a:schemeClr val="tx1"/>
                </a:solidFill>
              </a:rPr>
              <a:t>Comment ça marche</a:t>
            </a:r>
            <a:endParaRPr lang="en-US" sz="2000" dirty="0"/>
          </a:p>
        </p:txBody>
      </p:sp>
      <p:sp>
        <p:nvSpPr>
          <p:cNvPr id="8" name="Méthode"/>
          <p:cNvSpPr txBox="1"/>
          <p:nvPr/>
        </p:nvSpPr>
        <p:spPr>
          <a:xfrm>
            <a:off x="6355080" y="2651760"/>
            <a:ext cx="4983480" cy="2377440"/>
          </a:xfrm>
          <a:prstGeom prst="rect">
            <a:avLst/>
          </a:prstGeom>
          <a:noFill/>
          <a:ln/>
        </p:spPr>
        <p:txBody>
          <a:bodyPr wrap="square" lIns="0" tIns="0" rIns="0" bIns="0" rtlCol="0" anchor="t"/>
          <a:lstStyle/>
          <a:p>
            <a:pPr marL="342900" indent="-342900">
              <a:spcAft>
                <a:spcPts val="800"/>
              </a:spcAft>
              <a:buSzPct val="100000"/>
              <a:buFont typeface="+mj-lt"/>
              <a:buAutoNum type="arabicPeriod" startAt="1"/>
            </a:pPr>
            <a:r>
              <a:rPr lang="en-US" sz="1500" dirty="0">
                <a:solidFill>
                  <a:schemeClr val="tx1"/>
                </a:solidFill>
              </a:rPr>
              <a:t>Chacun de vos magasins est caché à tour de rôle, puis estimé à partir des autres.</a:t>
            </a:r>
            <a:endParaRPr lang="en-US" sz="1500" dirty="0"/>
          </a:p>
          <a:p>
            <a:pPr marL="342900" indent="-342900">
              <a:spcAft>
                <a:spcPts val="800"/>
              </a:spcAft>
              <a:buSzPct val="100000"/>
              <a:buFont typeface="+mj-lt"/>
              <a:buAutoNum type="arabicPeriod" startAt="1"/>
            </a:pPr>
            <a:r>
              <a:rPr lang="en-US" sz="1500" dirty="0">
                <a:solidFill>
                  <a:schemeClr val="tx1"/>
                </a:solidFill>
              </a:rPr>
              <a:t>L’estimation est comparée à ses ventes réelles.</a:t>
            </a:r>
            <a:endParaRPr lang="en-US" sz="1500" dirty="0"/>
          </a:p>
          <a:p>
            <a:pPr marL="342900" indent="-342900">
              <a:spcAft>
                <a:spcPts val="800"/>
              </a:spcAft>
              <a:buSzPct val="100000"/>
              <a:buFont typeface="+mj-lt"/>
              <a:buAutoNum type="arabicPeriod" startAt="1"/>
            </a:pPr>
            <a:r>
              <a:rPr lang="en-US" sz="1500" dirty="0">
                <a:solidFill>
                  <a:schemeClr val="tx1"/>
                </a:solidFill>
              </a:rPr>
              <a:t>L’opération est répétée pour 8 zones : cercles de 500 m à 2 km, 5 à 15 minutes à pied ou en voiture.</a:t>
            </a:r>
            <a:endParaRPr lang="en-US" sz="1500" dirty="0"/>
          </a:p>
          <a:p>
            <a:pPr marL="342900" indent="-342900">
              <a:spcAft>
                <a:spcPts val="800"/>
              </a:spcAft>
              <a:buSzPct val="100000"/>
              <a:buFont typeface="+mj-lt"/>
              <a:buAutoNum type="arabicPeriod" startAt="1"/>
            </a:pPr>
            <a:r>
              <a:rPr lang="en-US" sz="1500" dirty="0">
                <a:solidFill>
                  <a:schemeClr val="tx1"/>
                </a:solidFill>
              </a:rPr>
              <a:t>La zone la plus précise est proposée par défaut.</a:t>
            </a:r>
            <a:endParaRPr lang="en-US" sz="1500" dirty="0"/>
          </a:p>
        </p:txBody>
      </p:sp>
      <p:sp>
        <p:nvSpPr>
          <p:cNvPr id="9" name="Text 6"/>
          <p:cNvSpPr txBox="1"/>
          <p:nvPr/>
        </p:nvSpPr>
        <p:spPr>
          <a:xfrm>
            <a:off x="6355080" y="5166360"/>
            <a:ext cx="4983480" cy="731520"/>
          </a:xfrm>
          <a:prstGeom prst="rect">
            <a:avLst/>
          </a:prstGeom>
          <a:noFill/>
          <a:ln/>
        </p:spPr>
        <p:txBody>
          <a:bodyPr wrap="square" lIns="0" tIns="0" rIns="0" bIns="0" rtlCol="0" anchor="t"/>
          <a:lstStyle/>
          <a:p>
            <a:pPr indent="0" marL="0">
              <a:buNone/>
            </a:pPr>
            <a:r>
              <a:rPr lang="en-US" sz="1500" b="1" i="1" dirty="0">
                <a:solidFill>
                  <a:schemeClr val="accent1"/>
                </a:solidFill>
              </a:rPr>
              <a:t>Pas de boîte noire : vous voyez l’écart de chaque méthode avant de décider.</a:t>
            </a:r>
            <a:endParaRPr lang="en-US" sz="1500" dirty="0"/>
          </a:p>
        </p:txBody>
      </p:sp>
      <p:sp>
        <p:nvSpPr>
          <p:cNvPr id="25" name="Slide Number Placeholder 0"/>
          <p:cNvSpPr>
            <a:spLocks noGrp="1"/>
          </p:cNvSpPr>
          <p:nvPr>
            <p:ph type="sldNum" sz="quarter" idx="4294967295"/>
          </p:nvPr>
        </p:nvSpPr>
        <p:spPr>
          <a:xfrm>
            <a:off x="11155680"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64748B"/>
                </a:solidFill>
              </a:defRPr>
            </a:lvl1pPr>
          </a:lstStyle>
          <a:p>
            <a:pPr algn="r"/>
            <a:fld id="{F7021451-1387-4CA6-816F-3879F97B5CBC}" type="slidenum">
              <a:rPr b="0"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64240" cy="685800"/>
          </a:xfrm>
          <a:prstGeom prst="rect">
            <a:avLst/>
          </a:prstGeom>
          <a:noFill/>
          <a:ln/>
        </p:spPr>
        <p:txBody>
          <a:bodyPr wrap="square" lIns="0" tIns="0" rIns="0" bIns="0" rtlCol="0" anchor="t"/>
          <a:lstStyle/>
          <a:p>
            <a:pPr algn="l" indent="0" marL="0">
              <a:buNone/>
            </a:pPr>
            <a:r>
              <a:rPr lang="en-US" sz="3400" b="1" dirty="0">
                <a:solidFill>
                  <a:schemeClr val="tx1"/>
                </a:solidFill>
              </a:rPr>
              <a:t>Comparateur de sites et rapport pour le comité</a:t>
            </a:r>
            <a:endParaRPr lang="en-US" sz="3400" dirty="0"/>
          </a:p>
        </p:txBody>
      </p:sp>
      <p:sp>
        <p:nvSpPr>
          <p:cNvPr id="3" name="Text 1"/>
          <p:cNvSpPr/>
          <p:nvPr>
            <p:ph idx="102" type="body" hasCustomPrompt="1"/>
          </p:nvPr>
        </p:nvSpPr>
        <p:spPr>
          <a:xfrm>
            <a:off x="548640" y="1051560"/>
            <a:ext cx="11064240" cy="411480"/>
          </a:xfrm>
          <a:prstGeom prst="rect">
            <a:avLst/>
          </a:prstGeom>
          <a:noFill/>
          <a:ln/>
        </p:spPr>
        <p:txBody>
          <a:bodyPr wrap="square" lIns="0" tIns="0" rIns="0" bIns="0" rtlCol="0" anchor="t"/>
          <a:lstStyle/>
          <a:p>
            <a:pPr indent="0" marL="0">
              <a:buNone/>
            </a:pPr>
            <a:r>
              <a:rPr lang="en-US" sz="1600" dirty="0">
                <a:solidFill>
                  <a:srgbClr val="64748B"/>
                </a:solidFill>
              </a:rPr>
              <a:t>Jusqu’à 4 emplacements côte à côte, une recommandation, un PDF prêt à présenter</a:t>
            </a:r>
            <a:endParaRPr lang="en-US" sz="1600" dirty="0"/>
          </a:p>
        </p:txBody>
      </p:sp>
      <p:sp>
        <p:nvSpPr>
          <p:cNvPr id="4" name="Cadre c1-comparateur-c"/>
          <p:cNvSpPr/>
          <p:nvPr/>
        </p:nvSpPr>
        <p:spPr>
          <a:xfrm>
            <a:off x="1250561" y="1645920"/>
            <a:ext cx="2528078" cy="4617720"/>
          </a:xfrm>
          <a:prstGeom prst="roundRect">
            <a:avLst>
              <a:gd name="adj" fmla="val 4340"/>
            </a:avLst>
          </a:prstGeom>
          <a:solidFill>
            <a:schemeClr val="bg1"/>
          </a:solidFill>
          <a:ln w="9525">
            <a:solidFill>
              <a:srgbClr val="E7E9F0"/>
            </a:solidFill>
            <a:prstDash val="solid"/>
          </a:ln>
          <a:effectLst>
            <a:outerShdw sx="100000" sy="100000" kx="0" ky="0" algn="bl" rotWithShape="0" blurRad="177800" dist="38100" dir="5400000">
              <a:srgbClr val="1E1B4B">
                <a:alpha val="16000"/>
              </a:srgbClr>
            </a:outerShdw>
          </a:effectLst>
        </p:spPr>
      </p:sp>
      <p:pic>
        <p:nvPicPr>
          <p:cNvPr id="5" name="Capture c1-comparateur-c" descr="Comparateur de sites">    </p:cNvPr>
          <p:cNvPicPr>
            <a:picLocks noChangeAspect="1"/>
          </p:cNvPicPr>
          <p:nvPr/>
        </p:nvPicPr>
        <p:blipFill>
          <a:blip r:embed="rId1"/>
          <a:stretch>
            <a:fillRect/>
          </a:stretch>
        </p:blipFill>
        <p:spPr>
          <a:xfrm>
            <a:off x="1323713" y="1719072"/>
            <a:ext cx="2381774" cy="4471416"/>
          </a:xfrm>
          <a:prstGeom prst="rect">
            <a:avLst/>
          </a:prstGeom>
        </p:spPr>
      </p:pic>
      <p:sp>
        <p:nvSpPr>
          <p:cNvPr id="6" name="Cadre rapport"/>
          <p:cNvSpPr/>
          <p:nvPr/>
        </p:nvSpPr>
        <p:spPr>
          <a:xfrm>
            <a:off x="4754880" y="1654838"/>
            <a:ext cx="3291840" cy="4599885"/>
          </a:xfrm>
          <a:prstGeom prst="roundRect">
            <a:avLst>
              <a:gd name="adj" fmla="val 3333"/>
            </a:avLst>
          </a:prstGeom>
          <a:solidFill>
            <a:schemeClr val="bg1"/>
          </a:solidFill>
          <a:ln w="9525">
            <a:solidFill>
              <a:srgbClr val="E7E9F0"/>
            </a:solidFill>
            <a:prstDash val="solid"/>
          </a:ln>
          <a:effectLst>
            <a:outerShdw sx="100000" sy="100000" kx="0" ky="0" algn="bl" rotWithShape="0" blurRad="177800" dist="38100" dir="5400000">
              <a:srgbClr val="1E1B4B">
                <a:alpha val="16000"/>
              </a:srgbClr>
            </a:outerShdw>
          </a:effectLst>
        </p:spPr>
      </p:sp>
      <p:pic>
        <p:nvPicPr>
          <p:cNvPr id="7" name="Capture rapport" descr="Rapport PDF pour le comité d’investissement">    </p:cNvPr>
          <p:cNvPicPr>
            <a:picLocks noChangeAspect="1"/>
          </p:cNvPicPr>
          <p:nvPr/>
        </p:nvPicPr>
        <p:blipFill>
          <a:blip r:embed="rId2"/>
          <a:stretch>
            <a:fillRect/>
          </a:stretch>
        </p:blipFill>
        <p:spPr>
          <a:xfrm>
            <a:off x="4828032" y="1727990"/>
            <a:ext cx="3145536" cy="4453581"/>
          </a:xfrm>
          <a:prstGeom prst="rect">
            <a:avLst/>
          </a:prstGeom>
        </p:spPr>
      </p:pic>
      <p:sp>
        <p:nvSpPr>
          <p:cNvPr id="8" name="Pastille"/>
          <p:cNvSpPr/>
          <p:nvPr/>
        </p:nvSpPr>
        <p:spPr>
          <a:xfrm>
            <a:off x="8366760" y="1783080"/>
            <a:ext cx="457200" cy="457200"/>
          </a:xfrm>
          <a:prstGeom prst="roundRect">
            <a:avLst>
              <a:gd name="adj" fmla="val 24000"/>
            </a:avLst>
          </a:prstGeom>
          <a:solidFill>
            <a:srgbClr val="EEF0FF"/>
          </a:solidFill>
          <a:ln/>
        </p:spPr>
      </p:sp>
      <p:pic>
        <p:nvPicPr>
          <p:cNvPr id="9" name="Icône" descr="preencoded.png">    </p:cNvPr>
          <p:cNvPicPr>
            <a:picLocks noChangeAspect="1"/>
          </p:cNvPicPr>
          <p:nvPr/>
        </p:nvPicPr>
        <p:blipFill>
          <a:blip r:embed="rId3"/>
          <a:stretch>
            <a:fillRect/>
          </a:stretch>
        </p:blipFill>
        <p:spPr>
          <a:xfrm>
            <a:off x="8467344" y="1883664"/>
            <a:ext cx="256032" cy="256032"/>
          </a:xfrm>
          <a:prstGeom prst="rect">
            <a:avLst/>
          </a:prstGeom>
        </p:spPr>
      </p:pic>
      <p:sp>
        <p:nvSpPr>
          <p:cNvPr id="10" name="Texte Tableau comparatif"/>
          <p:cNvSpPr txBox="1"/>
          <p:nvPr/>
        </p:nvSpPr>
        <p:spPr>
          <a:xfrm>
            <a:off x="8988552" y="1746504"/>
            <a:ext cx="2670048" cy="960120"/>
          </a:xfrm>
          <a:prstGeom prst="rect">
            <a:avLst/>
          </a:prstGeom>
          <a:noFill/>
          <a:ln/>
        </p:spPr>
        <p:txBody>
          <a:bodyPr wrap="square" lIns="0" tIns="0" rIns="0" bIns="0" rtlCol="0" anchor="t"/>
          <a:lstStyle/>
          <a:p>
            <a:pPr indent="0" marL="0">
              <a:spcAft>
                <a:spcPts val="200"/>
              </a:spcAft>
              <a:buNone/>
            </a:pPr>
            <a:r>
              <a:rPr lang="en-US" sz="1600" b="1" dirty="0">
                <a:solidFill>
                  <a:schemeClr val="tx1"/>
                </a:solidFill>
              </a:rPr>
              <a:t>Tableau comparatif</a:t>
            </a:r>
            <a:endParaRPr lang="en-US" sz="1600" dirty="0"/>
          </a:p>
          <a:p>
            <a:pPr indent="0" marL="0">
              <a:spcAft>
                <a:spcPts val="200"/>
              </a:spcAft>
              <a:buNone/>
            </a:pPr>
            <a:r>
              <a:rPr lang="en-US" sz="1400" dirty="0">
                <a:solidFill>
                  <a:srgbClr val="64748B"/>
                </a:solidFill>
              </a:rPr>
              <a:t>CA, rentabilité, délai de retour, habitants, concurrence, passage.</a:t>
            </a:r>
            <a:endParaRPr lang="en-US" sz="1600" dirty="0"/>
          </a:p>
        </p:txBody>
      </p:sp>
      <p:sp>
        <p:nvSpPr>
          <p:cNvPr id="11" name="Pastille"/>
          <p:cNvSpPr/>
          <p:nvPr/>
        </p:nvSpPr>
        <p:spPr>
          <a:xfrm>
            <a:off x="8366760" y="3063240"/>
            <a:ext cx="457200" cy="457200"/>
          </a:xfrm>
          <a:prstGeom prst="roundRect">
            <a:avLst>
              <a:gd name="adj" fmla="val 24000"/>
            </a:avLst>
          </a:prstGeom>
          <a:solidFill>
            <a:srgbClr val="EEF0FF"/>
          </a:solidFill>
          <a:ln/>
        </p:spPr>
      </p:sp>
      <p:pic>
        <p:nvPicPr>
          <p:cNvPr id="12" name="Icône" descr="preencoded.png">    </p:cNvPr>
          <p:cNvPicPr>
            <a:picLocks noChangeAspect="1"/>
          </p:cNvPicPr>
          <p:nvPr/>
        </p:nvPicPr>
        <p:blipFill>
          <a:blip r:embed="rId4"/>
          <a:stretch>
            <a:fillRect/>
          </a:stretch>
        </p:blipFill>
        <p:spPr>
          <a:xfrm>
            <a:off x="8467344" y="3163824"/>
            <a:ext cx="256032" cy="256032"/>
          </a:xfrm>
          <a:prstGeom prst="rect">
            <a:avLst/>
          </a:prstGeom>
        </p:spPr>
      </p:pic>
      <p:sp>
        <p:nvSpPr>
          <p:cNvPr id="13" name="Texte Recommandation argumentée"/>
          <p:cNvSpPr txBox="1"/>
          <p:nvPr/>
        </p:nvSpPr>
        <p:spPr>
          <a:xfrm>
            <a:off x="8988552" y="3026664"/>
            <a:ext cx="2670048" cy="960120"/>
          </a:xfrm>
          <a:prstGeom prst="rect">
            <a:avLst/>
          </a:prstGeom>
          <a:noFill/>
          <a:ln/>
        </p:spPr>
        <p:txBody>
          <a:bodyPr wrap="square" lIns="0" tIns="0" rIns="0" bIns="0" rtlCol="0" anchor="t"/>
          <a:lstStyle/>
          <a:p>
            <a:pPr indent="0" marL="0">
              <a:spcAft>
                <a:spcPts val="200"/>
              </a:spcAft>
              <a:buNone/>
            </a:pPr>
            <a:r>
              <a:rPr lang="en-US" sz="1600" b="1" dirty="0">
                <a:solidFill>
                  <a:schemeClr val="tx1"/>
                </a:solidFill>
              </a:rPr>
              <a:t>Recommandation argumentée</a:t>
            </a:r>
            <a:endParaRPr lang="en-US" sz="1600" dirty="0"/>
          </a:p>
          <a:p>
            <a:pPr indent="0" marL="0">
              <a:spcAft>
                <a:spcPts val="200"/>
              </a:spcAft>
              <a:buNone/>
            </a:pPr>
            <a:r>
              <a:rPr lang="en-US" sz="1400" dirty="0">
                <a:solidFill>
                  <a:srgbClr val="64748B"/>
                </a:solidFill>
              </a:rPr>
              <a:t>Le meilleur gain pour le réseau, avec les points à surveiller.</a:t>
            </a:r>
            <a:endParaRPr lang="en-US" sz="1600" dirty="0"/>
          </a:p>
        </p:txBody>
      </p:sp>
      <p:sp>
        <p:nvSpPr>
          <p:cNvPr id="14" name="Pastille"/>
          <p:cNvSpPr/>
          <p:nvPr/>
        </p:nvSpPr>
        <p:spPr>
          <a:xfrm>
            <a:off x="8366760" y="4343400"/>
            <a:ext cx="457200" cy="457200"/>
          </a:xfrm>
          <a:prstGeom prst="roundRect">
            <a:avLst>
              <a:gd name="adj" fmla="val 24000"/>
            </a:avLst>
          </a:prstGeom>
          <a:solidFill>
            <a:srgbClr val="EEF0FF"/>
          </a:solidFill>
          <a:ln/>
        </p:spPr>
      </p:sp>
      <p:pic>
        <p:nvPicPr>
          <p:cNvPr id="15" name="Icône" descr="preencoded.png">    </p:cNvPr>
          <p:cNvPicPr>
            <a:picLocks noChangeAspect="1"/>
          </p:cNvPicPr>
          <p:nvPr/>
        </p:nvPicPr>
        <p:blipFill>
          <a:blip r:embed="rId5"/>
          <a:stretch>
            <a:fillRect/>
          </a:stretch>
        </p:blipFill>
        <p:spPr>
          <a:xfrm>
            <a:off x="8467344" y="4443984"/>
            <a:ext cx="256032" cy="256032"/>
          </a:xfrm>
          <a:prstGeom prst="rect">
            <a:avLst/>
          </a:prstGeom>
        </p:spPr>
      </p:pic>
      <p:sp>
        <p:nvSpPr>
          <p:cNvPr id="16" name="Texte Rapport PDF"/>
          <p:cNvSpPr txBox="1"/>
          <p:nvPr/>
        </p:nvSpPr>
        <p:spPr>
          <a:xfrm>
            <a:off x="8988552" y="4306824"/>
            <a:ext cx="2670048" cy="1143000"/>
          </a:xfrm>
          <a:prstGeom prst="rect">
            <a:avLst/>
          </a:prstGeom>
          <a:noFill/>
          <a:ln/>
        </p:spPr>
        <p:txBody>
          <a:bodyPr wrap="square" lIns="0" tIns="0" rIns="0" bIns="0" rtlCol="0" anchor="t"/>
          <a:lstStyle/>
          <a:p>
            <a:pPr indent="0" marL="0">
              <a:spcAft>
                <a:spcPts val="200"/>
              </a:spcAft>
              <a:buNone/>
            </a:pPr>
            <a:r>
              <a:rPr lang="en-US" sz="1600" b="1" dirty="0">
                <a:solidFill>
                  <a:schemeClr val="tx1"/>
                </a:solidFill>
              </a:rPr>
              <a:t>Rapport PDF</a:t>
            </a:r>
            <a:endParaRPr lang="en-US" sz="1600" dirty="0"/>
          </a:p>
          <a:p>
            <a:pPr indent="0" marL="0">
              <a:spcAft>
                <a:spcPts val="200"/>
              </a:spcAft>
              <a:buNone/>
            </a:pPr>
            <a:r>
              <a:rPr lang="en-US" sz="1400" dirty="0">
                <a:solidFill>
                  <a:srgbClr val="64748B"/>
                </a:solidFill>
              </a:rPr>
              <a:t>Carte, chiffres et méthode sur une page A4 pour le comité d’investissement.</a:t>
            </a:r>
            <a:endParaRPr lang="en-US" sz="1600" dirty="0"/>
          </a:p>
        </p:txBody>
      </p:sp>
      <p:sp>
        <p:nvSpPr>
          <p:cNvPr id="25" name="Slide Number Placeholder 0"/>
          <p:cNvSpPr>
            <a:spLocks noGrp="1"/>
          </p:cNvSpPr>
          <p:nvPr>
            <p:ph type="sldNum" sz="quarter" idx="4294967295"/>
          </p:nvPr>
        </p:nvSpPr>
        <p:spPr>
          <a:xfrm>
            <a:off x="11155680"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64748B"/>
                </a:solidFill>
              </a:defRPr>
            </a:lvl1pPr>
          </a:lstStyle>
          <a:p>
            <a:pPr algn="r"/>
            <a:fld id="{F7021451-1387-4CA6-816F-3879F97B5CBC}" type="slidenum">
              <a:rPr b="0"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64240" cy="685800"/>
          </a:xfrm>
          <a:prstGeom prst="rect">
            <a:avLst/>
          </a:prstGeom>
          <a:noFill/>
          <a:ln/>
        </p:spPr>
        <p:txBody>
          <a:bodyPr wrap="square" lIns="0" tIns="0" rIns="0" bIns="0" rtlCol="0" anchor="t"/>
          <a:lstStyle/>
          <a:p>
            <a:pPr algn="l" indent="0" marL="0">
              <a:buNone/>
            </a:pPr>
            <a:r>
              <a:rPr lang="en-US" sz="3400" b="1" dirty="0">
                <a:solidFill>
                  <a:schemeClr val="tx1"/>
                </a:solidFill>
              </a:rPr>
              <a:t>Couverture du territoire et zones à potentiel</a:t>
            </a:r>
            <a:endParaRPr lang="en-US" sz="3400" dirty="0"/>
          </a:p>
        </p:txBody>
      </p:sp>
      <p:sp>
        <p:nvSpPr>
          <p:cNvPr id="3" name="Text 1"/>
          <p:cNvSpPr/>
          <p:nvPr>
            <p:ph idx="102" type="body" hasCustomPrompt="1"/>
          </p:nvPr>
        </p:nvSpPr>
        <p:spPr>
          <a:xfrm>
            <a:off x="548640" y="1051560"/>
            <a:ext cx="11064240" cy="411480"/>
          </a:xfrm>
          <a:prstGeom prst="rect">
            <a:avLst/>
          </a:prstGeom>
          <a:noFill/>
          <a:ln/>
        </p:spPr>
        <p:txBody>
          <a:bodyPr wrap="square" lIns="0" tIns="0" rIns="0" bIns="0" rtlCol="0" anchor="t"/>
          <a:lstStyle/>
          <a:p>
            <a:pPr indent="0" marL="0">
              <a:buNone/>
            </a:pPr>
            <a:r>
              <a:rPr lang="en-US" sz="1600" dirty="0">
                <a:solidFill>
                  <a:srgbClr val="64748B"/>
                </a:solidFill>
              </a:rPr>
              <a:t>La Tunisie en hexagones de 500 m, 1 km ou 2 km : couvert, non couvert, et ce que vous y laissez</a:t>
            </a:r>
            <a:endParaRPr lang="en-US" sz="1600" dirty="0"/>
          </a:p>
        </p:txBody>
      </p:sp>
      <p:sp>
        <p:nvSpPr>
          <p:cNvPr id="4" name="Cadre h3-survol"/>
          <p:cNvSpPr/>
          <p:nvPr/>
        </p:nvSpPr>
        <p:spPr>
          <a:xfrm>
            <a:off x="548640" y="1712786"/>
            <a:ext cx="7086600" cy="4483989"/>
          </a:xfrm>
          <a:prstGeom prst="roundRect">
            <a:avLst>
              <a:gd name="adj" fmla="val 2447"/>
            </a:avLst>
          </a:prstGeom>
          <a:solidFill>
            <a:schemeClr val="bg1"/>
          </a:solidFill>
          <a:ln w="9525">
            <a:solidFill>
              <a:srgbClr val="E7E9F0"/>
            </a:solidFill>
            <a:prstDash val="solid"/>
          </a:ln>
          <a:effectLst>
            <a:outerShdw sx="100000" sy="100000" kx="0" ky="0" algn="bl" rotWithShape="0" blurRad="177800" dist="38100" dir="5400000">
              <a:srgbClr val="1E1B4B">
                <a:alpha val="16000"/>
              </a:srgbClr>
            </a:outerShdw>
          </a:effectLst>
        </p:spPr>
      </p:sp>
      <p:pic>
        <p:nvPicPr>
          <p:cNvPr id="5" name="Capture h3-survol" descr="Carte de couverture en hexagones">    </p:cNvPr>
          <p:cNvPicPr>
            <a:picLocks noChangeAspect="1"/>
          </p:cNvPicPr>
          <p:nvPr/>
        </p:nvPicPr>
        <p:blipFill>
          <a:blip r:embed="rId1"/>
          <a:stretch>
            <a:fillRect/>
          </a:stretch>
        </p:blipFill>
        <p:spPr>
          <a:xfrm>
            <a:off x="621792" y="1785938"/>
            <a:ext cx="6940296" cy="4337685"/>
          </a:xfrm>
          <a:prstGeom prst="rect">
            <a:avLst/>
          </a:prstGeom>
        </p:spPr>
      </p:pic>
      <p:sp>
        <p:nvSpPr>
          <p:cNvPr id="6" name="Carte"/>
          <p:cNvSpPr/>
          <p:nvPr/>
        </p:nvSpPr>
        <p:spPr>
          <a:xfrm>
            <a:off x="7955280" y="1783080"/>
            <a:ext cx="3657600" cy="4343400"/>
          </a:xfrm>
          <a:prstGeom prst="roundRect">
            <a:avLst>
              <a:gd name="adj" fmla="val 3500"/>
            </a:avLst>
          </a:prstGeom>
          <a:solidFill>
            <a:schemeClr val="bg1"/>
          </a:solidFill>
          <a:ln w="9525">
            <a:solidFill>
              <a:srgbClr val="E7E9F0"/>
            </a:solidFill>
            <a:prstDash val="solid"/>
          </a:ln>
          <a:effectLst>
            <a:outerShdw sx="100000" sy="100000" kx="0" ky="0" algn="bl" rotWithShape="0" blurRad="177800" dist="38100" dir="5400000">
              <a:srgbClr val="1E1B4B">
                <a:alpha val="16000"/>
              </a:srgbClr>
            </a:outerShdw>
          </a:effectLst>
        </p:spPr>
      </p:sp>
      <p:sp>
        <p:nvSpPr>
          <p:cNvPr id="7" name="Shape 4"/>
          <p:cNvSpPr/>
          <p:nvPr/>
        </p:nvSpPr>
        <p:spPr>
          <a:xfrm>
            <a:off x="8275320" y="2148840"/>
            <a:ext cx="320040" cy="320040"/>
          </a:xfrm>
          <a:prstGeom prst="roundRect">
            <a:avLst>
              <a:gd name="adj" fmla="val 17143"/>
            </a:avLst>
          </a:prstGeom>
          <a:solidFill>
            <a:srgbClr val="4ADE80"/>
          </a:solidFill>
          <a:ln/>
        </p:spPr>
      </p:sp>
      <p:sp>
        <p:nvSpPr>
          <p:cNvPr id="8" name="Text 5"/>
          <p:cNvSpPr txBox="1"/>
          <p:nvPr/>
        </p:nvSpPr>
        <p:spPr>
          <a:xfrm>
            <a:off x="8778240" y="2075688"/>
            <a:ext cx="2651760" cy="685800"/>
          </a:xfrm>
          <a:prstGeom prst="rect">
            <a:avLst/>
          </a:prstGeom>
          <a:noFill/>
          <a:ln/>
        </p:spPr>
        <p:txBody>
          <a:bodyPr wrap="square" lIns="0" tIns="0" rIns="0" bIns="0" rtlCol="0" anchor="t"/>
          <a:lstStyle/>
          <a:p>
            <a:pPr indent="0" marL="0">
              <a:buNone/>
            </a:pPr>
            <a:r>
              <a:rPr lang="en-US" sz="1500" b="1" dirty="0">
                <a:solidFill>
                  <a:schemeClr val="tx1"/>
                </a:solidFill>
              </a:rPr>
              <a:t>Couvert</a:t>
            </a:r>
            <a:endParaRPr lang="en-US" sz="1500" dirty="0"/>
          </a:p>
          <a:p>
            <a:pPr indent="0" marL="0">
              <a:buNone/>
            </a:pPr>
            <a:r>
              <a:rPr lang="en-US" sz="1300" dirty="0">
                <a:solidFill>
                  <a:srgbClr val="64748B"/>
                </a:solidFill>
              </a:rPr>
              <a:t>CA par habitant de chaque zone</a:t>
            </a:r>
            <a:endParaRPr lang="en-US" sz="1500" dirty="0"/>
          </a:p>
        </p:txBody>
      </p:sp>
      <p:sp>
        <p:nvSpPr>
          <p:cNvPr id="9" name="Shape 6"/>
          <p:cNvSpPr/>
          <p:nvPr/>
        </p:nvSpPr>
        <p:spPr>
          <a:xfrm>
            <a:off x="8275320" y="3017520"/>
            <a:ext cx="320040" cy="320040"/>
          </a:xfrm>
          <a:prstGeom prst="roundRect">
            <a:avLst>
              <a:gd name="adj" fmla="val 17143"/>
            </a:avLst>
          </a:prstGeom>
          <a:solidFill>
            <a:schemeClr val="accent5"/>
          </a:solidFill>
          <a:ln/>
        </p:spPr>
      </p:sp>
      <p:sp>
        <p:nvSpPr>
          <p:cNvPr id="10" name="Text 7"/>
          <p:cNvSpPr txBox="1"/>
          <p:nvPr/>
        </p:nvSpPr>
        <p:spPr>
          <a:xfrm>
            <a:off x="8778240" y="2944368"/>
            <a:ext cx="2651760" cy="868680"/>
          </a:xfrm>
          <a:prstGeom prst="rect">
            <a:avLst/>
          </a:prstGeom>
          <a:noFill/>
          <a:ln/>
        </p:spPr>
        <p:txBody>
          <a:bodyPr wrap="square" lIns="0" tIns="0" rIns="0" bIns="0" rtlCol="0" anchor="t"/>
          <a:lstStyle/>
          <a:p>
            <a:pPr indent="0" marL="0">
              <a:buNone/>
            </a:pPr>
            <a:r>
              <a:rPr lang="en-US" sz="1500" b="1" dirty="0">
                <a:solidFill>
                  <a:schemeClr val="tx1"/>
                </a:solidFill>
              </a:rPr>
              <a:t>Non couvert</a:t>
            </a:r>
            <a:endParaRPr lang="en-US" sz="1500" dirty="0"/>
          </a:p>
          <a:p>
            <a:pPr indent="0" marL="0">
              <a:buNone/>
            </a:pPr>
            <a:r>
              <a:rPr lang="en-US" sz="1300" dirty="0">
                <a:solidFill>
                  <a:srgbClr val="64748B"/>
                </a:solidFill>
              </a:rPr>
              <a:t>Potentiel estimé sur vos zones les plus semblables</a:t>
            </a:r>
            <a:endParaRPr lang="en-US" sz="1500" dirty="0"/>
          </a:p>
        </p:txBody>
      </p:sp>
      <p:sp>
        <p:nvSpPr>
          <p:cNvPr id="11" name="Couverture liste"/>
          <p:cNvSpPr txBox="1"/>
          <p:nvPr/>
        </p:nvSpPr>
        <p:spPr>
          <a:xfrm>
            <a:off x="8275320" y="3977640"/>
            <a:ext cx="3154680" cy="1920240"/>
          </a:xfrm>
          <a:prstGeom prst="rect">
            <a:avLst/>
          </a:prstGeom>
          <a:noFill/>
          <a:ln/>
        </p:spPr>
        <p:txBody>
          <a:bodyPr wrap="square" lIns="0" tIns="0" rIns="0" bIns="0" rtlCol="0" anchor="t"/>
          <a:lstStyle/>
          <a:p>
            <a:pPr marL="342900" indent="-342900">
              <a:spcAft>
                <a:spcPts val="600"/>
              </a:spcAft>
              <a:buSzPct val="100000"/>
              <a:buChar char="•"/>
            </a:pPr>
            <a:r>
              <a:rPr lang="en-US" sz="1400" dirty="0">
                <a:solidFill>
                  <a:schemeClr val="tx1"/>
                </a:solidFill>
              </a:rPr>
              <a:t>Zones les plus prometteuses, classées</a:t>
            </a:r>
            <a:endParaRPr lang="en-US" sz="1400" dirty="0"/>
          </a:p>
          <a:p>
            <a:pPr marL="342900" indent="-342900">
              <a:spcAft>
                <a:spcPts val="600"/>
              </a:spcAft>
              <a:buSzPct val="100000"/>
              <a:buChar char="•"/>
            </a:pPr>
            <a:r>
              <a:rPr lang="en-US" sz="1400" dirty="0">
                <a:solidFill>
                  <a:schemeClr val="tx1"/>
                </a:solidFill>
              </a:rPr>
              <a:t>Vos zones qui vendent sous leur potentiel</a:t>
            </a:r>
            <a:endParaRPr lang="en-US" sz="1400" dirty="0"/>
          </a:p>
          <a:p>
            <a:pPr marL="342900" indent="-342900">
              <a:spcAft>
                <a:spcPts val="600"/>
              </a:spcAft>
              <a:buSzPct val="100000"/>
              <a:buChar char="•"/>
            </a:pPr>
            <a:r>
              <a:rPr lang="en-US" sz="1400" dirty="0">
                <a:solidFill>
                  <a:schemeClr val="tx1"/>
                </a:solidFill>
              </a:rPr>
              <a:t>Bilan par gouvernorat</a:t>
            </a:r>
            <a:endParaRPr lang="en-US" sz="1400" dirty="0"/>
          </a:p>
          <a:p>
            <a:pPr marL="342900" indent="-342900">
              <a:spcAft>
                <a:spcPts val="600"/>
              </a:spcAft>
              <a:buSzPct val="100000"/>
              <a:buChar char="•"/>
            </a:pPr>
            <a:r>
              <a:rPr lang="en-US" sz="1400" dirty="0">
                <a:solidFill>
                  <a:schemeClr val="tx1"/>
                </a:solidFill>
              </a:rPr>
              <a:t>Export Excel</a:t>
            </a:r>
            <a:endParaRPr lang="en-US" sz="1400" dirty="0"/>
          </a:p>
        </p:txBody>
      </p:sp>
      <p:sp>
        <p:nvSpPr>
          <p:cNvPr id="25" name="Slide Number Placeholder 0"/>
          <p:cNvSpPr>
            <a:spLocks noGrp="1"/>
          </p:cNvSpPr>
          <p:nvPr>
            <p:ph type="sldNum" sz="quarter" idx="4294967295"/>
          </p:nvPr>
        </p:nvSpPr>
        <p:spPr>
          <a:xfrm>
            <a:off x="11155680"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64748B"/>
                </a:solidFill>
              </a:defRPr>
            </a:lvl1pPr>
          </a:lstStyle>
          <a:p>
            <a:pPr algn="r"/>
            <a:fld id="{F7021451-1387-4CA6-816F-3879F97B5CBC}" type="slidenum">
              <a:rPr b="0"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64240" cy="685800"/>
          </a:xfrm>
          <a:prstGeom prst="rect">
            <a:avLst/>
          </a:prstGeom>
          <a:noFill/>
          <a:ln/>
        </p:spPr>
        <p:txBody>
          <a:bodyPr wrap="square" lIns="0" tIns="0" rIns="0" bIns="0" rtlCol="0" anchor="t"/>
          <a:lstStyle/>
          <a:p>
            <a:pPr algn="l" indent="0" marL="0">
              <a:buNone/>
            </a:pPr>
            <a:r>
              <a:rPr lang="en-US" sz="3400" b="1" dirty="0">
                <a:solidFill>
                  <a:schemeClr val="tx1"/>
                </a:solidFill>
              </a:rPr>
              <a:t>Démographie et pouvoir d’achat intégrés</a:t>
            </a:r>
            <a:endParaRPr lang="en-US" sz="3400" dirty="0"/>
          </a:p>
        </p:txBody>
      </p:sp>
      <p:sp>
        <p:nvSpPr>
          <p:cNvPr id="3" name="Text 1"/>
          <p:cNvSpPr/>
          <p:nvPr>
            <p:ph idx="102" type="body" hasCustomPrompt="1"/>
          </p:nvPr>
        </p:nvSpPr>
        <p:spPr>
          <a:xfrm>
            <a:off x="548640" y="1051560"/>
            <a:ext cx="11064240" cy="411480"/>
          </a:xfrm>
          <a:prstGeom prst="rect">
            <a:avLst/>
          </a:prstGeom>
          <a:noFill/>
          <a:ln/>
        </p:spPr>
        <p:txBody>
          <a:bodyPr wrap="square" lIns="0" tIns="0" rIns="0" bIns="0" rtlCol="0" anchor="t"/>
          <a:lstStyle/>
          <a:p>
            <a:pPr indent="0" marL="0">
              <a:buNone/>
            </a:pPr>
            <a:r>
              <a:rPr lang="en-US" sz="1600" dirty="0">
                <a:solidFill>
                  <a:srgbClr val="64748B"/>
                </a:solidFill>
              </a:rPr>
              <a:t>Recensement 2024, densité et taux de pauvreté pour chacune des 265 délégations</a:t>
            </a:r>
            <a:endParaRPr lang="en-US" sz="1600" dirty="0"/>
          </a:p>
        </p:txBody>
      </p:sp>
      <p:sp>
        <p:nvSpPr>
          <p:cNvPr id="4" name="Cadre d2-sousse-map"/>
          <p:cNvSpPr/>
          <p:nvPr/>
        </p:nvSpPr>
        <p:spPr>
          <a:xfrm>
            <a:off x="821423" y="1645920"/>
            <a:ext cx="4895113" cy="4617720"/>
          </a:xfrm>
          <a:prstGeom prst="roundRect">
            <a:avLst>
              <a:gd name="adj" fmla="val 2376"/>
            </a:avLst>
          </a:prstGeom>
          <a:solidFill>
            <a:schemeClr val="bg1"/>
          </a:solidFill>
          <a:ln w="9525">
            <a:solidFill>
              <a:srgbClr val="E7E9F0"/>
            </a:solidFill>
            <a:prstDash val="solid"/>
          </a:ln>
          <a:effectLst>
            <a:outerShdw sx="100000" sy="100000" kx="0" ky="0" algn="bl" rotWithShape="0" blurRad="177800" dist="38100" dir="5400000">
              <a:srgbClr val="1E1B4B">
                <a:alpha val="16000"/>
              </a:srgbClr>
            </a:outerShdw>
          </a:effectLst>
        </p:spPr>
      </p:sp>
      <p:pic>
        <p:nvPicPr>
          <p:cNvPr id="5" name="Capture d2-sousse-map" descr="Densité de population à Sousse">    </p:cNvPr>
          <p:cNvPicPr>
            <a:picLocks noChangeAspect="1"/>
          </p:cNvPicPr>
          <p:nvPr/>
        </p:nvPicPr>
        <p:blipFill>
          <a:blip r:embed="rId1"/>
          <a:stretch>
            <a:fillRect/>
          </a:stretch>
        </p:blipFill>
        <p:spPr>
          <a:xfrm>
            <a:off x="894575" y="1719072"/>
            <a:ext cx="4748809" cy="4471416"/>
          </a:xfrm>
          <a:prstGeom prst="rect">
            <a:avLst/>
          </a:prstGeom>
        </p:spPr>
      </p:pic>
      <p:sp>
        <p:nvSpPr>
          <p:cNvPr id="6" name="Cadre p2-tunis-map"/>
          <p:cNvSpPr/>
          <p:nvPr/>
        </p:nvSpPr>
        <p:spPr>
          <a:xfrm>
            <a:off x="6444983" y="1645920"/>
            <a:ext cx="4895113" cy="4617720"/>
          </a:xfrm>
          <a:prstGeom prst="roundRect">
            <a:avLst>
              <a:gd name="adj" fmla="val 2376"/>
            </a:avLst>
          </a:prstGeom>
          <a:solidFill>
            <a:schemeClr val="bg1"/>
          </a:solidFill>
          <a:ln w="9525">
            <a:solidFill>
              <a:srgbClr val="E7E9F0"/>
            </a:solidFill>
            <a:prstDash val="solid"/>
          </a:ln>
          <a:effectLst>
            <a:outerShdw sx="100000" sy="100000" kx="0" ky="0" algn="bl" rotWithShape="0" blurRad="177800" dist="38100" dir="5400000">
              <a:srgbClr val="1E1B4B">
                <a:alpha val="16000"/>
              </a:srgbClr>
            </a:outerShdw>
          </a:effectLst>
        </p:spPr>
      </p:sp>
      <p:pic>
        <p:nvPicPr>
          <p:cNvPr id="7" name="Capture p2-tunis-map" descr="Pouvoir d’achat dans le Grand Tunis">    </p:cNvPr>
          <p:cNvPicPr>
            <a:picLocks noChangeAspect="1"/>
          </p:cNvPicPr>
          <p:nvPr/>
        </p:nvPicPr>
        <p:blipFill>
          <a:blip r:embed="rId2"/>
          <a:stretch>
            <a:fillRect/>
          </a:stretch>
        </p:blipFill>
        <p:spPr>
          <a:xfrm>
            <a:off x="6518135" y="1719072"/>
            <a:ext cx="4748809" cy="4471416"/>
          </a:xfrm>
          <a:prstGeom prst="rect">
            <a:avLst/>
          </a:prstGeom>
        </p:spPr>
      </p:pic>
      <p:sp>
        <p:nvSpPr>
          <p:cNvPr id="8" name="Text 4"/>
          <p:cNvSpPr txBox="1"/>
          <p:nvPr/>
        </p:nvSpPr>
        <p:spPr>
          <a:xfrm>
            <a:off x="548640" y="6263640"/>
            <a:ext cx="5440680" cy="274320"/>
          </a:xfrm>
          <a:prstGeom prst="rect">
            <a:avLst/>
          </a:prstGeom>
          <a:noFill/>
          <a:ln/>
        </p:spPr>
        <p:txBody>
          <a:bodyPr wrap="square" lIns="0" tIns="0" rIns="0" bIns="0" rtlCol="0" anchor="ctr"/>
          <a:lstStyle/>
          <a:p>
            <a:pPr algn="ctr" indent="0" marL="0">
              <a:buNone/>
            </a:pPr>
            <a:r>
              <a:rPr lang="en-US" sz="1200" dirty="0">
                <a:solidFill>
                  <a:srgbClr val="64748B"/>
                </a:solidFill>
              </a:rPr>
              <a:t>Densité de population (Sousse)</a:t>
            </a:r>
            <a:endParaRPr lang="en-US" sz="1200" dirty="0"/>
          </a:p>
        </p:txBody>
      </p:sp>
      <p:sp>
        <p:nvSpPr>
          <p:cNvPr id="9" name="Text 5"/>
          <p:cNvSpPr txBox="1"/>
          <p:nvPr/>
        </p:nvSpPr>
        <p:spPr>
          <a:xfrm>
            <a:off x="6172200" y="6263640"/>
            <a:ext cx="5440680" cy="274320"/>
          </a:xfrm>
          <a:prstGeom prst="rect">
            <a:avLst/>
          </a:prstGeom>
          <a:noFill/>
          <a:ln/>
        </p:spPr>
        <p:txBody>
          <a:bodyPr wrap="square" lIns="0" tIns="0" rIns="0" bIns="0" rtlCol="0" anchor="ctr"/>
          <a:lstStyle/>
          <a:p>
            <a:pPr algn="ctr" indent="0" marL="0">
              <a:buNone/>
            </a:pPr>
            <a:r>
              <a:rPr lang="en-US" sz="1200" dirty="0">
                <a:solidFill>
                  <a:srgbClr val="64748B"/>
                </a:solidFill>
              </a:rPr>
              <a:t>Pauvreté et pouvoir d’achat (Grand Tunis)</a:t>
            </a:r>
            <a:endParaRPr lang="en-US" sz="1200" dirty="0"/>
          </a:p>
        </p:txBody>
      </p:sp>
      <p:sp>
        <p:nvSpPr>
          <p:cNvPr id="25" name="Slide Number Placeholder 0"/>
          <p:cNvSpPr>
            <a:spLocks noGrp="1"/>
          </p:cNvSpPr>
          <p:nvPr>
            <p:ph type="sldNum" sz="quarter" idx="4294967295"/>
          </p:nvPr>
        </p:nvSpPr>
        <p:spPr>
          <a:xfrm>
            <a:off x="11155680"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64748B"/>
                </a:solidFill>
              </a:defRPr>
            </a:lvl1pPr>
          </a:lstStyle>
          <a:p>
            <a:pPr algn="r"/>
            <a:fld id="{F7021451-1387-4CA6-816F-3879F97B5CBC}" type="slidenum">
              <a:rPr b="0"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64240" cy="685800"/>
          </a:xfrm>
          <a:prstGeom prst="rect">
            <a:avLst/>
          </a:prstGeom>
          <a:noFill/>
          <a:ln/>
        </p:spPr>
        <p:txBody>
          <a:bodyPr wrap="square" lIns="0" tIns="0" rIns="0" bIns="0" rtlCol="0" anchor="t"/>
          <a:lstStyle/>
          <a:p>
            <a:pPr algn="l" indent="0" marL="0">
              <a:buNone/>
            </a:pPr>
            <a:r>
              <a:rPr lang="en-US" sz="3400" b="1" dirty="0">
                <a:solidFill>
                  <a:schemeClr val="tx1"/>
                </a:solidFill>
              </a:rPr>
              <a:t>Vos ventes importées, vos saisons anticipées</a:t>
            </a:r>
            <a:endParaRPr lang="en-US" sz="3400" dirty="0"/>
          </a:p>
        </p:txBody>
      </p:sp>
      <p:sp>
        <p:nvSpPr>
          <p:cNvPr id="3" name="Text 1"/>
          <p:cNvSpPr/>
          <p:nvPr>
            <p:ph idx="102" type="body" hasCustomPrompt="1"/>
          </p:nvPr>
        </p:nvSpPr>
        <p:spPr>
          <a:xfrm>
            <a:off x="548640" y="1051560"/>
            <a:ext cx="11064240" cy="411480"/>
          </a:xfrm>
          <a:prstGeom prst="rect">
            <a:avLst/>
          </a:prstGeom>
          <a:noFill/>
          <a:ln/>
        </p:spPr>
        <p:txBody>
          <a:bodyPr wrap="square" lIns="0" tIns="0" rIns="0" bIns="0" rtlCol="0" anchor="t"/>
          <a:lstStyle/>
          <a:p>
            <a:pPr indent="0" marL="0">
              <a:buNone/>
            </a:pPr>
            <a:r>
              <a:rPr lang="en-US" sz="1600" dirty="0">
                <a:solidFill>
                  <a:srgbClr val="64748B"/>
                </a:solidFill>
              </a:rPr>
              <a:t>Un export Excel de votre ERP suffit : GeoPulse relie chaque ligne au bon point par son code</a:t>
            </a:r>
            <a:endParaRPr lang="en-US" sz="1600" dirty="0"/>
          </a:p>
        </p:txBody>
      </p:sp>
      <p:sp>
        <p:nvSpPr>
          <p:cNvPr id="4" name="Cadre m2-apercu-c"/>
          <p:cNvSpPr/>
          <p:nvPr/>
        </p:nvSpPr>
        <p:spPr>
          <a:xfrm>
            <a:off x="890651" y="1645920"/>
            <a:ext cx="2379217" cy="4617720"/>
          </a:xfrm>
          <a:prstGeom prst="roundRect">
            <a:avLst>
              <a:gd name="adj" fmla="val 4612"/>
            </a:avLst>
          </a:prstGeom>
          <a:solidFill>
            <a:schemeClr val="bg1"/>
          </a:solidFill>
          <a:ln w="9525">
            <a:solidFill>
              <a:srgbClr val="E7E9F0"/>
            </a:solidFill>
            <a:prstDash val="solid"/>
          </a:ln>
          <a:effectLst>
            <a:outerShdw sx="100000" sy="100000" kx="0" ky="0" algn="bl" rotWithShape="0" blurRad="177800" dist="38100" dir="5400000">
              <a:srgbClr val="1E1B4B">
                <a:alpha val="16000"/>
              </a:srgbClr>
            </a:outerShdw>
          </a:effectLst>
        </p:spPr>
      </p:sp>
      <p:pic>
        <p:nvPicPr>
          <p:cNvPr id="5" name="Capture m2-apercu-c" descr="Import Excel des ventes">    </p:cNvPr>
          <p:cNvPicPr>
            <a:picLocks noChangeAspect="1"/>
          </p:cNvPicPr>
          <p:nvPr/>
        </p:nvPicPr>
        <p:blipFill>
          <a:blip r:embed="rId1"/>
          <a:stretch>
            <a:fillRect/>
          </a:stretch>
        </p:blipFill>
        <p:spPr>
          <a:xfrm>
            <a:off x="963803" y="1719072"/>
            <a:ext cx="2232913" cy="4471416"/>
          </a:xfrm>
          <a:prstGeom prst="rect">
            <a:avLst/>
          </a:prstGeom>
        </p:spPr>
      </p:pic>
      <p:sp>
        <p:nvSpPr>
          <p:cNvPr id="6" name="Cadre s2-prevision-c"/>
          <p:cNvSpPr/>
          <p:nvPr/>
        </p:nvSpPr>
        <p:spPr>
          <a:xfrm>
            <a:off x="4184442" y="1645920"/>
            <a:ext cx="2832516" cy="4617720"/>
          </a:xfrm>
          <a:prstGeom prst="roundRect">
            <a:avLst>
              <a:gd name="adj" fmla="val 3874"/>
            </a:avLst>
          </a:prstGeom>
          <a:solidFill>
            <a:schemeClr val="bg1"/>
          </a:solidFill>
          <a:ln w="9525">
            <a:solidFill>
              <a:srgbClr val="E7E9F0"/>
            </a:solidFill>
            <a:prstDash val="solid"/>
          </a:ln>
          <a:effectLst>
            <a:outerShdw sx="100000" sy="100000" kx="0" ky="0" algn="bl" rotWithShape="0" blurRad="177800" dist="38100" dir="5400000">
              <a:srgbClr val="1E1B4B">
                <a:alpha val="16000"/>
              </a:srgbClr>
            </a:outerShdw>
          </a:effectLst>
        </p:spPr>
      </p:sp>
      <p:pic>
        <p:nvPicPr>
          <p:cNvPr id="7" name="Capture s2-prevision-c" descr="Saisonnalité et prévision">    </p:cNvPr>
          <p:cNvPicPr>
            <a:picLocks noChangeAspect="1"/>
          </p:cNvPicPr>
          <p:nvPr/>
        </p:nvPicPr>
        <p:blipFill>
          <a:blip r:embed="rId2"/>
          <a:stretch>
            <a:fillRect/>
          </a:stretch>
        </p:blipFill>
        <p:spPr>
          <a:xfrm>
            <a:off x="4257594" y="1719072"/>
            <a:ext cx="2686212" cy="4471416"/>
          </a:xfrm>
          <a:prstGeom prst="rect">
            <a:avLst/>
          </a:prstGeom>
        </p:spPr>
      </p:pic>
      <p:sp>
        <p:nvSpPr>
          <p:cNvPr id="8" name="Pastille"/>
          <p:cNvSpPr/>
          <p:nvPr/>
        </p:nvSpPr>
        <p:spPr>
          <a:xfrm>
            <a:off x="7726680" y="1783080"/>
            <a:ext cx="457200" cy="457200"/>
          </a:xfrm>
          <a:prstGeom prst="roundRect">
            <a:avLst>
              <a:gd name="adj" fmla="val 24000"/>
            </a:avLst>
          </a:prstGeom>
          <a:solidFill>
            <a:srgbClr val="EEF0FF"/>
          </a:solidFill>
          <a:ln/>
        </p:spPr>
      </p:sp>
      <p:pic>
        <p:nvPicPr>
          <p:cNvPr id="9" name="Icône" descr="preencoded.png">    </p:cNvPr>
          <p:cNvPicPr>
            <a:picLocks noChangeAspect="1"/>
          </p:cNvPicPr>
          <p:nvPr/>
        </p:nvPicPr>
        <p:blipFill>
          <a:blip r:embed="rId3"/>
          <a:stretch>
            <a:fillRect/>
          </a:stretch>
        </p:blipFill>
        <p:spPr>
          <a:xfrm>
            <a:off x="7827264" y="1883664"/>
            <a:ext cx="256032" cy="256032"/>
          </a:xfrm>
          <a:prstGeom prst="rect">
            <a:avLst/>
          </a:prstGeom>
        </p:spPr>
      </p:pic>
      <p:sp>
        <p:nvSpPr>
          <p:cNvPr id="10" name="Texte Import en 3 clics"/>
          <p:cNvSpPr txBox="1"/>
          <p:nvPr/>
        </p:nvSpPr>
        <p:spPr>
          <a:xfrm>
            <a:off x="8348472" y="1746504"/>
            <a:ext cx="3264408" cy="960120"/>
          </a:xfrm>
          <a:prstGeom prst="rect">
            <a:avLst/>
          </a:prstGeom>
          <a:noFill/>
          <a:ln/>
        </p:spPr>
        <p:txBody>
          <a:bodyPr wrap="square" lIns="0" tIns="0" rIns="0" bIns="0" rtlCol="0" anchor="t"/>
          <a:lstStyle/>
          <a:p>
            <a:pPr indent="0" marL="0">
              <a:spcAft>
                <a:spcPts val="200"/>
              </a:spcAft>
              <a:buNone/>
            </a:pPr>
            <a:r>
              <a:rPr lang="en-US" sz="1600" b="1" dirty="0">
                <a:solidFill>
                  <a:schemeClr val="tx1"/>
                </a:solidFill>
              </a:rPr>
              <a:t>Import en 3 clics</a:t>
            </a:r>
            <a:endParaRPr lang="en-US" sz="1600" dirty="0"/>
          </a:p>
          <a:p>
            <a:pPr indent="0" marL="0">
              <a:spcAft>
                <a:spcPts val="200"/>
              </a:spcAft>
              <a:buNone/>
            </a:pPr>
            <a:r>
              <a:rPr lang="en-US" sz="1400" dirty="0">
                <a:solidFill>
                  <a:srgbClr val="64748B"/>
                </a:solidFill>
              </a:rPr>
              <a:t>Fichier Excel ou CSV, colonnes reconnues, erreurs signalées ligne par ligne.</a:t>
            </a:r>
            <a:endParaRPr lang="en-US" sz="1600" dirty="0"/>
          </a:p>
        </p:txBody>
      </p:sp>
      <p:sp>
        <p:nvSpPr>
          <p:cNvPr id="11" name="Pastille"/>
          <p:cNvSpPr/>
          <p:nvPr/>
        </p:nvSpPr>
        <p:spPr>
          <a:xfrm>
            <a:off x="7726680" y="3063240"/>
            <a:ext cx="457200" cy="457200"/>
          </a:xfrm>
          <a:prstGeom prst="roundRect">
            <a:avLst>
              <a:gd name="adj" fmla="val 24000"/>
            </a:avLst>
          </a:prstGeom>
          <a:solidFill>
            <a:srgbClr val="EEF0FF"/>
          </a:solidFill>
          <a:ln/>
        </p:spPr>
      </p:sp>
      <p:pic>
        <p:nvPicPr>
          <p:cNvPr id="12" name="Icône" descr="preencoded.png">    </p:cNvPr>
          <p:cNvPicPr>
            <a:picLocks noChangeAspect="1"/>
          </p:cNvPicPr>
          <p:nvPr/>
        </p:nvPicPr>
        <p:blipFill>
          <a:blip r:embed="rId4"/>
          <a:stretch>
            <a:fillRect/>
          </a:stretch>
        </p:blipFill>
        <p:spPr>
          <a:xfrm>
            <a:off x="7827264" y="3163824"/>
            <a:ext cx="256032" cy="256032"/>
          </a:xfrm>
          <a:prstGeom prst="rect">
            <a:avLst/>
          </a:prstGeom>
        </p:spPr>
      </p:pic>
      <p:sp>
        <p:nvSpPr>
          <p:cNvPr id="13" name="Texte Ramadan, Aïd, été, rentrée"/>
          <p:cNvSpPr txBox="1"/>
          <p:nvPr/>
        </p:nvSpPr>
        <p:spPr>
          <a:xfrm>
            <a:off x="8348472" y="3026664"/>
            <a:ext cx="3264408" cy="960120"/>
          </a:xfrm>
          <a:prstGeom prst="rect">
            <a:avLst/>
          </a:prstGeom>
          <a:noFill/>
          <a:ln/>
        </p:spPr>
        <p:txBody>
          <a:bodyPr wrap="square" lIns="0" tIns="0" rIns="0" bIns="0" rtlCol="0" anchor="t"/>
          <a:lstStyle/>
          <a:p>
            <a:pPr indent="0" marL="0">
              <a:spcAft>
                <a:spcPts val="200"/>
              </a:spcAft>
              <a:buNone/>
            </a:pPr>
            <a:r>
              <a:rPr lang="en-US" sz="1600" b="1" dirty="0">
                <a:solidFill>
                  <a:schemeClr val="tx1"/>
                </a:solidFill>
              </a:rPr>
              <a:t>Ramadan, Aïd, été, rentrée</a:t>
            </a:r>
            <a:endParaRPr lang="en-US" sz="1600" dirty="0"/>
          </a:p>
          <a:p>
            <a:pPr indent="0" marL="0">
              <a:spcAft>
                <a:spcPts val="200"/>
              </a:spcAft>
              <a:buNone/>
            </a:pPr>
            <a:r>
              <a:rPr lang="en-US" sz="1400" dirty="0">
                <a:solidFill>
                  <a:srgbClr val="64748B"/>
                </a:solidFill>
              </a:rPr>
              <a:t>L’effet de chaque période sur vos ventes, calé sur le calendrier hégirien.</a:t>
            </a:r>
            <a:endParaRPr lang="en-US" sz="1600" dirty="0"/>
          </a:p>
        </p:txBody>
      </p:sp>
      <p:sp>
        <p:nvSpPr>
          <p:cNvPr id="14" name="Pastille"/>
          <p:cNvSpPr/>
          <p:nvPr/>
        </p:nvSpPr>
        <p:spPr>
          <a:xfrm>
            <a:off x="7726680" y="4343400"/>
            <a:ext cx="457200" cy="457200"/>
          </a:xfrm>
          <a:prstGeom prst="roundRect">
            <a:avLst>
              <a:gd name="adj" fmla="val 24000"/>
            </a:avLst>
          </a:prstGeom>
          <a:solidFill>
            <a:srgbClr val="EEF0FF"/>
          </a:solidFill>
          <a:ln/>
        </p:spPr>
      </p:sp>
      <p:pic>
        <p:nvPicPr>
          <p:cNvPr id="15" name="Icône" descr="preencoded.png">    </p:cNvPr>
          <p:cNvPicPr>
            <a:picLocks noChangeAspect="1"/>
          </p:cNvPicPr>
          <p:nvPr/>
        </p:nvPicPr>
        <p:blipFill>
          <a:blip r:embed="rId5"/>
          <a:stretch>
            <a:fillRect/>
          </a:stretch>
        </p:blipFill>
        <p:spPr>
          <a:xfrm>
            <a:off x="7827264" y="4443984"/>
            <a:ext cx="256032" cy="256032"/>
          </a:xfrm>
          <a:prstGeom prst="rect">
            <a:avLst/>
          </a:prstGeom>
        </p:spPr>
      </p:pic>
      <p:sp>
        <p:nvSpPr>
          <p:cNvPr id="16" name="Texte Prévision 12 mois"/>
          <p:cNvSpPr txBox="1"/>
          <p:nvPr/>
        </p:nvSpPr>
        <p:spPr>
          <a:xfrm>
            <a:off x="8348472" y="4306824"/>
            <a:ext cx="3264408" cy="1143000"/>
          </a:xfrm>
          <a:prstGeom prst="rect">
            <a:avLst/>
          </a:prstGeom>
          <a:noFill/>
          <a:ln/>
        </p:spPr>
        <p:txBody>
          <a:bodyPr wrap="square" lIns="0" tIns="0" rIns="0" bIns="0" rtlCol="0" anchor="t"/>
          <a:lstStyle/>
          <a:p>
            <a:pPr indent="0" marL="0">
              <a:spcAft>
                <a:spcPts val="200"/>
              </a:spcAft>
              <a:buNone/>
            </a:pPr>
            <a:r>
              <a:rPr lang="en-US" sz="1600" b="1" dirty="0">
                <a:solidFill>
                  <a:schemeClr val="tx1"/>
                </a:solidFill>
              </a:rPr>
              <a:t>Prévision 12 mois</a:t>
            </a:r>
            <a:endParaRPr lang="en-US" sz="1600" dirty="0"/>
          </a:p>
          <a:p>
            <a:pPr indent="0" marL="0">
              <a:spcAft>
                <a:spcPts val="200"/>
              </a:spcAft>
              <a:buNone/>
            </a:pPr>
            <a:r>
              <a:rPr lang="en-US" sz="1400" dirty="0">
                <a:solidFill>
                  <a:srgbClr val="64748B"/>
                </a:solidFill>
              </a:rPr>
              <a:t>Pour tout le réseau, un gouvernorat ou un seul point : stocks et personnel au bon moment.</a:t>
            </a:r>
            <a:endParaRPr lang="en-US" sz="1600" dirty="0"/>
          </a:p>
        </p:txBody>
      </p:sp>
      <p:sp>
        <p:nvSpPr>
          <p:cNvPr id="25" name="Slide Number Placeholder 0"/>
          <p:cNvSpPr>
            <a:spLocks noGrp="1"/>
          </p:cNvSpPr>
          <p:nvPr>
            <p:ph type="sldNum" sz="quarter" idx="4294967295"/>
          </p:nvPr>
        </p:nvSpPr>
        <p:spPr>
          <a:xfrm>
            <a:off x="11155680"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64748B"/>
                </a:solidFill>
              </a:defRPr>
            </a:lvl1pPr>
          </a:lstStyle>
          <a:p>
            <a:pPr algn="r"/>
            <a:fld id="{F7021451-1387-4CA6-816F-3879F97B5CBC}" type="slidenum">
              <a:rPr b="0"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64240" cy="685800"/>
          </a:xfrm>
          <a:prstGeom prst="rect">
            <a:avLst/>
          </a:prstGeom>
          <a:noFill/>
          <a:ln/>
        </p:spPr>
        <p:txBody>
          <a:bodyPr wrap="square" lIns="0" tIns="0" rIns="0" bIns="0" rtlCol="0" anchor="t"/>
          <a:lstStyle/>
          <a:p>
            <a:pPr algn="l" indent="0" marL="0">
              <a:buNone/>
            </a:pPr>
            <a:r>
              <a:rPr lang="en-US" sz="3400" b="1" dirty="0">
                <a:solidFill>
                  <a:schemeClr val="tx1"/>
                </a:solidFill>
              </a:rPr>
              <a:t>Le terrain : visites des commerciaux</a:t>
            </a:r>
            <a:endParaRPr lang="en-US" sz="3400" dirty="0"/>
          </a:p>
        </p:txBody>
      </p:sp>
      <p:sp>
        <p:nvSpPr>
          <p:cNvPr id="3" name="Text 1"/>
          <p:cNvSpPr/>
          <p:nvPr>
            <p:ph idx="102" type="body" hasCustomPrompt="1"/>
          </p:nvPr>
        </p:nvSpPr>
        <p:spPr>
          <a:xfrm>
            <a:off x="548640" y="1051560"/>
            <a:ext cx="11064240" cy="411480"/>
          </a:xfrm>
          <a:prstGeom prst="rect">
            <a:avLst/>
          </a:prstGeom>
          <a:noFill/>
          <a:ln/>
        </p:spPr>
        <p:txBody>
          <a:bodyPr wrap="square" lIns="0" tIns="0" rIns="0" bIns="0" rtlCol="0" anchor="t"/>
          <a:lstStyle/>
          <a:p>
            <a:pPr indent="0" marL="0">
              <a:buNone/>
            </a:pPr>
            <a:r>
              <a:rPr lang="en-US" sz="1600" dirty="0">
                <a:solidFill>
                  <a:srgbClr val="64748B"/>
                </a:solidFill>
              </a:rPr>
              <a:t>Chaque passage noté en 10 secondes depuis le téléphone, chaque client oublié repéré</a:t>
            </a:r>
            <a:endParaRPr lang="en-US" sz="1600" dirty="0"/>
          </a:p>
        </p:txBody>
      </p:sp>
      <p:sp>
        <p:nvSpPr>
          <p:cNvPr id="4" name="Cadre v1-saisie-c"/>
          <p:cNvSpPr/>
          <p:nvPr/>
        </p:nvSpPr>
        <p:spPr>
          <a:xfrm>
            <a:off x="548640" y="1814786"/>
            <a:ext cx="3291840" cy="4279987"/>
          </a:xfrm>
          <a:prstGeom prst="roundRect">
            <a:avLst>
              <a:gd name="adj" fmla="val 3333"/>
            </a:avLst>
          </a:prstGeom>
          <a:solidFill>
            <a:schemeClr val="bg1"/>
          </a:solidFill>
          <a:ln w="9525">
            <a:solidFill>
              <a:srgbClr val="E7E9F0"/>
            </a:solidFill>
            <a:prstDash val="solid"/>
          </a:ln>
          <a:effectLst>
            <a:outerShdw sx="100000" sy="100000" kx="0" ky="0" algn="bl" rotWithShape="0" blurRad="177800" dist="38100" dir="5400000">
              <a:srgbClr val="1E1B4B">
                <a:alpha val="16000"/>
              </a:srgbClr>
            </a:outerShdw>
          </a:effectLst>
        </p:spPr>
      </p:sp>
      <p:pic>
        <p:nvPicPr>
          <p:cNvPr id="5" name="Capture v1-saisie-c" descr="Saisie d’une visite">    </p:cNvPr>
          <p:cNvPicPr>
            <a:picLocks noChangeAspect="1"/>
          </p:cNvPicPr>
          <p:nvPr/>
        </p:nvPicPr>
        <p:blipFill>
          <a:blip r:embed="rId1"/>
          <a:stretch>
            <a:fillRect/>
          </a:stretch>
        </p:blipFill>
        <p:spPr>
          <a:xfrm>
            <a:off x="621792" y="1887938"/>
            <a:ext cx="3145536" cy="4133683"/>
          </a:xfrm>
          <a:prstGeom prst="rect">
            <a:avLst/>
          </a:prstGeom>
        </p:spPr>
      </p:pic>
      <p:sp>
        <p:nvSpPr>
          <p:cNvPr id="6" name="Cadre v2-a-visiter-c"/>
          <p:cNvSpPr/>
          <p:nvPr/>
        </p:nvSpPr>
        <p:spPr>
          <a:xfrm>
            <a:off x="4088517" y="1645920"/>
            <a:ext cx="3252966" cy="4617720"/>
          </a:xfrm>
          <a:prstGeom prst="roundRect">
            <a:avLst>
              <a:gd name="adj" fmla="val 3373"/>
            </a:avLst>
          </a:prstGeom>
          <a:solidFill>
            <a:schemeClr val="bg1"/>
          </a:solidFill>
          <a:ln w="9525">
            <a:solidFill>
              <a:srgbClr val="E7E9F0"/>
            </a:solidFill>
            <a:prstDash val="solid"/>
          </a:ln>
          <a:effectLst>
            <a:outerShdw sx="100000" sy="100000" kx="0" ky="0" algn="bl" rotWithShape="0" blurRad="177800" dist="38100" dir="5400000">
              <a:srgbClr val="1E1B4B">
                <a:alpha val="16000"/>
              </a:srgbClr>
            </a:outerShdw>
          </a:effectLst>
        </p:spPr>
      </p:sp>
      <p:pic>
        <p:nvPicPr>
          <p:cNvPr id="7" name="Capture v2-a-visiter-c" descr="Points à visiter">    </p:cNvPr>
          <p:cNvPicPr>
            <a:picLocks noChangeAspect="1"/>
          </p:cNvPicPr>
          <p:nvPr/>
        </p:nvPicPr>
        <p:blipFill>
          <a:blip r:embed="rId2"/>
          <a:stretch>
            <a:fillRect/>
          </a:stretch>
        </p:blipFill>
        <p:spPr>
          <a:xfrm>
            <a:off x="4161669" y="1719072"/>
            <a:ext cx="3106662" cy="4471416"/>
          </a:xfrm>
          <a:prstGeom prst="rect">
            <a:avLst/>
          </a:prstGeom>
        </p:spPr>
      </p:pic>
      <p:sp>
        <p:nvSpPr>
          <p:cNvPr id="8" name="Pastille"/>
          <p:cNvSpPr/>
          <p:nvPr/>
        </p:nvSpPr>
        <p:spPr>
          <a:xfrm>
            <a:off x="7726680" y="1783080"/>
            <a:ext cx="457200" cy="457200"/>
          </a:xfrm>
          <a:prstGeom prst="roundRect">
            <a:avLst>
              <a:gd name="adj" fmla="val 24000"/>
            </a:avLst>
          </a:prstGeom>
          <a:solidFill>
            <a:srgbClr val="EEF0FF"/>
          </a:solidFill>
          <a:ln/>
        </p:spPr>
      </p:sp>
      <p:pic>
        <p:nvPicPr>
          <p:cNvPr id="9" name="Icône" descr="preencoded.png">    </p:cNvPr>
          <p:cNvPicPr>
            <a:picLocks noChangeAspect="1"/>
          </p:cNvPicPr>
          <p:nvPr/>
        </p:nvPicPr>
        <p:blipFill>
          <a:blip r:embed="rId3"/>
          <a:stretch>
            <a:fillRect/>
          </a:stretch>
        </p:blipFill>
        <p:spPr>
          <a:xfrm>
            <a:off x="7827264" y="1883664"/>
            <a:ext cx="256032" cy="256032"/>
          </a:xfrm>
          <a:prstGeom prst="rect">
            <a:avLst/>
          </a:prstGeom>
        </p:spPr>
      </p:pic>
      <p:sp>
        <p:nvSpPr>
          <p:cNvPr id="10" name="Texte Saisie sur place"/>
          <p:cNvSpPr txBox="1"/>
          <p:nvPr/>
        </p:nvSpPr>
        <p:spPr>
          <a:xfrm>
            <a:off x="8348472" y="1746504"/>
            <a:ext cx="3264408" cy="960120"/>
          </a:xfrm>
          <a:prstGeom prst="rect">
            <a:avLst/>
          </a:prstGeom>
          <a:noFill/>
          <a:ln/>
        </p:spPr>
        <p:txBody>
          <a:bodyPr wrap="square" lIns="0" tIns="0" rIns="0" bIns="0" rtlCol="0" anchor="t"/>
          <a:lstStyle/>
          <a:p>
            <a:pPr indent="0" marL="0">
              <a:spcAft>
                <a:spcPts val="200"/>
              </a:spcAft>
              <a:buNone/>
            </a:pPr>
            <a:r>
              <a:rPr lang="en-US" sz="1600" b="1" dirty="0">
                <a:solidFill>
                  <a:schemeClr val="tx1"/>
                </a:solidFill>
              </a:rPr>
              <a:t>Saisie sur place</a:t>
            </a:r>
            <a:endParaRPr lang="en-US" sz="1600" dirty="0"/>
          </a:p>
          <a:p>
            <a:pPr indent="0" marL="0">
              <a:spcAft>
                <a:spcPts val="200"/>
              </a:spcAft>
              <a:buNone/>
            </a:pPr>
            <a:r>
              <a:rPr lang="en-US" sz="1400" dirty="0">
                <a:solidFill>
                  <a:srgbClr val="64748B"/>
                </a:solidFill>
              </a:rPr>
              <a:t>Le GPS trouve le point, le commercial note commande, montant et remarque.</a:t>
            </a:r>
            <a:endParaRPr lang="en-US" sz="1600" dirty="0"/>
          </a:p>
        </p:txBody>
      </p:sp>
      <p:sp>
        <p:nvSpPr>
          <p:cNvPr id="11" name="Pastille"/>
          <p:cNvSpPr/>
          <p:nvPr/>
        </p:nvSpPr>
        <p:spPr>
          <a:xfrm>
            <a:off x="7726680" y="3063240"/>
            <a:ext cx="457200" cy="457200"/>
          </a:xfrm>
          <a:prstGeom prst="roundRect">
            <a:avLst>
              <a:gd name="adj" fmla="val 24000"/>
            </a:avLst>
          </a:prstGeom>
          <a:solidFill>
            <a:srgbClr val="EEF0FF"/>
          </a:solidFill>
          <a:ln/>
        </p:spPr>
      </p:sp>
      <p:pic>
        <p:nvPicPr>
          <p:cNvPr id="12" name="Icône" descr="preencoded.png">    </p:cNvPr>
          <p:cNvPicPr>
            <a:picLocks noChangeAspect="1"/>
          </p:cNvPicPr>
          <p:nvPr/>
        </p:nvPicPr>
        <p:blipFill>
          <a:blip r:embed="rId4"/>
          <a:stretch>
            <a:fillRect/>
          </a:stretch>
        </p:blipFill>
        <p:spPr>
          <a:xfrm>
            <a:off x="7827264" y="3163824"/>
            <a:ext cx="256032" cy="256032"/>
          </a:xfrm>
          <a:prstGeom prst="rect">
            <a:avLst/>
          </a:prstGeom>
        </p:spPr>
      </p:pic>
      <p:sp>
        <p:nvSpPr>
          <p:cNvPr id="13" name="Texte Points à visiter"/>
          <p:cNvSpPr txBox="1"/>
          <p:nvPr/>
        </p:nvSpPr>
        <p:spPr>
          <a:xfrm>
            <a:off x="8348472" y="3026664"/>
            <a:ext cx="3264408" cy="960120"/>
          </a:xfrm>
          <a:prstGeom prst="rect">
            <a:avLst/>
          </a:prstGeom>
          <a:noFill/>
          <a:ln/>
        </p:spPr>
        <p:txBody>
          <a:bodyPr wrap="square" lIns="0" tIns="0" rIns="0" bIns="0" rtlCol="0" anchor="t"/>
          <a:lstStyle/>
          <a:p>
            <a:pPr indent="0" marL="0">
              <a:spcAft>
                <a:spcPts val="200"/>
              </a:spcAft>
              <a:buNone/>
            </a:pPr>
            <a:r>
              <a:rPr lang="en-US" sz="1600" b="1" dirty="0">
                <a:solidFill>
                  <a:schemeClr val="tx1"/>
                </a:solidFill>
              </a:rPr>
              <a:t>Points à visiter</a:t>
            </a:r>
            <a:endParaRPr lang="en-US" sz="1600" dirty="0"/>
          </a:p>
          <a:p>
            <a:pPr indent="0" marL="0">
              <a:spcAft>
                <a:spcPts val="200"/>
              </a:spcAft>
              <a:buNone/>
            </a:pPr>
            <a:r>
              <a:rPr lang="en-US" sz="1400" dirty="0">
                <a:solidFill>
                  <a:srgbClr val="64748B"/>
                </a:solidFill>
              </a:rPr>
              <a:t>Ceux sans visite depuis 7, 15, 30 ou 60 jours, sur la carte et en Excel.</a:t>
            </a:r>
            <a:endParaRPr lang="en-US" sz="1600" dirty="0"/>
          </a:p>
        </p:txBody>
      </p:sp>
      <p:sp>
        <p:nvSpPr>
          <p:cNvPr id="14" name="Pastille"/>
          <p:cNvSpPr/>
          <p:nvPr/>
        </p:nvSpPr>
        <p:spPr>
          <a:xfrm>
            <a:off x="7726680" y="4343400"/>
            <a:ext cx="457200" cy="457200"/>
          </a:xfrm>
          <a:prstGeom prst="roundRect">
            <a:avLst>
              <a:gd name="adj" fmla="val 24000"/>
            </a:avLst>
          </a:prstGeom>
          <a:solidFill>
            <a:srgbClr val="EEF0FF"/>
          </a:solidFill>
          <a:ln/>
        </p:spPr>
      </p:sp>
      <p:pic>
        <p:nvPicPr>
          <p:cNvPr id="15" name="Icône" descr="preencoded.png">    </p:cNvPr>
          <p:cNvPicPr>
            <a:picLocks noChangeAspect="1"/>
          </p:cNvPicPr>
          <p:nvPr/>
        </p:nvPicPr>
        <p:blipFill>
          <a:blip r:embed="rId5"/>
          <a:stretch>
            <a:fillRect/>
          </a:stretch>
        </p:blipFill>
        <p:spPr>
          <a:xfrm>
            <a:off x="7827264" y="4443984"/>
            <a:ext cx="256032" cy="256032"/>
          </a:xfrm>
          <a:prstGeom prst="rect">
            <a:avLst/>
          </a:prstGeom>
        </p:spPr>
      </p:pic>
      <p:sp>
        <p:nvSpPr>
          <p:cNvPr id="16" name="Texte Bilan de l’équipe"/>
          <p:cNvSpPr txBox="1"/>
          <p:nvPr/>
        </p:nvSpPr>
        <p:spPr>
          <a:xfrm>
            <a:off x="8348472" y="4306824"/>
            <a:ext cx="3264408" cy="960120"/>
          </a:xfrm>
          <a:prstGeom prst="rect">
            <a:avLst/>
          </a:prstGeom>
          <a:noFill/>
          <a:ln/>
        </p:spPr>
        <p:txBody>
          <a:bodyPr wrap="square" lIns="0" tIns="0" rIns="0" bIns="0" rtlCol="0" anchor="t"/>
          <a:lstStyle/>
          <a:p>
            <a:pPr indent="0" marL="0">
              <a:spcAft>
                <a:spcPts val="200"/>
              </a:spcAft>
              <a:buNone/>
            </a:pPr>
            <a:r>
              <a:rPr lang="en-US" sz="1600" b="1" dirty="0">
                <a:solidFill>
                  <a:schemeClr val="tx1"/>
                </a:solidFill>
              </a:rPr>
              <a:t>Bilan de l’équipe</a:t>
            </a:r>
            <a:endParaRPr lang="en-US" sz="1600" dirty="0"/>
          </a:p>
          <a:p>
            <a:pPr indent="0" marL="0">
              <a:spcAft>
                <a:spcPts val="200"/>
              </a:spcAft>
              <a:buNone/>
            </a:pPr>
            <a:r>
              <a:rPr lang="en-US" sz="1400" dirty="0">
                <a:solidFill>
                  <a:srgbClr val="64748B"/>
                </a:solidFill>
              </a:rPr>
              <a:t>Visites, taux de commande et montants commandés sur 30 jours.</a:t>
            </a:r>
            <a:endParaRPr lang="en-US" sz="1600" dirty="0"/>
          </a:p>
        </p:txBody>
      </p:sp>
      <p:sp>
        <p:nvSpPr>
          <p:cNvPr id="25" name="Slide Number Placeholder 0"/>
          <p:cNvSpPr>
            <a:spLocks noGrp="1"/>
          </p:cNvSpPr>
          <p:nvPr>
            <p:ph type="sldNum" sz="quarter" idx="4294967295"/>
          </p:nvPr>
        </p:nvSpPr>
        <p:spPr>
          <a:xfrm>
            <a:off x="11155680"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64748B"/>
                </a:solidFill>
              </a:defRPr>
            </a:lvl1pPr>
          </a:lstStyle>
          <a:p>
            <a:pPr algn="r"/>
            <a:fld id="{F7021451-1387-4CA6-816F-3879F97B5CBC}" type="slidenum">
              <a:rPr b="0"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64240" cy="685800"/>
          </a:xfrm>
          <a:prstGeom prst="rect">
            <a:avLst/>
          </a:prstGeom>
          <a:noFill/>
          <a:ln/>
        </p:spPr>
        <p:txBody>
          <a:bodyPr wrap="square" lIns="0" tIns="0" rIns="0" bIns="0" rtlCol="0" anchor="t"/>
          <a:lstStyle/>
          <a:p>
            <a:pPr algn="l" indent="0" marL="0">
              <a:buNone/>
            </a:pPr>
            <a:r>
              <a:rPr lang="en-US" sz="3400" b="1" dirty="0">
                <a:solidFill>
                  <a:schemeClr val="tx1"/>
                </a:solidFill>
              </a:rPr>
              <a:t>Votre équipe, ses droits, et l’historique de tout</a:t>
            </a:r>
            <a:endParaRPr lang="en-US" sz="3400" dirty="0"/>
          </a:p>
        </p:txBody>
      </p:sp>
      <p:sp>
        <p:nvSpPr>
          <p:cNvPr id="3" name="Text 1"/>
          <p:cNvSpPr/>
          <p:nvPr>
            <p:ph idx="102" type="body" hasCustomPrompt="1"/>
          </p:nvPr>
        </p:nvSpPr>
        <p:spPr>
          <a:xfrm>
            <a:off x="548640" y="1051560"/>
            <a:ext cx="11064240" cy="411480"/>
          </a:xfrm>
          <a:prstGeom prst="rect">
            <a:avLst/>
          </a:prstGeom>
          <a:noFill/>
          <a:ln/>
        </p:spPr>
        <p:txBody>
          <a:bodyPr wrap="square" lIns="0" tIns="0" rIns="0" bIns="0" rtlCol="0" anchor="t"/>
          <a:lstStyle/>
          <a:p>
            <a:pPr indent="0" marL="0">
              <a:buNone/>
            </a:pPr>
            <a:r>
              <a:rPr lang="en-US" sz="1600" dirty="0">
                <a:solidFill>
                  <a:srgbClr val="64748B"/>
                </a:solidFill>
              </a:rPr>
              <a:t>Trois rôles, des invitations par code, un journal que personne ne peut modifier</a:t>
            </a:r>
            <a:endParaRPr lang="en-US" sz="1600" dirty="0"/>
          </a:p>
        </p:txBody>
      </p:sp>
      <p:sp>
        <p:nvSpPr>
          <p:cNvPr id="4" name="Cadre e2-invitation-c"/>
          <p:cNvSpPr/>
          <p:nvPr/>
        </p:nvSpPr>
        <p:spPr>
          <a:xfrm>
            <a:off x="632799" y="1645920"/>
            <a:ext cx="3123522" cy="4617720"/>
          </a:xfrm>
          <a:prstGeom prst="roundRect">
            <a:avLst>
              <a:gd name="adj" fmla="val 3513"/>
            </a:avLst>
          </a:prstGeom>
          <a:solidFill>
            <a:schemeClr val="bg1"/>
          </a:solidFill>
          <a:ln w="9525">
            <a:solidFill>
              <a:srgbClr val="E7E9F0"/>
            </a:solidFill>
            <a:prstDash val="solid"/>
          </a:ln>
          <a:effectLst>
            <a:outerShdw sx="100000" sy="100000" kx="0" ky="0" algn="bl" rotWithShape="0" blurRad="177800" dist="38100" dir="5400000">
              <a:srgbClr val="1E1B4B">
                <a:alpha val="16000"/>
              </a:srgbClr>
            </a:outerShdw>
          </a:effectLst>
        </p:spPr>
      </p:sp>
      <p:pic>
        <p:nvPicPr>
          <p:cNvPr id="5" name="Capture e2-invitation-c" descr="Invitation d’un membre">    </p:cNvPr>
          <p:cNvPicPr>
            <a:picLocks noChangeAspect="1"/>
          </p:cNvPicPr>
          <p:nvPr/>
        </p:nvPicPr>
        <p:blipFill>
          <a:blip r:embed="rId1"/>
          <a:stretch>
            <a:fillRect/>
          </a:stretch>
        </p:blipFill>
        <p:spPr>
          <a:xfrm>
            <a:off x="705951" y="1719072"/>
            <a:ext cx="2977218" cy="4471416"/>
          </a:xfrm>
          <a:prstGeom prst="rect">
            <a:avLst/>
          </a:prstGeom>
        </p:spPr>
      </p:pic>
      <p:sp>
        <p:nvSpPr>
          <p:cNvPr id="6" name="Cadre e3-journal-c"/>
          <p:cNvSpPr/>
          <p:nvPr/>
        </p:nvSpPr>
        <p:spPr>
          <a:xfrm>
            <a:off x="4318640" y="1645920"/>
            <a:ext cx="2792720" cy="4617720"/>
          </a:xfrm>
          <a:prstGeom prst="roundRect">
            <a:avLst>
              <a:gd name="adj" fmla="val 3929"/>
            </a:avLst>
          </a:prstGeom>
          <a:solidFill>
            <a:schemeClr val="bg1"/>
          </a:solidFill>
          <a:ln w="9525">
            <a:solidFill>
              <a:srgbClr val="E7E9F0"/>
            </a:solidFill>
            <a:prstDash val="solid"/>
          </a:ln>
          <a:effectLst>
            <a:outerShdw sx="100000" sy="100000" kx="0" ky="0" algn="bl" rotWithShape="0" blurRad="177800" dist="38100" dir="5400000">
              <a:srgbClr val="1E1B4B">
                <a:alpha val="16000"/>
              </a:srgbClr>
            </a:outerShdw>
          </a:effectLst>
        </p:spPr>
      </p:sp>
      <p:pic>
        <p:nvPicPr>
          <p:cNvPr id="7" name="Capture e3-journal-c" descr="Journal des modifications">    </p:cNvPr>
          <p:cNvPicPr>
            <a:picLocks noChangeAspect="1"/>
          </p:cNvPicPr>
          <p:nvPr/>
        </p:nvPicPr>
        <p:blipFill>
          <a:blip r:embed="rId2"/>
          <a:stretch>
            <a:fillRect/>
          </a:stretch>
        </p:blipFill>
        <p:spPr>
          <a:xfrm>
            <a:off x="4391792" y="1719072"/>
            <a:ext cx="2646416" cy="4471416"/>
          </a:xfrm>
          <a:prstGeom prst="rect">
            <a:avLst/>
          </a:prstGeom>
        </p:spPr>
      </p:pic>
      <p:sp>
        <p:nvSpPr>
          <p:cNvPr id="8" name="Carte"/>
          <p:cNvSpPr/>
          <p:nvPr/>
        </p:nvSpPr>
        <p:spPr>
          <a:xfrm>
            <a:off x="7726680" y="1783080"/>
            <a:ext cx="3886200" cy="1051560"/>
          </a:xfrm>
          <a:prstGeom prst="roundRect">
            <a:avLst>
              <a:gd name="adj" fmla="val 12174"/>
            </a:avLst>
          </a:prstGeom>
          <a:solidFill>
            <a:schemeClr val="bg1"/>
          </a:solidFill>
          <a:ln w="9525">
            <a:solidFill>
              <a:srgbClr val="E7E9F0"/>
            </a:solidFill>
            <a:prstDash val="solid"/>
          </a:ln>
          <a:effectLst>
            <a:outerShdw sx="100000" sy="100000" kx="0" ky="0" algn="bl" rotWithShape="0" blurRad="177800" dist="38100" dir="5400000">
              <a:srgbClr val="1E1B4B">
                <a:alpha val="16000"/>
              </a:srgbClr>
            </a:outerShdw>
          </a:effectLst>
        </p:spPr>
      </p:sp>
      <p:sp>
        <p:nvSpPr>
          <p:cNvPr id="9" name="Rôle Administrateur"/>
          <p:cNvSpPr txBox="1"/>
          <p:nvPr/>
        </p:nvSpPr>
        <p:spPr>
          <a:xfrm>
            <a:off x="7955280" y="1920240"/>
            <a:ext cx="3520440" cy="822960"/>
          </a:xfrm>
          <a:prstGeom prst="rect">
            <a:avLst/>
          </a:prstGeom>
          <a:noFill/>
          <a:ln/>
        </p:spPr>
        <p:txBody>
          <a:bodyPr wrap="square" lIns="0" tIns="0" rIns="0" bIns="0" rtlCol="0" anchor="t"/>
          <a:lstStyle/>
          <a:p>
            <a:pPr indent="0" marL="0">
              <a:buNone/>
            </a:pPr>
            <a:r>
              <a:rPr lang="en-US" sz="1600" b="1" dirty="0">
                <a:solidFill>
                  <a:schemeClr val="accent1"/>
                </a:solidFill>
              </a:rPr>
              <a:t>Administrateur</a:t>
            </a:r>
            <a:endParaRPr lang="en-US" sz="1600" dirty="0"/>
          </a:p>
          <a:p>
            <a:pPr indent="0" marL="0">
              <a:buNone/>
            </a:pPr>
            <a:r>
              <a:rPr lang="en-US" sz="1400" dirty="0">
                <a:solidFill>
                  <a:schemeClr val="tx1"/>
                </a:solidFill>
              </a:rPr>
              <a:t>Configure les types, invite l’équipe, gère l’abonnement.</a:t>
            </a:r>
            <a:endParaRPr lang="en-US" sz="1600" dirty="0"/>
          </a:p>
        </p:txBody>
      </p:sp>
      <p:sp>
        <p:nvSpPr>
          <p:cNvPr id="10" name="Carte"/>
          <p:cNvSpPr/>
          <p:nvPr/>
        </p:nvSpPr>
        <p:spPr>
          <a:xfrm>
            <a:off x="7726680" y="3017520"/>
            <a:ext cx="3886200" cy="1051560"/>
          </a:xfrm>
          <a:prstGeom prst="roundRect">
            <a:avLst>
              <a:gd name="adj" fmla="val 12174"/>
            </a:avLst>
          </a:prstGeom>
          <a:solidFill>
            <a:schemeClr val="bg1"/>
          </a:solidFill>
          <a:ln w="9525">
            <a:solidFill>
              <a:srgbClr val="E7E9F0"/>
            </a:solidFill>
            <a:prstDash val="solid"/>
          </a:ln>
          <a:effectLst>
            <a:outerShdw sx="100000" sy="100000" kx="0" ky="0" algn="bl" rotWithShape="0" blurRad="177800" dist="38100" dir="5400000">
              <a:srgbClr val="1E1B4B">
                <a:alpha val="16000"/>
              </a:srgbClr>
            </a:outerShdw>
          </a:effectLst>
        </p:spPr>
      </p:sp>
      <p:sp>
        <p:nvSpPr>
          <p:cNvPr id="11" name="Rôle Manager"/>
          <p:cNvSpPr txBox="1"/>
          <p:nvPr/>
        </p:nvSpPr>
        <p:spPr>
          <a:xfrm>
            <a:off x="7955280" y="3154680"/>
            <a:ext cx="3520440" cy="822960"/>
          </a:xfrm>
          <a:prstGeom prst="rect">
            <a:avLst/>
          </a:prstGeom>
          <a:noFill/>
          <a:ln/>
        </p:spPr>
        <p:txBody>
          <a:bodyPr wrap="square" lIns="0" tIns="0" rIns="0" bIns="0" rtlCol="0" anchor="t"/>
          <a:lstStyle/>
          <a:p>
            <a:pPr indent="0" marL="0">
              <a:buNone/>
            </a:pPr>
            <a:r>
              <a:rPr lang="en-US" sz="1600" b="1" dirty="0">
                <a:solidFill>
                  <a:schemeClr val="accent1"/>
                </a:solidFill>
              </a:rPr>
              <a:t>Manager</a:t>
            </a:r>
            <a:endParaRPr lang="en-US" sz="1600" dirty="0"/>
          </a:p>
          <a:p>
            <a:pPr indent="0" marL="0">
              <a:buNone/>
            </a:pPr>
            <a:r>
              <a:rPr lang="en-US" sz="1400" dirty="0">
                <a:solidFill>
                  <a:schemeClr val="tx1"/>
                </a:solidFill>
              </a:rPr>
              <a:t>Valide les points, importe les ventes, analyse et simule.</a:t>
            </a:r>
            <a:endParaRPr lang="en-US" sz="1600" dirty="0"/>
          </a:p>
        </p:txBody>
      </p:sp>
      <p:sp>
        <p:nvSpPr>
          <p:cNvPr id="12" name="Carte"/>
          <p:cNvSpPr/>
          <p:nvPr/>
        </p:nvSpPr>
        <p:spPr>
          <a:xfrm>
            <a:off x="7726680" y="4251960"/>
            <a:ext cx="3886200" cy="1051560"/>
          </a:xfrm>
          <a:prstGeom prst="roundRect">
            <a:avLst>
              <a:gd name="adj" fmla="val 12174"/>
            </a:avLst>
          </a:prstGeom>
          <a:solidFill>
            <a:schemeClr val="bg1"/>
          </a:solidFill>
          <a:ln w="9525">
            <a:solidFill>
              <a:srgbClr val="E7E9F0"/>
            </a:solidFill>
            <a:prstDash val="solid"/>
          </a:ln>
          <a:effectLst>
            <a:outerShdw sx="100000" sy="100000" kx="0" ky="0" algn="bl" rotWithShape="0" blurRad="177800" dist="38100" dir="5400000">
              <a:srgbClr val="1E1B4B">
                <a:alpha val="16000"/>
              </a:srgbClr>
            </a:outerShdw>
          </a:effectLst>
        </p:spPr>
      </p:sp>
      <p:sp>
        <p:nvSpPr>
          <p:cNvPr id="13" name="Rôle Commercial"/>
          <p:cNvSpPr txBox="1"/>
          <p:nvPr/>
        </p:nvSpPr>
        <p:spPr>
          <a:xfrm>
            <a:off x="7955280" y="4389120"/>
            <a:ext cx="3520440" cy="822960"/>
          </a:xfrm>
          <a:prstGeom prst="rect">
            <a:avLst/>
          </a:prstGeom>
          <a:noFill/>
          <a:ln/>
        </p:spPr>
        <p:txBody>
          <a:bodyPr wrap="square" lIns="0" tIns="0" rIns="0" bIns="0" rtlCol="0" anchor="t"/>
          <a:lstStyle/>
          <a:p>
            <a:pPr indent="0" marL="0">
              <a:buNone/>
            </a:pPr>
            <a:r>
              <a:rPr lang="en-US" sz="1600" b="1" dirty="0">
                <a:solidFill>
                  <a:schemeClr val="accent1"/>
                </a:solidFill>
              </a:rPr>
              <a:t>Commercial</a:t>
            </a:r>
            <a:endParaRPr lang="en-US" sz="1600" dirty="0"/>
          </a:p>
          <a:p>
            <a:pPr indent="0" marL="0">
              <a:buNone/>
            </a:pPr>
            <a:r>
              <a:rPr lang="en-US" sz="1400" dirty="0">
                <a:solidFill>
                  <a:schemeClr val="tx1"/>
                </a:solidFill>
              </a:rPr>
              <a:t>Propose des points et note ses visites sur le terrain.</a:t>
            </a:r>
            <a:endParaRPr lang="en-US" sz="1600" dirty="0"/>
          </a:p>
        </p:txBody>
      </p:sp>
      <p:sp>
        <p:nvSpPr>
          <p:cNvPr id="14" name="Text 10"/>
          <p:cNvSpPr txBox="1"/>
          <p:nvPr/>
        </p:nvSpPr>
        <p:spPr>
          <a:xfrm>
            <a:off x="7726680" y="5532120"/>
            <a:ext cx="3886200" cy="640080"/>
          </a:xfrm>
          <a:prstGeom prst="rect">
            <a:avLst/>
          </a:prstGeom>
          <a:noFill/>
          <a:ln/>
        </p:spPr>
        <p:txBody>
          <a:bodyPr wrap="square" lIns="0" tIns="0" rIns="0" bIns="0" rtlCol="0" anchor="t"/>
          <a:lstStyle/>
          <a:p>
            <a:pPr indent="0" marL="0">
              <a:buNone/>
            </a:pPr>
            <a:r>
              <a:rPr lang="en-US" sz="1400" i="1" dirty="0">
                <a:solidFill>
                  <a:srgbClr val="64748B"/>
                </a:solidFill>
              </a:rPr>
              <a:t>Chaque création, modification ou suppression est tracée : qui, quoi, quand.</a:t>
            </a:r>
            <a:endParaRPr lang="en-US" sz="1400" dirty="0"/>
          </a:p>
        </p:txBody>
      </p:sp>
      <p:sp>
        <p:nvSpPr>
          <p:cNvPr id="25" name="Slide Number Placeholder 0"/>
          <p:cNvSpPr>
            <a:spLocks noGrp="1"/>
          </p:cNvSpPr>
          <p:nvPr>
            <p:ph type="sldNum" sz="quarter" idx="4294967295"/>
          </p:nvPr>
        </p:nvSpPr>
        <p:spPr>
          <a:xfrm>
            <a:off x="11155680"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64748B"/>
                </a:solidFill>
              </a:defRPr>
            </a:lvl1pPr>
          </a:lstStyle>
          <a:p>
            <a:pPr algn="r"/>
            <a:fld id="{F7021451-1387-4CA6-816F-3879F97B5CBC}" type="slidenum">
              <a:rPr b="0"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64240" cy="685800"/>
          </a:xfrm>
          <a:prstGeom prst="rect">
            <a:avLst/>
          </a:prstGeom>
          <a:noFill/>
          <a:ln/>
        </p:spPr>
        <p:txBody>
          <a:bodyPr wrap="square" lIns="0" tIns="0" rIns="0" bIns="0" rtlCol="0" anchor="t"/>
          <a:lstStyle/>
          <a:p>
            <a:pPr algn="l" indent="0" marL="0">
              <a:buNone/>
            </a:pPr>
            <a:r>
              <a:rPr lang="en-US" sz="3400" b="1" dirty="0">
                <a:solidFill>
                  <a:schemeClr val="tx1"/>
                </a:solidFill>
              </a:rPr>
              <a:t>Sur le téléphone, comme au bureau</a:t>
            </a:r>
            <a:endParaRPr lang="en-US" sz="3400" dirty="0"/>
          </a:p>
        </p:txBody>
      </p:sp>
      <p:sp>
        <p:nvSpPr>
          <p:cNvPr id="3" name="Text 1"/>
          <p:cNvSpPr/>
          <p:nvPr>
            <p:ph idx="102" type="body" hasCustomPrompt="1"/>
          </p:nvPr>
        </p:nvSpPr>
        <p:spPr>
          <a:xfrm>
            <a:off x="548640" y="1051560"/>
            <a:ext cx="11064240" cy="411480"/>
          </a:xfrm>
          <a:prstGeom prst="rect">
            <a:avLst/>
          </a:prstGeom>
          <a:noFill/>
          <a:ln/>
        </p:spPr>
        <p:txBody>
          <a:bodyPr wrap="square" lIns="0" tIns="0" rIns="0" bIns="0" rtlCol="0" anchor="t"/>
          <a:lstStyle/>
          <a:p>
            <a:pPr indent="0" marL="0">
              <a:buNone/>
            </a:pPr>
            <a:r>
              <a:rPr lang="en-US" sz="1600" dirty="0">
                <a:solidFill>
                  <a:srgbClr val="64748B"/>
                </a:solidFill>
              </a:rPr>
              <a:t>Une application qui s’installe en un geste sur iPhone et Android, sans passer par un store</a:t>
            </a:r>
            <a:endParaRPr lang="en-US" sz="1600" dirty="0"/>
          </a:p>
        </p:txBody>
      </p:sp>
      <p:sp>
        <p:nvSpPr>
          <p:cNvPr id="4" name="Cadre m1-carte"/>
          <p:cNvSpPr/>
          <p:nvPr/>
        </p:nvSpPr>
        <p:spPr>
          <a:xfrm>
            <a:off x="831660" y="1645920"/>
            <a:ext cx="2085720" cy="4343400"/>
          </a:xfrm>
          <a:prstGeom prst="roundRect">
            <a:avLst>
              <a:gd name="adj" fmla="val 5261"/>
            </a:avLst>
          </a:prstGeom>
          <a:solidFill>
            <a:schemeClr val="bg1"/>
          </a:solidFill>
          <a:ln w="9525">
            <a:solidFill>
              <a:srgbClr val="E7E9F0"/>
            </a:solidFill>
            <a:prstDash val="solid"/>
          </a:ln>
          <a:effectLst>
            <a:outerShdw sx="100000" sy="100000" kx="0" ky="0" algn="bl" rotWithShape="0" blurRad="177800" dist="38100" dir="5400000">
              <a:srgbClr val="1E1B4B">
                <a:alpha val="16000"/>
              </a:srgbClr>
            </a:outerShdw>
          </a:effectLst>
        </p:spPr>
      </p:sp>
      <p:pic>
        <p:nvPicPr>
          <p:cNvPr id="5" name="Capture m1-carte" descr="Téléphone : La carte">    </p:cNvPr>
          <p:cNvPicPr>
            <a:picLocks noChangeAspect="1"/>
          </p:cNvPicPr>
          <p:nvPr/>
        </p:nvPicPr>
        <p:blipFill>
          <a:blip r:embed="rId1"/>
          <a:stretch>
            <a:fillRect/>
          </a:stretch>
        </p:blipFill>
        <p:spPr>
          <a:xfrm>
            <a:off x="904812" y="1719072"/>
            <a:ext cx="1939416" cy="4197096"/>
          </a:xfrm>
          <a:prstGeom prst="rect">
            <a:avLst/>
          </a:prstGeom>
        </p:spPr>
      </p:pic>
      <p:sp>
        <p:nvSpPr>
          <p:cNvPr id="6" name="Text 3"/>
          <p:cNvSpPr txBox="1"/>
          <p:nvPr/>
        </p:nvSpPr>
        <p:spPr>
          <a:xfrm>
            <a:off x="548640" y="6053328"/>
            <a:ext cx="2651760" cy="274320"/>
          </a:xfrm>
          <a:prstGeom prst="rect">
            <a:avLst/>
          </a:prstGeom>
          <a:noFill/>
          <a:ln/>
        </p:spPr>
        <p:txBody>
          <a:bodyPr wrap="square" lIns="0" tIns="0" rIns="0" bIns="0" rtlCol="0" anchor="ctr"/>
          <a:lstStyle/>
          <a:p>
            <a:pPr algn="ctr" indent="0" marL="0">
              <a:buNone/>
            </a:pPr>
            <a:r>
              <a:rPr lang="en-US" sz="1300" b="1" dirty="0">
                <a:solidFill>
                  <a:schemeClr val="tx1"/>
                </a:solidFill>
              </a:rPr>
              <a:t>La carte</a:t>
            </a:r>
            <a:endParaRPr lang="en-US" sz="1300" dirty="0"/>
          </a:p>
        </p:txBody>
      </p:sp>
      <p:sp>
        <p:nvSpPr>
          <p:cNvPr id="7" name="Cadre i3-mobile"/>
          <p:cNvSpPr/>
          <p:nvPr/>
        </p:nvSpPr>
        <p:spPr>
          <a:xfrm>
            <a:off x="3666300" y="1645920"/>
            <a:ext cx="2085720" cy="4343400"/>
          </a:xfrm>
          <a:prstGeom prst="roundRect">
            <a:avLst>
              <a:gd name="adj" fmla="val 5261"/>
            </a:avLst>
          </a:prstGeom>
          <a:solidFill>
            <a:schemeClr val="bg1"/>
          </a:solidFill>
          <a:ln w="9525">
            <a:solidFill>
              <a:srgbClr val="E7E9F0"/>
            </a:solidFill>
            <a:prstDash val="solid"/>
          </a:ln>
          <a:effectLst>
            <a:outerShdw sx="100000" sy="100000" kx="0" ky="0" algn="bl" rotWithShape="0" blurRad="177800" dist="38100" dir="5400000">
              <a:srgbClr val="1E1B4B">
                <a:alpha val="16000"/>
              </a:srgbClr>
            </a:outerShdw>
          </a:effectLst>
        </p:spPr>
      </p:sp>
      <p:pic>
        <p:nvPicPr>
          <p:cNvPr id="8" name="Capture i3-mobile" descr="Téléphone : Le simulateur">    </p:cNvPr>
          <p:cNvPicPr>
            <a:picLocks noChangeAspect="1"/>
          </p:cNvPicPr>
          <p:nvPr/>
        </p:nvPicPr>
        <p:blipFill>
          <a:blip r:embed="rId2"/>
          <a:stretch>
            <a:fillRect/>
          </a:stretch>
        </p:blipFill>
        <p:spPr>
          <a:xfrm>
            <a:off x="3739452" y="1719072"/>
            <a:ext cx="1939416" cy="4197096"/>
          </a:xfrm>
          <a:prstGeom prst="rect">
            <a:avLst/>
          </a:prstGeom>
        </p:spPr>
      </p:pic>
      <p:sp>
        <p:nvSpPr>
          <p:cNvPr id="9" name="Text 5"/>
          <p:cNvSpPr txBox="1"/>
          <p:nvPr/>
        </p:nvSpPr>
        <p:spPr>
          <a:xfrm>
            <a:off x="3383280" y="6053328"/>
            <a:ext cx="2651760" cy="274320"/>
          </a:xfrm>
          <a:prstGeom prst="rect">
            <a:avLst/>
          </a:prstGeom>
          <a:noFill/>
          <a:ln/>
        </p:spPr>
        <p:txBody>
          <a:bodyPr wrap="square" lIns="0" tIns="0" rIns="0" bIns="0" rtlCol="0" anchor="ctr"/>
          <a:lstStyle/>
          <a:p>
            <a:pPr algn="ctr" indent="0" marL="0">
              <a:buNone/>
            </a:pPr>
            <a:r>
              <a:rPr lang="en-US" sz="1300" b="1" dirty="0">
                <a:solidFill>
                  <a:schemeClr val="tx1"/>
                </a:solidFill>
              </a:rPr>
              <a:t>Le simulateur</a:t>
            </a:r>
            <a:endParaRPr lang="en-US" sz="1300" dirty="0"/>
          </a:p>
        </p:txBody>
      </p:sp>
      <p:sp>
        <p:nvSpPr>
          <p:cNvPr id="10" name="Cadre h6-mobile"/>
          <p:cNvSpPr/>
          <p:nvPr/>
        </p:nvSpPr>
        <p:spPr>
          <a:xfrm>
            <a:off x="6500940" y="1645920"/>
            <a:ext cx="2085720" cy="4343400"/>
          </a:xfrm>
          <a:prstGeom prst="roundRect">
            <a:avLst>
              <a:gd name="adj" fmla="val 5261"/>
            </a:avLst>
          </a:prstGeom>
          <a:solidFill>
            <a:schemeClr val="bg1"/>
          </a:solidFill>
          <a:ln w="9525">
            <a:solidFill>
              <a:srgbClr val="E7E9F0"/>
            </a:solidFill>
            <a:prstDash val="solid"/>
          </a:ln>
          <a:effectLst>
            <a:outerShdw sx="100000" sy="100000" kx="0" ky="0" algn="bl" rotWithShape="0" blurRad="177800" dist="38100" dir="5400000">
              <a:srgbClr val="1E1B4B">
                <a:alpha val="16000"/>
              </a:srgbClr>
            </a:outerShdw>
          </a:effectLst>
        </p:spPr>
      </p:sp>
      <p:pic>
        <p:nvPicPr>
          <p:cNvPr id="11" name="Capture h6-mobile" descr="Téléphone : La couverture">    </p:cNvPr>
          <p:cNvPicPr>
            <a:picLocks noChangeAspect="1"/>
          </p:cNvPicPr>
          <p:nvPr/>
        </p:nvPicPr>
        <p:blipFill>
          <a:blip r:embed="rId3"/>
          <a:stretch>
            <a:fillRect/>
          </a:stretch>
        </p:blipFill>
        <p:spPr>
          <a:xfrm>
            <a:off x="6574092" y="1719072"/>
            <a:ext cx="1939416" cy="4197096"/>
          </a:xfrm>
          <a:prstGeom prst="rect">
            <a:avLst/>
          </a:prstGeom>
        </p:spPr>
      </p:pic>
      <p:sp>
        <p:nvSpPr>
          <p:cNvPr id="12" name="Text 7"/>
          <p:cNvSpPr txBox="1"/>
          <p:nvPr/>
        </p:nvSpPr>
        <p:spPr>
          <a:xfrm>
            <a:off x="6217920" y="6053328"/>
            <a:ext cx="2651760" cy="274320"/>
          </a:xfrm>
          <a:prstGeom prst="rect">
            <a:avLst/>
          </a:prstGeom>
          <a:noFill/>
          <a:ln/>
        </p:spPr>
        <p:txBody>
          <a:bodyPr wrap="square" lIns="0" tIns="0" rIns="0" bIns="0" rtlCol="0" anchor="ctr"/>
          <a:lstStyle/>
          <a:p>
            <a:pPr algn="ctr" indent="0" marL="0">
              <a:buNone/>
            </a:pPr>
            <a:r>
              <a:rPr lang="en-US" sz="1300" b="1" dirty="0">
                <a:solidFill>
                  <a:schemeClr val="tx1"/>
                </a:solidFill>
              </a:rPr>
              <a:t>La couverture</a:t>
            </a:r>
            <a:endParaRPr lang="en-US" sz="1300" dirty="0"/>
          </a:p>
        </p:txBody>
      </p:sp>
      <p:sp>
        <p:nvSpPr>
          <p:cNvPr id="13" name="Cadre v4-mobile"/>
          <p:cNvSpPr/>
          <p:nvPr/>
        </p:nvSpPr>
        <p:spPr>
          <a:xfrm>
            <a:off x="9335580" y="1645920"/>
            <a:ext cx="2085720" cy="4343400"/>
          </a:xfrm>
          <a:prstGeom prst="roundRect">
            <a:avLst>
              <a:gd name="adj" fmla="val 5261"/>
            </a:avLst>
          </a:prstGeom>
          <a:solidFill>
            <a:schemeClr val="bg1"/>
          </a:solidFill>
          <a:ln w="9525">
            <a:solidFill>
              <a:srgbClr val="E7E9F0"/>
            </a:solidFill>
            <a:prstDash val="solid"/>
          </a:ln>
          <a:effectLst>
            <a:outerShdw sx="100000" sy="100000" kx="0" ky="0" algn="bl" rotWithShape="0" blurRad="177800" dist="38100" dir="5400000">
              <a:srgbClr val="1E1B4B">
                <a:alpha val="16000"/>
              </a:srgbClr>
            </a:outerShdw>
          </a:effectLst>
        </p:spPr>
      </p:sp>
      <p:pic>
        <p:nvPicPr>
          <p:cNvPr id="14" name="Capture v4-mobile" descr="Téléphone : Les visites">    </p:cNvPr>
          <p:cNvPicPr>
            <a:picLocks noChangeAspect="1"/>
          </p:cNvPicPr>
          <p:nvPr/>
        </p:nvPicPr>
        <p:blipFill>
          <a:blip r:embed="rId4"/>
          <a:stretch>
            <a:fillRect/>
          </a:stretch>
        </p:blipFill>
        <p:spPr>
          <a:xfrm>
            <a:off x="9408732" y="1719072"/>
            <a:ext cx="1939416" cy="4197096"/>
          </a:xfrm>
          <a:prstGeom prst="rect">
            <a:avLst/>
          </a:prstGeom>
        </p:spPr>
      </p:pic>
      <p:sp>
        <p:nvSpPr>
          <p:cNvPr id="15" name="Text 9"/>
          <p:cNvSpPr txBox="1"/>
          <p:nvPr/>
        </p:nvSpPr>
        <p:spPr>
          <a:xfrm>
            <a:off x="9052560" y="6053328"/>
            <a:ext cx="2651760" cy="274320"/>
          </a:xfrm>
          <a:prstGeom prst="rect">
            <a:avLst/>
          </a:prstGeom>
          <a:noFill/>
          <a:ln/>
        </p:spPr>
        <p:txBody>
          <a:bodyPr wrap="square" lIns="0" tIns="0" rIns="0" bIns="0" rtlCol="0" anchor="ctr"/>
          <a:lstStyle/>
          <a:p>
            <a:pPr algn="ctr" indent="0" marL="0">
              <a:buNone/>
            </a:pPr>
            <a:r>
              <a:rPr lang="en-US" sz="1300" b="1" dirty="0">
                <a:solidFill>
                  <a:schemeClr val="tx1"/>
                </a:solidFill>
              </a:rPr>
              <a:t>Les visites</a:t>
            </a:r>
            <a:endParaRPr lang="en-US" sz="1300" dirty="0"/>
          </a:p>
        </p:txBody>
      </p:sp>
      <p:sp>
        <p:nvSpPr>
          <p:cNvPr id="25" name="Slide Number Placeholder 0"/>
          <p:cNvSpPr>
            <a:spLocks noGrp="1"/>
          </p:cNvSpPr>
          <p:nvPr>
            <p:ph type="sldNum" sz="quarter" idx="4294967295"/>
          </p:nvPr>
        </p:nvSpPr>
        <p:spPr>
          <a:xfrm>
            <a:off x="11155680"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64748B"/>
                </a:solidFill>
              </a:defRPr>
            </a:lvl1pPr>
          </a:lstStyle>
          <a:p>
            <a:pPr algn="r"/>
            <a:fld id="{F7021451-1387-4CA6-816F-3879F97B5CBC}" type="slidenum">
              <a:rPr b="0"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0"/>
          <p:cNvSpPr/>
          <p:nvPr>
            <p:ph idx="100" type="title" hasCustomPrompt="1"/>
          </p:nvPr>
        </p:nvSpPr>
        <p:spPr>
          <a:xfrm>
            <a:off x="822960" y="2651760"/>
            <a:ext cx="8686800" cy="1005840"/>
          </a:xfrm>
          <a:prstGeom prst="rect">
            <a:avLst/>
          </a:prstGeom>
          <a:noFill/>
          <a:ln/>
        </p:spPr>
        <p:txBody>
          <a:bodyPr wrap="square" lIns="0" tIns="0" rIns="0" bIns="0" rtlCol="0" anchor="t"/>
          <a:lstStyle/>
          <a:p>
            <a:pPr algn="l" indent="0" marL="0">
              <a:buNone/>
            </a:pPr>
            <a:r>
              <a:rPr lang="en-US" sz="4000" b="1" dirty="0">
                <a:solidFill>
                  <a:schemeClr val="bg1"/>
                </a:solidFill>
              </a:rPr>
              <a:t>Démarrer avec GeoPulse</a:t>
            </a:r>
            <a:endParaRPr lang="en-US" sz="4000" dirty="0"/>
          </a:p>
        </p:txBody>
      </p:sp>
      <p:sp>
        <p:nvSpPr>
          <p:cNvPr id="3" name="Text 0"/>
          <p:cNvSpPr/>
          <p:nvPr>
            <p:ph idx="101" type="body" hasCustomPrompt="1"/>
          </p:nvPr>
        </p:nvSpPr>
        <p:spPr>
          <a:xfrm>
            <a:off x="822960" y="3703320"/>
            <a:ext cx="8686800" cy="731520"/>
          </a:xfrm>
          <a:prstGeom prst="rect">
            <a:avLst/>
          </a:prstGeom>
          <a:noFill/>
          <a:ln/>
        </p:spPr>
        <p:txBody>
          <a:bodyPr wrap="square" lIns="0" tIns="0" rIns="0" bIns="0" rtlCol="0" anchor="t"/>
          <a:lstStyle/>
          <a:p>
            <a:pPr indent="0" marL="0">
              <a:buNone/>
            </a:pPr>
            <a:r>
              <a:rPr lang="en-US" sz="1800" dirty="0">
                <a:solidFill>
                  <a:schemeClr val="bg2"/>
                </a:solidFill>
              </a:rPr>
              <a:t>Opérationnel en quelques jours, avec vos fichiers existants</a:t>
            </a:r>
            <a:endParaRPr lang="en-US" sz="180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64240" cy="685800"/>
          </a:xfrm>
          <a:prstGeom prst="rect">
            <a:avLst/>
          </a:prstGeom>
          <a:noFill/>
          <a:ln/>
        </p:spPr>
        <p:txBody>
          <a:bodyPr wrap="square" lIns="0" tIns="0" rIns="0" bIns="0" rtlCol="0" anchor="t"/>
          <a:lstStyle/>
          <a:p>
            <a:pPr algn="l" indent="0" marL="0">
              <a:buNone/>
            </a:pPr>
            <a:r>
              <a:rPr lang="en-US" sz="3400" b="1" dirty="0">
                <a:solidFill>
                  <a:schemeClr val="tx1"/>
                </a:solidFill>
              </a:rPr>
              <a:t>Cinq étapes pour démarrer</a:t>
            </a:r>
            <a:endParaRPr lang="en-US" sz="3400" dirty="0"/>
          </a:p>
        </p:txBody>
      </p:sp>
      <p:sp>
        <p:nvSpPr>
          <p:cNvPr id="3" name="Text 1"/>
          <p:cNvSpPr/>
          <p:nvPr>
            <p:ph idx="102" type="body" hasCustomPrompt="1"/>
          </p:nvPr>
        </p:nvSpPr>
        <p:spPr>
          <a:xfrm>
            <a:off x="548640" y="1051560"/>
            <a:ext cx="11064240" cy="411480"/>
          </a:xfrm>
          <a:prstGeom prst="rect">
            <a:avLst/>
          </a:prstGeom>
          <a:noFill/>
          <a:ln/>
        </p:spPr>
        <p:txBody>
          <a:bodyPr wrap="square" lIns="0" tIns="0" rIns="0" bIns="0" rtlCol="0" anchor="t"/>
          <a:lstStyle/>
          <a:p>
            <a:pPr indent="0" marL="0">
              <a:buNone/>
            </a:pPr>
            <a:r>
              <a:rPr lang="en-US" sz="1600" dirty="0">
                <a:solidFill>
                  <a:srgbClr val="64748B"/>
                </a:solidFill>
              </a:rPr>
              <a:t>Aucune installation, aucun développement : vos fichiers Excel suffisent</a:t>
            </a:r>
            <a:endParaRPr lang="en-US" sz="1600" dirty="0"/>
          </a:p>
        </p:txBody>
      </p:sp>
      <p:sp>
        <p:nvSpPr>
          <p:cNvPr id="4" name="Carte"/>
          <p:cNvSpPr/>
          <p:nvPr/>
        </p:nvSpPr>
        <p:spPr>
          <a:xfrm>
            <a:off x="548640" y="1920240"/>
            <a:ext cx="2103120" cy="3291840"/>
          </a:xfrm>
          <a:prstGeom prst="roundRect">
            <a:avLst>
              <a:gd name="adj" fmla="val 6087"/>
            </a:avLst>
          </a:prstGeom>
          <a:solidFill>
            <a:schemeClr val="bg1"/>
          </a:solidFill>
          <a:ln w="9525">
            <a:solidFill>
              <a:srgbClr val="E7E9F0"/>
            </a:solidFill>
            <a:prstDash val="solid"/>
          </a:ln>
          <a:effectLst>
            <a:outerShdw sx="100000" sy="100000" kx="0" ky="0" algn="bl" rotWithShape="0" blurRad="177800" dist="38100" dir="5400000">
              <a:srgbClr val="1E1B4B">
                <a:alpha val="16000"/>
              </a:srgbClr>
            </a:outerShdw>
          </a:effectLst>
        </p:spPr>
      </p:sp>
      <p:sp>
        <p:nvSpPr>
          <p:cNvPr id="5" name="Numéro 1"/>
          <p:cNvSpPr txBox="1"/>
          <p:nvPr/>
        </p:nvSpPr>
        <p:spPr>
          <a:xfrm>
            <a:off x="822960" y="2057400"/>
            <a:ext cx="914400" cy="685800"/>
          </a:xfrm>
          <a:prstGeom prst="rect">
            <a:avLst/>
          </a:prstGeom>
          <a:noFill/>
          <a:ln/>
        </p:spPr>
        <p:txBody>
          <a:bodyPr wrap="square" lIns="0" tIns="0" rIns="0" bIns="0" rtlCol="0" anchor="ctr"/>
          <a:lstStyle/>
          <a:p>
            <a:pPr indent="0" marL="0">
              <a:buNone/>
            </a:pPr>
            <a:r>
              <a:rPr lang="en-US" sz="4000" b="1" dirty="0">
                <a:solidFill>
                  <a:schemeClr val="accent1"/>
                </a:solidFill>
              </a:rPr>
              <a:t>1</a:t>
            </a:r>
            <a:endParaRPr lang="en-US" sz="4000" dirty="0"/>
          </a:p>
        </p:txBody>
      </p:sp>
      <p:sp>
        <p:nvSpPr>
          <p:cNvPr id="6" name="Pastille"/>
          <p:cNvSpPr/>
          <p:nvPr/>
        </p:nvSpPr>
        <p:spPr>
          <a:xfrm>
            <a:off x="1874520" y="2148840"/>
            <a:ext cx="502920" cy="502920"/>
          </a:xfrm>
          <a:prstGeom prst="roundRect">
            <a:avLst>
              <a:gd name="adj" fmla="val 21818"/>
            </a:avLst>
          </a:prstGeom>
          <a:solidFill>
            <a:srgbClr val="EEF0FF"/>
          </a:solidFill>
          <a:ln/>
        </p:spPr>
      </p:sp>
      <p:pic>
        <p:nvPicPr>
          <p:cNvPr id="7" name="Icône" descr="preencoded.png">    </p:cNvPr>
          <p:cNvPicPr>
            <a:picLocks noChangeAspect="1"/>
          </p:cNvPicPr>
          <p:nvPr/>
        </p:nvPicPr>
        <p:blipFill>
          <a:blip r:embed="rId1"/>
          <a:stretch>
            <a:fillRect/>
          </a:stretch>
        </p:blipFill>
        <p:spPr>
          <a:xfrm>
            <a:off x="1985162" y="2259482"/>
            <a:ext cx="281635" cy="281635"/>
          </a:xfrm>
          <a:prstGeom prst="rect">
            <a:avLst/>
          </a:prstGeom>
        </p:spPr>
      </p:pic>
      <p:sp>
        <p:nvSpPr>
          <p:cNvPr id="8" name="Étape 1"/>
          <p:cNvSpPr txBox="1"/>
          <p:nvPr/>
        </p:nvSpPr>
        <p:spPr>
          <a:xfrm>
            <a:off x="822960" y="2971800"/>
            <a:ext cx="1600200" cy="2103120"/>
          </a:xfrm>
          <a:prstGeom prst="rect">
            <a:avLst/>
          </a:prstGeom>
          <a:noFill/>
          <a:ln/>
        </p:spPr>
        <p:txBody>
          <a:bodyPr wrap="square" lIns="0" tIns="0" rIns="0" bIns="0" rtlCol="0" anchor="t"/>
          <a:lstStyle/>
          <a:p>
            <a:pPr indent="0" marL="0">
              <a:spcAft>
                <a:spcPts val="600"/>
              </a:spcAft>
              <a:buNone/>
            </a:pPr>
            <a:r>
              <a:rPr lang="en-US" sz="1800" b="1" dirty="0">
                <a:solidFill>
                  <a:schemeClr val="tx1"/>
                </a:solidFill>
              </a:rPr>
              <a:t>Créer le compte</a:t>
            </a:r>
            <a:endParaRPr lang="en-US" sz="1800" dirty="0"/>
          </a:p>
          <a:p>
            <a:pPr indent="0" marL="0">
              <a:spcAft>
                <a:spcPts val="600"/>
              </a:spcAft>
              <a:buNone/>
            </a:pPr>
            <a:r>
              <a:rPr lang="en-US" sz="1500" dirty="0">
                <a:solidFill>
                  <a:srgbClr val="64748B"/>
                </a:solidFill>
              </a:rPr>
              <a:t>Votre société s’inscrit en ligne. GeoPulse valide l’ouverture.</a:t>
            </a:r>
            <a:endParaRPr lang="en-US" sz="1800" dirty="0"/>
          </a:p>
        </p:txBody>
      </p:sp>
      <p:sp>
        <p:nvSpPr>
          <p:cNvPr id="9" name="Carte"/>
          <p:cNvSpPr/>
          <p:nvPr/>
        </p:nvSpPr>
        <p:spPr>
          <a:xfrm>
            <a:off x="2788920" y="1920240"/>
            <a:ext cx="2103120" cy="3291840"/>
          </a:xfrm>
          <a:prstGeom prst="roundRect">
            <a:avLst>
              <a:gd name="adj" fmla="val 6087"/>
            </a:avLst>
          </a:prstGeom>
          <a:solidFill>
            <a:schemeClr val="bg1"/>
          </a:solidFill>
          <a:ln w="9525">
            <a:solidFill>
              <a:srgbClr val="E7E9F0"/>
            </a:solidFill>
            <a:prstDash val="solid"/>
          </a:ln>
          <a:effectLst>
            <a:outerShdw sx="100000" sy="100000" kx="0" ky="0" algn="bl" rotWithShape="0" blurRad="177800" dist="38100" dir="5400000">
              <a:srgbClr val="1E1B4B">
                <a:alpha val="16000"/>
              </a:srgbClr>
            </a:outerShdw>
          </a:effectLst>
        </p:spPr>
      </p:sp>
      <p:sp>
        <p:nvSpPr>
          <p:cNvPr id="10" name="Numéro 2"/>
          <p:cNvSpPr txBox="1"/>
          <p:nvPr/>
        </p:nvSpPr>
        <p:spPr>
          <a:xfrm>
            <a:off x="3063240" y="2057400"/>
            <a:ext cx="914400" cy="685800"/>
          </a:xfrm>
          <a:prstGeom prst="rect">
            <a:avLst/>
          </a:prstGeom>
          <a:noFill/>
          <a:ln/>
        </p:spPr>
        <p:txBody>
          <a:bodyPr wrap="square" lIns="0" tIns="0" rIns="0" bIns="0" rtlCol="0" anchor="ctr"/>
          <a:lstStyle/>
          <a:p>
            <a:pPr indent="0" marL="0">
              <a:buNone/>
            </a:pPr>
            <a:r>
              <a:rPr lang="en-US" sz="4000" b="1" dirty="0">
                <a:solidFill>
                  <a:schemeClr val="accent1"/>
                </a:solidFill>
              </a:rPr>
              <a:t>2</a:t>
            </a:r>
            <a:endParaRPr lang="en-US" sz="4000" dirty="0"/>
          </a:p>
        </p:txBody>
      </p:sp>
      <p:sp>
        <p:nvSpPr>
          <p:cNvPr id="11" name="Pastille"/>
          <p:cNvSpPr/>
          <p:nvPr/>
        </p:nvSpPr>
        <p:spPr>
          <a:xfrm>
            <a:off x="4114800" y="2148840"/>
            <a:ext cx="502920" cy="502920"/>
          </a:xfrm>
          <a:prstGeom prst="roundRect">
            <a:avLst>
              <a:gd name="adj" fmla="val 21818"/>
            </a:avLst>
          </a:prstGeom>
          <a:solidFill>
            <a:srgbClr val="EEF0FF"/>
          </a:solidFill>
          <a:ln/>
        </p:spPr>
      </p:sp>
      <p:pic>
        <p:nvPicPr>
          <p:cNvPr id="12" name="Icône" descr="preencoded.png">    </p:cNvPr>
          <p:cNvPicPr>
            <a:picLocks noChangeAspect="1"/>
          </p:cNvPicPr>
          <p:nvPr/>
        </p:nvPicPr>
        <p:blipFill>
          <a:blip r:embed="rId2"/>
          <a:stretch>
            <a:fillRect/>
          </a:stretch>
        </p:blipFill>
        <p:spPr>
          <a:xfrm>
            <a:off x="4225442" y="2259482"/>
            <a:ext cx="281635" cy="281635"/>
          </a:xfrm>
          <a:prstGeom prst="rect">
            <a:avLst/>
          </a:prstGeom>
        </p:spPr>
      </p:pic>
      <p:sp>
        <p:nvSpPr>
          <p:cNvPr id="13" name="Étape 2"/>
          <p:cNvSpPr txBox="1"/>
          <p:nvPr/>
        </p:nvSpPr>
        <p:spPr>
          <a:xfrm>
            <a:off x="3063240" y="2971800"/>
            <a:ext cx="1600200" cy="2103120"/>
          </a:xfrm>
          <a:prstGeom prst="rect">
            <a:avLst/>
          </a:prstGeom>
          <a:noFill/>
          <a:ln/>
        </p:spPr>
        <p:txBody>
          <a:bodyPr wrap="square" lIns="0" tIns="0" rIns="0" bIns="0" rtlCol="0" anchor="t"/>
          <a:lstStyle/>
          <a:p>
            <a:pPr indent="0" marL="0">
              <a:spcAft>
                <a:spcPts val="600"/>
              </a:spcAft>
              <a:buNone/>
            </a:pPr>
            <a:r>
              <a:rPr lang="en-US" sz="1800" b="1" dirty="0">
                <a:solidFill>
                  <a:schemeClr val="tx1"/>
                </a:solidFill>
              </a:rPr>
              <a:t>Configurer</a:t>
            </a:r>
            <a:endParaRPr lang="en-US" sz="1800" dirty="0"/>
          </a:p>
          <a:p>
            <a:pPr indent="0" marL="0">
              <a:spcAft>
                <a:spcPts val="600"/>
              </a:spcAft>
              <a:buNone/>
            </a:pPr>
            <a:r>
              <a:rPr lang="en-US" sz="1500" dirty="0">
                <a:solidFill>
                  <a:srgbClr val="64748B"/>
                </a:solidFill>
              </a:rPr>
              <a:t>Vos types de points et leurs champs : surface, code ERP, nature.</a:t>
            </a:r>
            <a:endParaRPr lang="en-US" sz="1800" dirty="0"/>
          </a:p>
        </p:txBody>
      </p:sp>
      <p:sp>
        <p:nvSpPr>
          <p:cNvPr id="14" name="Carte"/>
          <p:cNvSpPr/>
          <p:nvPr/>
        </p:nvSpPr>
        <p:spPr>
          <a:xfrm>
            <a:off x="5029200" y="1920240"/>
            <a:ext cx="2103120" cy="3291840"/>
          </a:xfrm>
          <a:prstGeom prst="roundRect">
            <a:avLst>
              <a:gd name="adj" fmla="val 6087"/>
            </a:avLst>
          </a:prstGeom>
          <a:solidFill>
            <a:schemeClr val="bg1"/>
          </a:solidFill>
          <a:ln w="9525">
            <a:solidFill>
              <a:srgbClr val="E7E9F0"/>
            </a:solidFill>
            <a:prstDash val="solid"/>
          </a:ln>
          <a:effectLst>
            <a:outerShdw sx="100000" sy="100000" kx="0" ky="0" algn="bl" rotWithShape="0" blurRad="177800" dist="38100" dir="5400000">
              <a:srgbClr val="1E1B4B">
                <a:alpha val="16000"/>
              </a:srgbClr>
            </a:outerShdw>
          </a:effectLst>
        </p:spPr>
      </p:sp>
      <p:sp>
        <p:nvSpPr>
          <p:cNvPr id="15" name="Numéro 3"/>
          <p:cNvSpPr txBox="1"/>
          <p:nvPr/>
        </p:nvSpPr>
        <p:spPr>
          <a:xfrm>
            <a:off x="5303520" y="2057400"/>
            <a:ext cx="914400" cy="685800"/>
          </a:xfrm>
          <a:prstGeom prst="rect">
            <a:avLst/>
          </a:prstGeom>
          <a:noFill/>
          <a:ln/>
        </p:spPr>
        <p:txBody>
          <a:bodyPr wrap="square" lIns="0" tIns="0" rIns="0" bIns="0" rtlCol="0" anchor="ctr"/>
          <a:lstStyle/>
          <a:p>
            <a:pPr indent="0" marL="0">
              <a:buNone/>
            </a:pPr>
            <a:r>
              <a:rPr lang="en-US" sz="4000" b="1" dirty="0">
                <a:solidFill>
                  <a:schemeClr val="accent1"/>
                </a:solidFill>
              </a:rPr>
              <a:t>3</a:t>
            </a:r>
            <a:endParaRPr lang="en-US" sz="4000" dirty="0"/>
          </a:p>
        </p:txBody>
      </p:sp>
      <p:sp>
        <p:nvSpPr>
          <p:cNvPr id="16" name="Pastille"/>
          <p:cNvSpPr/>
          <p:nvPr/>
        </p:nvSpPr>
        <p:spPr>
          <a:xfrm>
            <a:off x="6355080" y="2148840"/>
            <a:ext cx="502920" cy="502920"/>
          </a:xfrm>
          <a:prstGeom prst="roundRect">
            <a:avLst>
              <a:gd name="adj" fmla="val 21818"/>
            </a:avLst>
          </a:prstGeom>
          <a:solidFill>
            <a:srgbClr val="EEF0FF"/>
          </a:solidFill>
          <a:ln/>
        </p:spPr>
      </p:sp>
      <p:pic>
        <p:nvPicPr>
          <p:cNvPr id="17" name="Icône" descr="preencoded.png">    </p:cNvPr>
          <p:cNvPicPr>
            <a:picLocks noChangeAspect="1"/>
          </p:cNvPicPr>
          <p:nvPr/>
        </p:nvPicPr>
        <p:blipFill>
          <a:blip r:embed="rId3"/>
          <a:stretch>
            <a:fillRect/>
          </a:stretch>
        </p:blipFill>
        <p:spPr>
          <a:xfrm>
            <a:off x="6465722" y="2259482"/>
            <a:ext cx="281635" cy="281635"/>
          </a:xfrm>
          <a:prstGeom prst="rect">
            <a:avLst/>
          </a:prstGeom>
        </p:spPr>
      </p:pic>
      <p:sp>
        <p:nvSpPr>
          <p:cNvPr id="18" name="Étape 3"/>
          <p:cNvSpPr txBox="1"/>
          <p:nvPr/>
        </p:nvSpPr>
        <p:spPr>
          <a:xfrm>
            <a:off x="5303520" y="2971800"/>
            <a:ext cx="1600200" cy="2103120"/>
          </a:xfrm>
          <a:prstGeom prst="rect">
            <a:avLst/>
          </a:prstGeom>
          <a:noFill/>
          <a:ln/>
        </p:spPr>
        <p:txBody>
          <a:bodyPr wrap="square" lIns="0" tIns="0" rIns="0" bIns="0" rtlCol="0" anchor="t"/>
          <a:lstStyle/>
          <a:p>
            <a:pPr indent="0" marL="0">
              <a:spcAft>
                <a:spcPts val="600"/>
              </a:spcAft>
              <a:buNone/>
            </a:pPr>
            <a:r>
              <a:rPr lang="en-US" sz="1800" b="1" dirty="0">
                <a:solidFill>
                  <a:schemeClr val="tx1"/>
                </a:solidFill>
              </a:rPr>
              <a:t>Importer</a:t>
            </a:r>
            <a:endParaRPr lang="en-US" sz="1800" dirty="0"/>
          </a:p>
          <a:p>
            <a:pPr indent="0" marL="0">
              <a:spcAft>
                <a:spcPts val="600"/>
              </a:spcAft>
              <a:buNone/>
            </a:pPr>
            <a:r>
              <a:rPr lang="en-US" sz="1500" dirty="0">
                <a:solidFill>
                  <a:srgbClr val="64748B"/>
                </a:solidFill>
              </a:rPr>
              <a:t>Vos points puis vos ventes mensuelles, depuis Excel.</a:t>
            </a:r>
            <a:endParaRPr lang="en-US" sz="1800" dirty="0"/>
          </a:p>
        </p:txBody>
      </p:sp>
      <p:sp>
        <p:nvSpPr>
          <p:cNvPr id="19" name="Carte"/>
          <p:cNvSpPr/>
          <p:nvPr/>
        </p:nvSpPr>
        <p:spPr>
          <a:xfrm>
            <a:off x="7269480" y="1920240"/>
            <a:ext cx="2103120" cy="3291840"/>
          </a:xfrm>
          <a:prstGeom prst="roundRect">
            <a:avLst>
              <a:gd name="adj" fmla="val 6087"/>
            </a:avLst>
          </a:prstGeom>
          <a:solidFill>
            <a:schemeClr val="bg1"/>
          </a:solidFill>
          <a:ln w="9525">
            <a:solidFill>
              <a:srgbClr val="E7E9F0"/>
            </a:solidFill>
            <a:prstDash val="solid"/>
          </a:ln>
          <a:effectLst>
            <a:outerShdw sx="100000" sy="100000" kx="0" ky="0" algn="bl" rotWithShape="0" blurRad="177800" dist="38100" dir="5400000">
              <a:srgbClr val="1E1B4B">
                <a:alpha val="16000"/>
              </a:srgbClr>
            </a:outerShdw>
          </a:effectLst>
        </p:spPr>
      </p:sp>
      <p:sp>
        <p:nvSpPr>
          <p:cNvPr id="20" name="Numéro 4"/>
          <p:cNvSpPr txBox="1"/>
          <p:nvPr/>
        </p:nvSpPr>
        <p:spPr>
          <a:xfrm>
            <a:off x="7543800" y="2057400"/>
            <a:ext cx="914400" cy="685800"/>
          </a:xfrm>
          <a:prstGeom prst="rect">
            <a:avLst/>
          </a:prstGeom>
          <a:noFill/>
          <a:ln/>
        </p:spPr>
        <p:txBody>
          <a:bodyPr wrap="square" lIns="0" tIns="0" rIns="0" bIns="0" rtlCol="0" anchor="ctr"/>
          <a:lstStyle/>
          <a:p>
            <a:pPr indent="0" marL="0">
              <a:buNone/>
            </a:pPr>
            <a:r>
              <a:rPr lang="en-US" sz="4000" b="1" dirty="0">
                <a:solidFill>
                  <a:schemeClr val="accent1"/>
                </a:solidFill>
              </a:rPr>
              <a:t>4</a:t>
            </a:r>
            <a:endParaRPr lang="en-US" sz="4000" dirty="0"/>
          </a:p>
        </p:txBody>
      </p:sp>
      <p:sp>
        <p:nvSpPr>
          <p:cNvPr id="21" name="Pastille"/>
          <p:cNvSpPr/>
          <p:nvPr/>
        </p:nvSpPr>
        <p:spPr>
          <a:xfrm>
            <a:off x="8595360" y="2148840"/>
            <a:ext cx="502920" cy="502920"/>
          </a:xfrm>
          <a:prstGeom prst="roundRect">
            <a:avLst>
              <a:gd name="adj" fmla="val 21818"/>
            </a:avLst>
          </a:prstGeom>
          <a:solidFill>
            <a:srgbClr val="EEF0FF"/>
          </a:solidFill>
          <a:ln/>
        </p:spPr>
      </p:sp>
      <p:pic>
        <p:nvPicPr>
          <p:cNvPr id="22" name="Icône" descr="preencoded.png">    </p:cNvPr>
          <p:cNvPicPr>
            <a:picLocks noChangeAspect="1"/>
          </p:cNvPicPr>
          <p:nvPr/>
        </p:nvPicPr>
        <p:blipFill>
          <a:blip r:embed="rId4"/>
          <a:stretch>
            <a:fillRect/>
          </a:stretch>
        </p:blipFill>
        <p:spPr>
          <a:xfrm>
            <a:off x="8706002" y="2259482"/>
            <a:ext cx="281635" cy="281635"/>
          </a:xfrm>
          <a:prstGeom prst="rect">
            <a:avLst/>
          </a:prstGeom>
        </p:spPr>
      </p:pic>
      <p:sp>
        <p:nvSpPr>
          <p:cNvPr id="23" name="Étape 4"/>
          <p:cNvSpPr txBox="1"/>
          <p:nvPr/>
        </p:nvSpPr>
        <p:spPr>
          <a:xfrm>
            <a:off x="7543800" y="2971800"/>
            <a:ext cx="1600200" cy="2103120"/>
          </a:xfrm>
          <a:prstGeom prst="rect">
            <a:avLst/>
          </a:prstGeom>
          <a:noFill/>
          <a:ln/>
        </p:spPr>
        <p:txBody>
          <a:bodyPr wrap="square" lIns="0" tIns="0" rIns="0" bIns="0" rtlCol="0" anchor="t"/>
          <a:lstStyle/>
          <a:p>
            <a:pPr indent="0" marL="0">
              <a:spcAft>
                <a:spcPts val="600"/>
              </a:spcAft>
              <a:buNone/>
            </a:pPr>
            <a:r>
              <a:rPr lang="en-US" sz="1800" b="1" dirty="0">
                <a:solidFill>
                  <a:schemeClr val="tx1"/>
                </a:solidFill>
              </a:rPr>
              <a:t>Inviter l’équipe</a:t>
            </a:r>
            <a:endParaRPr lang="en-US" sz="1800" dirty="0"/>
          </a:p>
          <a:p>
            <a:pPr indent="0" marL="0">
              <a:spcAft>
                <a:spcPts val="600"/>
              </a:spcAft>
              <a:buNone/>
            </a:pPr>
            <a:r>
              <a:rPr lang="en-US" sz="1500" dirty="0">
                <a:solidFill>
                  <a:srgbClr val="64748B"/>
                </a:solidFill>
              </a:rPr>
              <a:t>Managers et commerciaux reçoivent leur code d’accès.</a:t>
            </a:r>
            <a:endParaRPr lang="en-US" sz="1800" dirty="0"/>
          </a:p>
        </p:txBody>
      </p:sp>
      <p:sp>
        <p:nvSpPr>
          <p:cNvPr id="24" name="Carte"/>
          <p:cNvSpPr/>
          <p:nvPr/>
        </p:nvSpPr>
        <p:spPr>
          <a:xfrm>
            <a:off x="9509760" y="1920240"/>
            <a:ext cx="2103120" cy="3291840"/>
          </a:xfrm>
          <a:prstGeom prst="roundRect">
            <a:avLst>
              <a:gd name="adj" fmla="val 6087"/>
            </a:avLst>
          </a:prstGeom>
          <a:solidFill>
            <a:schemeClr val="bg1"/>
          </a:solidFill>
          <a:ln w="9525">
            <a:solidFill>
              <a:srgbClr val="E7E9F0"/>
            </a:solidFill>
            <a:prstDash val="solid"/>
          </a:ln>
          <a:effectLst>
            <a:outerShdw sx="100000" sy="100000" kx="0" ky="0" algn="bl" rotWithShape="0" blurRad="177800" dist="38100" dir="5400000">
              <a:srgbClr val="1E1B4B">
                <a:alpha val="16000"/>
              </a:srgbClr>
            </a:outerShdw>
          </a:effectLst>
        </p:spPr>
      </p:sp>
      <p:sp>
        <p:nvSpPr>
          <p:cNvPr id="25" name="Numéro 5"/>
          <p:cNvSpPr txBox="1"/>
          <p:nvPr/>
        </p:nvSpPr>
        <p:spPr>
          <a:xfrm>
            <a:off x="9784080" y="2057400"/>
            <a:ext cx="914400" cy="685800"/>
          </a:xfrm>
          <a:prstGeom prst="rect">
            <a:avLst/>
          </a:prstGeom>
          <a:noFill/>
          <a:ln/>
        </p:spPr>
        <p:txBody>
          <a:bodyPr wrap="square" lIns="0" tIns="0" rIns="0" bIns="0" rtlCol="0" anchor="ctr"/>
          <a:lstStyle/>
          <a:p>
            <a:pPr indent="0" marL="0">
              <a:buNone/>
            </a:pPr>
            <a:r>
              <a:rPr lang="en-US" sz="4000" b="1" dirty="0">
                <a:solidFill>
                  <a:schemeClr val="accent1"/>
                </a:solidFill>
              </a:rPr>
              <a:t>5</a:t>
            </a:r>
            <a:endParaRPr lang="en-US" sz="4000" dirty="0"/>
          </a:p>
        </p:txBody>
      </p:sp>
      <p:sp>
        <p:nvSpPr>
          <p:cNvPr id="26" name="Pastille"/>
          <p:cNvSpPr/>
          <p:nvPr/>
        </p:nvSpPr>
        <p:spPr>
          <a:xfrm>
            <a:off x="10835640" y="2148840"/>
            <a:ext cx="502920" cy="502920"/>
          </a:xfrm>
          <a:prstGeom prst="roundRect">
            <a:avLst>
              <a:gd name="adj" fmla="val 21818"/>
            </a:avLst>
          </a:prstGeom>
          <a:solidFill>
            <a:srgbClr val="EEF0FF"/>
          </a:solidFill>
          <a:ln/>
        </p:spPr>
      </p:sp>
      <p:pic>
        <p:nvPicPr>
          <p:cNvPr id="27" name="Icône" descr="preencoded.png">    </p:cNvPr>
          <p:cNvPicPr>
            <a:picLocks noChangeAspect="1"/>
          </p:cNvPicPr>
          <p:nvPr/>
        </p:nvPicPr>
        <p:blipFill>
          <a:blip r:embed="rId5"/>
          <a:stretch>
            <a:fillRect/>
          </a:stretch>
        </p:blipFill>
        <p:spPr>
          <a:xfrm>
            <a:off x="10946282" y="2259482"/>
            <a:ext cx="281635" cy="281635"/>
          </a:xfrm>
          <a:prstGeom prst="rect">
            <a:avLst/>
          </a:prstGeom>
        </p:spPr>
      </p:pic>
      <p:sp>
        <p:nvSpPr>
          <p:cNvPr id="28" name="Étape 5"/>
          <p:cNvSpPr txBox="1"/>
          <p:nvPr/>
        </p:nvSpPr>
        <p:spPr>
          <a:xfrm>
            <a:off x="9784080" y="2971800"/>
            <a:ext cx="1600200" cy="2103120"/>
          </a:xfrm>
          <a:prstGeom prst="rect">
            <a:avLst/>
          </a:prstGeom>
          <a:noFill/>
          <a:ln/>
        </p:spPr>
        <p:txBody>
          <a:bodyPr wrap="square" lIns="0" tIns="0" rIns="0" bIns="0" rtlCol="0" anchor="t"/>
          <a:lstStyle/>
          <a:p>
            <a:pPr indent="0" marL="0">
              <a:spcAft>
                <a:spcPts val="600"/>
              </a:spcAft>
              <a:buNone/>
            </a:pPr>
            <a:r>
              <a:rPr lang="en-US" sz="1800" b="1" dirty="0">
                <a:solidFill>
                  <a:schemeClr val="tx1"/>
                </a:solidFill>
              </a:rPr>
              <a:t>Décider</a:t>
            </a:r>
            <a:endParaRPr lang="en-US" sz="1800" dirty="0"/>
          </a:p>
          <a:p>
            <a:pPr indent="0" marL="0">
              <a:spcAft>
                <a:spcPts val="600"/>
              </a:spcAft>
              <a:buNone/>
            </a:pPr>
            <a:r>
              <a:rPr lang="en-US" sz="1500" dirty="0">
                <a:solidFill>
                  <a:srgbClr val="64748B"/>
                </a:solidFill>
              </a:rPr>
              <a:t>Simuler, comparer, repérer les zones à potentiel, suivre le terrain.</a:t>
            </a:r>
            <a:endParaRPr lang="en-US" sz="1800" dirty="0"/>
          </a:p>
        </p:txBody>
      </p:sp>
      <p:sp>
        <p:nvSpPr>
          <p:cNvPr id="29" name="Text 22"/>
          <p:cNvSpPr txBox="1"/>
          <p:nvPr/>
        </p:nvSpPr>
        <p:spPr>
          <a:xfrm>
            <a:off x="548640" y="5532120"/>
            <a:ext cx="11064240" cy="411480"/>
          </a:xfrm>
          <a:prstGeom prst="rect">
            <a:avLst/>
          </a:prstGeom>
          <a:noFill/>
          <a:ln/>
        </p:spPr>
        <p:txBody>
          <a:bodyPr wrap="square" lIns="0" tIns="0" rIns="0" bIns="0" rtlCol="0" anchor="ctr"/>
          <a:lstStyle/>
          <a:p>
            <a:pPr algn="ctr" indent="0" marL="0">
              <a:buNone/>
            </a:pPr>
            <a:r>
              <a:rPr lang="en-US" sz="1800" b="1" dirty="0">
                <a:solidFill>
                  <a:schemeClr val="accent1"/>
                </a:solidFill>
              </a:rPr>
              <a:t>Essai gratuit de 30 jours, accompagnement à l’import compris.</a:t>
            </a:r>
            <a:endParaRPr lang="en-US" sz="1800" dirty="0"/>
          </a:p>
        </p:txBody>
      </p:sp>
      <p:sp>
        <p:nvSpPr>
          <p:cNvPr id="25" name="Slide Number Placeholder 0"/>
          <p:cNvSpPr>
            <a:spLocks noGrp="1"/>
          </p:cNvSpPr>
          <p:nvPr>
            <p:ph type="sldNum" sz="quarter" idx="4294967295"/>
          </p:nvPr>
        </p:nvSpPr>
        <p:spPr>
          <a:xfrm>
            <a:off x="11155680"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64748B"/>
                </a:solidFill>
              </a:defRPr>
            </a:lvl1pPr>
          </a:lstStyle>
          <a:p>
            <a:pPr algn="r"/>
            <a:fld id="{F7021451-1387-4CA6-816F-3879F97B5CBC}" type="slidenum">
              <a:rPr b="0" lang="en-US"/>
              <a:t>17</a:t>
            </a:fld>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64240" cy="685800"/>
          </a:xfrm>
          <a:prstGeom prst="rect">
            <a:avLst/>
          </a:prstGeom>
          <a:noFill/>
          <a:ln/>
        </p:spPr>
        <p:txBody>
          <a:bodyPr wrap="square" lIns="0" tIns="0" rIns="0" bIns="0" rtlCol="0" anchor="t"/>
          <a:lstStyle/>
          <a:p>
            <a:pPr algn="l" indent="0" marL="0">
              <a:buNone/>
            </a:pPr>
            <a:r>
              <a:rPr lang="en-US" sz="3400" b="1" dirty="0">
                <a:solidFill>
                  <a:schemeClr val="tx1"/>
                </a:solidFill>
              </a:rPr>
              <a:t>Des données fiables, des données protégées</a:t>
            </a:r>
            <a:endParaRPr lang="en-US" sz="3400" dirty="0"/>
          </a:p>
        </p:txBody>
      </p:sp>
      <p:sp>
        <p:nvSpPr>
          <p:cNvPr id="3" name="Text 1"/>
          <p:cNvSpPr/>
          <p:nvPr>
            <p:ph idx="102" type="body" hasCustomPrompt="1"/>
          </p:nvPr>
        </p:nvSpPr>
        <p:spPr>
          <a:xfrm>
            <a:off x="548640" y="1051560"/>
            <a:ext cx="11064240" cy="411480"/>
          </a:xfrm>
          <a:prstGeom prst="rect">
            <a:avLst/>
          </a:prstGeom>
          <a:noFill/>
          <a:ln/>
        </p:spPr>
        <p:txBody>
          <a:bodyPr wrap="square" lIns="0" tIns="0" rIns="0" bIns="0" rtlCol="0" anchor="t"/>
          <a:lstStyle/>
          <a:p>
            <a:pPr indent="0" marL="0">
              <a:buNone/>
            </a:pPr>
            <a:r>
              <a:rPr lang="en-US" sz="1600" dirty="0">
                <a:solidFill>
                  <a:srgbClr val="64748B"/>
                </a:solidFill>
              </a:rPr>
              <a:t>Les meilleures sources publiques sur la Tunisie, et vos données séparées de celles des autres</a:t>
            </a:r>
            <a:endParaRPr lang="en-US" sz="1600" dirty="0"/>
          </a:p>
        </p:txBody>
      </p:sp>
      <p:sp>
        <p:nvSpPr>
          <p:cNvPr id="4" name="Carte"/>
          <p:cNvSpPr/>
          <p:nvPr/>
        </p:nvSpPr>
        <p:spPr>
          <a:xfrm>
            <a:off x="548640" y="1783080"/>
            <a:ext cx="5440680" cy="4343400"/>
          </a:xfrm>
          <a:prstGeom prst="roundRect">
            <a:avLst>
              <a:gd name="adj" fmla="val 2947"/>
            </a:avLst>
          </a:prstGeom>
          <a:solidFill>
            <a:schemeClr val="bg1"/>
          </a:solidFill>
          <a:ln w="9525">
            <a:solidFill>
              <a:srgbClr val="E7E9F0"/>
            </a:solidFill>
            <a:prstDash val="solid"/>
          </a:ln>
          <a:effectLst>
            <a:outerShdw sx="100000" sy="100000" kx="0" ky="0" algn="bl" rotWithShape="0" blurRad="177800" dist="38100" dir="5400000">
              <a:srgbClr val="1E1B4B">
                <a:alpha val="16000"/>
              </a:srgbClr>
            </a:outerShdw>
          </a:effectLst>
        </p:spPr>
      </p:sp>
      <p:sp>
        <p:nvSpPr>
          <p:cNvPr id="5" name="Text 3"/>
          <p:cNvSpPr txBox="1"/>
          <p:nvPr/>
        </p:nvSpPr>
        <p:spPr>
          <a:xfrm>
            <a:off x="868680" y="2057400"/>
            <a:ext cx="4846320" cy="457200"/>
          </a:xfrm>
          <a:prstGeom prst="rect">
            <a:avLst/>
          </a:prstGeom>
          <a:noFill/>
          <a:ln/>
        </p:spPr>
        <p:txBody>
          <a:bodyPr wrap="square" lIns="0" tIns="0" rIns="0" bIns="0" rtlCol="0" anchor="ctr"/>
          <a:lstStyle/>
          <a:p>
            <a:pPr indent="0" marL="0">
              <a:buNone/>
            </a:pPr>
            <a:r>
              <a:rPr lang="en-US" sz="2000" b="1" dirty="0">
                <a:solidFill>
                  <a:schemeClr val="tx1"/>
                </a:solidFill>
              </a:rPr>
              <a:t>Sources intégrées</a:t>
            </a:r>
            <a:endParaRPr lang="en-US" sz="2000" dirty="0"/>
          </a:p>
        </p:txBody>
      </p:sp>
      <p:sp>
        <p:nvSpPr>
          <p:cNvPr id="6" name="Sources"/>
          <p:cNvSpPr txBox="1"/>
          <p:nvPr/>
        </p:nvSpPr>
        <p:spPr>
          <a:xfrm>
            <a:off x="868680" y="2651760"/>
            <a:ext cx="4846320" cy="3291840"/>
          </a:xfrm>
          <a:prstGeom prst="rect">
            <a:avLst/>
          </a:prstGeom>
          <a:noFill/>
          <a:ln/>
        </p:spPr>
        <p:txBody>
          <a:bodyPr wrap="square" lIns="0" tIns="0" rIns="0" bIns="0" rtlCol="0" anchor="t"/>
          <a:lstStyle/>
          <a:p>
            <a:pPr indent="0" marL="0">
              <a:spcAft>
                <a:spcPts val="400"/>
              </a:spcAft>
              <a:buNone/>
            </a:pPr>
            <a:r>
              <a:rPr lang="en-US" sz="1600" b="1" dirty="0">
                <a:solidFill>
                  <a:schemeClr val="tx1"/>
                </a:solidFill>
              </a:rPr>
              <a:t>INS, Recensement général 2024</a:t>
            </a:r>
            <a:endParaRPr lang="en-US" sz="1600" dirty="0"/>
          </a:p>
          <a:p>
            <a:pPr indent="0" marL="0">
              <a:spcAft>
                <a:spcPts val="400"/>
              </a:spcAft>
              <a:buNone/>
            </a:pPr>
            <a:r>
              <a:rPr lang="en-US" sz="1600" dirty="0">
                <a:solidFill>
                  <a:srgbClr val="64748B"/>
                </a:solidFill>
              </a:rPr>
              <a:t>Population et ménages par délégation</a:t>
            </a:r>
            <a:endParaRPr lang="en-US" sz="1600" dirty="0"/>
          </a:p>
          <a:p>
            <a:pPr indent="0" marL="0">
              <a:spcAft>
                <a:spcPts val="400"/>
              </a:spcAft>
              <a:buNone/>
            </a:pPr>
            <a:r>
              <a:rPr lang="en-US" sz="1600" b="1" dirty="0">
                <a:solidFill>
                  <a:schemeClr val="tx1"/>
                </a:solidFill>
              </a:rPr>
              <a:t>Meta et CIESIN, grille de population 250 m</a:t>
            </a:r>
            <a:endParaRPr lang="en-US" sz="1600" dirty="0"/>
          </a:p>
          <a:p>
            <a:pPr indent="0" marL="0">
              <a:spcAft>
                <a:spcPts val="400"/>
              </a:spcAft>
              <a:buNone/>
            </a:pPr>
            <a:r>
              <a:rPr lang="en-US" sz="1600" dirty="0">
                <a:solidFill>
                  <a:srgbClr val="64748B"/>
                </a:solidFill>
              </a:rPr>
              <a:t>Où vivent précisément les habitants</a:t>
            </a:r>
            <a:endParaRPr lang="en-US" sz="1600" dirty="0"/>
          </a:p>
          <a:p>
            <a:pPr indent="0" marL="0">
              <a:spcAft>
                <a:spcPts val="400"/>
              </a:spcAft>
              <a:buNone/>
            </a:pPr>
            <a:r>
              <a:rPr lang="en-US" sz="1600" b="1" dirty="0">
                <a:solidFill>
                  <a:schemeClr val="tx1"/>
                </a:solidFill>
              </a:rPr>
              <a:t>INS et Banque mondiale, carte de la pauvreté</a:t>
            </a:r>
            <a:endParaRPr lang="en-US" sz="1600" dirty="0"/>
          </a:p>
          <a:p>
            <a:pPr indent="0" marL="0">
              <a:spcAft>
                <a:spcPts val="400"/>
              </a:spcAft>
              <a:buNone/>
            </a:pPr>
            <a:r>
              <a:rPr lang="en-US" sz="1600" dirty="0">
                <a:solidFill>
                  <a:srgbClr val="64748B"/>
                </a:solidFill>
              </a:rPr>
              <a:t>Pouvoir d’achat de chaque délégation</a:t>
            </a:r>
            <a:endParaRPr lang="en-US" sz="1600" dirty="0"/>
          </a:p>
          <a:p>
            <a:pPr indent="0" marL="0">
              <a:spcAft>
                <a:spcPts val="400"/>
              </a:spcAft>
              <a:buNone/>
            </a:pPr>
            <a:r>
              <a:rPr lang="en-US" sz="1600" b="1" dirty="0">
                <a:solidFill>
                  <a:schemeClr val="tx1"/>
                </a:solidFill>
              </a:rPr>
              <a:t>Overture Maps et OpenStreetMap</a:t>
            </a:r>
            <a:endParaRPr lang="en-US" sz="1600" dirty="0"/>
          </a:p>
          <a:p>
            <a:pPr indent="0" marL="0">
              <a:spcAft>
                <a:spcPts val="400"/>
              </a:spcAft>
              <a:buNone/>
            </a:pPr>
            <a:r>
              <a:rPr lang="en-US" sz="1600" dirty="0">
                <a:solidFill>
                  <a:srgbClr val="64748B"/>
                </a:solidFill>
              </a:rPr>
              <a:t>Routes, grandes surfaces, générateurs de trafic</a:t>
            </a:r>
            <a:endParaRPr lang="en-US" sz="1600" dirty="0"/>
          </a:p>
        </p:txBody>
      </p:sp>
      <p:sp>
        <p:nvSpPr>
          <p:cNvPr id="7" name="Pastille"/>
          <p:cNvSpPr/>
          <p:nvPr/>
        </p:nvSpPr>
        <p:spPr>
          <a:xfrm>
            <a:off x="6355080" y="1874520"/>
            <a:ext cx="457200" cy="457200"/>
          </a:xfrm>
          <a:prstGeom prst="roundRect">
            <a:avLst>
              <a:gd name="adj" fmla="val 24000"/>
            </a:avLst>
          </a:prstGeom>
          <a:solidFill>
            <a:srgbClr val="EEF0FF"/>
          </a:solidFill>
          <a:ln/>
        </p:spPr>
      </p:sp>
      <p:pic>
        <p:nvPicPr>
          <p:cNvPr id="8" name="Icône" descr="preencoded.png">    </p:cNvPr>
          <p:cNvPicPr>
            <a:picLocks noChangeAspect="1"/>
          </p:cNvPicPr>
          <p:nvPr/>
        </p:nvPicPr>
        <p:blipFill>
          <a:blip r:embed="rId1"/>
          <a:stretch>
            <a:fillRect/>
          </a:stretch>
        </p:blipFill>
        <p:spPr>
          <a:xfrm>
            <a:off x="6455664" y="1975104"/>
            <a:ext cx="256032" cy="256032"/>
          </a:xfrm>
          <a:prstGeom prst="rect">
            <a:avLst/>
          </a:prstGeom>
        </p:spPr>
      </p:pic>
      <p:sp>
        <p:nvSpPr>
          <p:cNvPr id="9" name="Texte Chaque société dans son espace"/>
          <p:cNvSpPr txBox="1"/>
          <p:nvPr/>
        </p:nvSpPr>
        <p:spPr>
          <a:xfrm>
            <a:off x="6976872" y="1837944"/>
            <a:ext cx="4636008" cy="777240"/>
          </a:xfrm>
          <a:prstGeom prst="rect">
            <a:avLst/>
          </a:prstGeom>
          <a:noFill/>
          <a:ln/>
        </p:spPr>
        <p:txBody>
          <a:bodyPr wrap="square" lIns="0" tIns="0" rIns="0" bIns="0" rtlCol="0" anchor="t"/>
          <a:lstStyle/>
          <a:p>
            <a:pPr indent="0" marL="0">
              <a:spcAft>
                <a:spcPts val="200"/>
              </a:spcAft>
              <a:buNone/>
            </a:pPr>
            <a:r>
              <a:rPr lang="en-US" sz="1600" b="1" dirty="0">
                <a:solidFill>
                  <a:schemeClr val="tx1"/>
                </a:solidFill>
              </a:rPr>
              <a:t>Chaque société dans son espace</a:t>
            </a:r>
            <a:endParaRPr lang="en-US" sz="1600" dirty="0"/>
          </a:p>
          <a:p>
            <a:pPr indent="0" marL="0">
              <a:spcAft>
                <a:spcPts val="200"/>
              </a:spcAft>
              <a:buNone/>
            </a:pPr>
            <a:r>
              <a:rPr lang="en-US" sz="1400" dirty="0">
                <a:solidFill>
                  <a:srgbClr val="64748B"/>
                </a:solidFill>
              </a:rPr>
              <a:t>Vos points, ventes et visites ne sont visibles que par votre équipe.</a:t>
            </a:r>
            <a:endParaRPr lang="en-US" sz="1600" dirty="0"/>
          </a:p>
        </p:txBody>
      </p:sp>
      <p:sp>
        <p:nvSpPr>
          <p:cNvPr id="10" name="Pastille"/>
          <p:cNvSpPr/>
          <p:nvPr/>
        </p:nvSpPr>
        <p:spPr>
          <a:xfrm>
            <a:off x="6355080" y="2971800"/>
            <a:ext cx="457200" cy="457200"/>
          </a:xfrm>
          <a:prstGeom prst="roundRect">
            <a:avLst>
              <a:gd name="adj" fmla="val 24000"/>
            </a:avLst>
          </a:prstGeom>
          <a:solidFill>
            <a:srgbClr val="EEF0FF"/>
          </a:solidFill>
          <a:ln/>
        </p:spPr>
      </p:sp>
      <p:pic>
        <p:nvPicPr>
          <p:cNvPr id="11" name="Icône" descr="preencoded.png">    </p:cNvPr>
          <p:cNvPicPr>
            <a:picLocks noChangeAspect="1"/>
          </p:cNvPicPr>
          <p:nvPr/>
        </p:nvPicPr>
        <p:blipFill>
          <a:blip r:embed="rId2"/>
          <a:stretch>
            <a:fillRect/>
          </a:stretch>
        </p:blipFill>
        <p:spPr>
          <a:xfrm>
            <a:off x="6455664" y="3072384"/>
            <a:ext cx="256032" cy="256032"/>
          </a:xfrm>
          <a:prstGeom prst="rect">
            <a:avLst/>
          </a:prstGeom>
        </p:spPr>
      </p:pic>
      <p:sp>
        <p:nvSpPr>
          <p:cNvPr id="12" name="Texte Droits par rôle"/>
          <p:cNvSpPr txBox="1"/>
          <p:nvPr/>
        </p:nvSpPr>
        <p:spPr>
          <a:xfrm>
            <a:off x="6976872" y="2935224"/>
            <a:ext cx="4636008" cy="777240"/>
          </a:xfrm>
          <a:prstGeom prst="rect">
            <a:avLst/>
          </a:prstGeom>
          <a:noFill/>
          <a:ln/>
        </p:spPr>
        <p:txBody>
          <a:bodyPr wrap="square" lIns="0" tIns="0" rIns="0" bIns="0" rtlCol="0" anchor="t"/>
          <a:lstStyle/>
          <a:p>
            <a:pPr indent="0" marL="0">
              <a:spcAft>
                <a:spcPts val="200"/>
              </a:spcAft>
              <a:buNone/>
            </a:pPr>
            <a:r>
              <a:rPr lang="en-US" sz="1600" b="1" dirty="0">
                <a:solidFill>
                  <a:schemeClr val="tx1"/>
                </a:solidFill>
              </a:rPr>
              <a:t>Droits par rôle</a:t>
            </a:r>
            <a:endParaRPr lang="en-US" sz="1600" dirty="0"/>
          </a:p>
          <a:p>
            <a:pPr indent="0" marL="0">
              <a:spcAft>
                <a:spcPts val="200"/>
              </a:spcAft>
              <a:buNone/>
            </a:pPr>
            <a:r>
              <a:rPr lang="en-US" sz="1400" dirty="0">
                <a:solidFill>
                  <a:srgbClr val="64748B"/>
                </a:solidFill>
              </a:rPr>
              <a:t>Contrôlés côté serveur : un commercial ne peut pas valider ni supprimer.</a:t>
            </a:r>
            <a:endParaRPr lang="en-US" sz="1600" dirty="0"/>
          </a:p>
        </p:txBody>
      </p:sp>
      <p:sp>
        <p:nvSpPr>
          <p:cNvPr id="13" name="Pastille"/>
          <p:cNvSpPr/>
          <p:nvPr/>
        </p:nvSpPr>
        <p:spPr>
          <a:xfrm>
            <a:off x="6355080" y="4069080"/>
            <a:ext cx="457200" cy="457200"/>
          </a:xfrm>
          <a:prstGeom prst="roundRect">
            <a:avLst>
              <a:gd name="adj" fmla="val 24000"/>
            </a:avLst>
          </a:prstGeom>
          <a:solidFill>
            <a:srgbClr val="EEF0FF"/>
          </a:solidFill>
          <a:ln/>
        </p:spPr>
      </p:sp>
      <p:pic>
        <p:nvPicPr>
          <p:cNvPr id="14" name="Icône" descr="preencoded.png">    </p:cNvPr>
          <p:cNvPicPr>
            <a:picLocks noChangeAspect="1"/>
          </p:cNvPicPr>
          <p:nvPr/>
        </p:nvPicPr>
        <p:blipFill>
          <a:blip r:embed="rId3"/>
          <a:stretch>
            <a:fillRect/>
          </a:stretch>
        </p:blipFill>
        <p:spPr>
          <a:xfrm>
            <a:off x="6455664" y="4169664"/>
            <a:ext cx="256032" cy="256032"/>
          </a:xfrm>
          <a:prstGeom prst="rect">
            <a:avLst/>
          </a:prstGeom>
        </p:spPr>
      </p:pic>
      <p:sp>
        <p:nvSpPr>
          <p:cNvPr id="15" name="Texte Traçabilité"/>
          <p:cNvSpPr txBox="1"/>
          <p:nvPr/>
        </p:nvSpPr>
        <p:spPr>
          <a:xfrm>
            <a:off x="6976872" y="4032504"/>
            <a:ext cx="4636008" cy="777240"/>
          </a:xfrm>
          <a:prstGeom prst="rect">
            <a:avLst/>
          </a:prstGeom>
          <a:noFill/>
          <a:ln/>
        </p:spPr>
        <p:txBody>
          <a:bodyPr wrap="square" lIns="0" tIns="0" rIns="0" bIns="0" rtlCol="0" anchor="t"/>
          <a:lstStyle/>
          <a:p>
            <a:pPr indent="0" marL="0">
              <a:spcAft>
                <a:spcPts val="200"/>
              </a:spcAft>
              <a:buNone/>
            </a:pPr>
            <a:r>
              <a:rPr lang="en-US" sz="1600" b="1" dirty="0">
                <a:solidFill>
                  <a:schemeClr val="tx1"/>
                </a:solidFill>
              </a:rPr>
              <a:t>Traçabilité</a:t>
            </a:r>
            <a:endParaRPr lang="en-US" sz="1600" dirty="0"/>
          </a:p>
          <a:p>
            <a:pPr indent="0" marL="0">
              <a:spcAft>
                <a:spcPts val="200"/>
              </a:spcAft>
              <a:buNone/>
            </a:pPr>
            <a:r>
              <a:rPr lang="en-US" sz="1400" dirty="0">
                <a:solidFill>
                  <a:srgbClr val="64748B"/>
                </a:solidFill>
              </a:rPr>
              <a:t>Journal complet des modifications, non modifiable.</a:t>
            </a:r>
            <a:endParaRPr lang="en-US" sz="1600" dirty="0"/>
          </a:p>
        </p:txBody>
      </p:sp>
      <p:sp>
        <p:nvSpPr>
          <p:cNvPr id="16" name="Pastille"/>
          <p:cNvSpPr/>
          <p:nvPr/>
        </p:nvSpPr>
        <p:spPr>
          <a:xfrm>
            <a:off x="6355080" y="5166360"/>
            <a:ext cx="457200" cy="457200"/>
          </a:xfrm>
          <a:prstGeom prst="roundRect">
            <a:avLst>
              <a:gd name="adj" fmla="val 24000"/>
            </a:avLst>
          </a:prstGeom>
          <a:solidFill>
            <a:srgbClr val="EEF0FF"/>
          </a:solidFill>
          <a:ln/>
        </p:spPr>
      </p:sp>
      <p:pic>
        <p:nvPicPr>
          <p:cNvPr id="17" name="Icône" descr="preencoded.png">    </p:cNvPr>
          <p:cNvPicPr>
            <a:picLocks noChangeAspect="1"/>
          </p:cNvPicPr>
          <p:nvPr/>
        </p:nvPicPr>
        <p:blipFill>
          <a:blip r:embed="rId4"/>
          <a:stretch>
            <a:fillRect/>
          </a:stretch>
        </p:blipFill>
        <p:spPr>
          <a:xfrm>
            <a:off x="6455664" y="5266944"/>
            <a:ext cx="256032" cy="256032"/>
          </a:xfrm>
          <a:prstGeom prst="rect">
            <a:avLst/>
          </a:prstGeom>
        </p:spPr>
      </p:pic>
      <p:sp>
        <p:nvSpPr>
          <p:cNvPr id="18" name="Texte Estimations vérifiées"/>
          <p:cNvSpPr txBox="1"/>
          <p:nvPr/>
        </p:nvSpPr>
        <p:spPr>
          <a:xfrm>
            <a:off x="6976872" y="5129784"/>
            <a:ext cx="4636008" cy="777240"/>
          </a:xfrm>
          <a:prstGeom prst="rect">
            <a:avLst/>
          </a:prstGeom>
          <a:noFill/>
          <a:ln/>
        </p:spPr>
        <p:txBody>
          <a:bodyPr wrap="square" lIns="0" tIns="0" rIns="0" bIns="0" rtlCol="0" anchor="t"/>
          <a:lstStyle/>
          <a:p>
            <a:pPr indent="0" marL="0">
              <a:spcAft>
                <a:spcPts val="200"/>
              </a:spcAft>
              <a:buNone/>
            </a:pPr>
            <a:r>
              <a:rPr lang="en-US" sz="1600" b="1" dirty="0">
                <a:solidFill>
                  <a:schemeClr val="tx1"/>
                </a:solidFill>
              </a:rPr>
              <a:t>Estimations vérifiées</a:t>
            </a:r>
            <a:endParaRPr lang="en-US" sz="1600" dirty="0"/>
          </a:p>
          <a:p>
            <a:pPr indent="0" marL="0">
              <a:spcAft>
                <a:spcPts val="200"/>
              </a:spcAft>
              <a:buNone/>
            </a:pPr>
            <a:r>
              <a:rPr lang="en-US" sz="1400" dirty="0">
                <a:solidFill>
                  <a:srgbClr val="64748B"/>
                </a:solidFill>
              </a:rPr>
              <a:t>Chaque modèle est testé sur vos ventes ; l’erreur est affichée à l’écran.</a:t>
            </a:r>
            <a:endParaRPr lang="en-US" sz="1600" dirty="0"/>
          </a:p>
        </p:txBody>
      </p:sp>
      <p:sp>
        <p:nvSpPr>
          <p:cNvPr id="25" name="Slide Number Placeholder 0"/>
          <p:cNvSpPr>
            <a:spLocks noGrp="1"/>
          </p:cNvSpPr>
          <p:nvPr>
            <p:ph type="sldNum" sz="quarter" idx="4294967295"/>
          </p:nvPr>
        </p:nvSpPr>
        <p:spPr>
          <a:xfrm>
            <a:off x="11155680"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64748B"/>
                </a:solidFill>
              </a:defRPr>
            </a:lvl1pPr>
          </a:lstStyle>
          <a:p>
            <a:pPr algn="r"/>
            <a:fld id="{F7021451-1387-4CA6-816F-3879F97B5CBC}" type="slidenum">
              <a:rPr b="0" lang="en-US"/>
              <a:t>18</a:t>
            </a:fld>
            <a:endParaRPr lang="en-US"/>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64240" cy="685800"/>
          </a:xfrm>
          <a:prstGeom prst="rect">
            <a:avLst/>
          </a:prstGeom>
          <a:noFill/>
          <a:ln/>
        </p:spPr>
        <p:txBody>
          <a:bodyPr wrap="square" lIns="0" tIns="0" rIns="0" bIns="0" rtlCol="0" anchor="t"/>
          <a:lstStyle/>
          <a:p>
            <a:pPr algn="l" indent="0" marL="0">
              <a:buNone/>
            </a:pPr>
            <a:r>
              <a:rPr lang="en-US" sz="3400" b="1" dirty="0">
                <a:solidFill>
                  <a:schemeClr val="tx1"/>
                </a:solidFill>
              </a:rPr>
              <a:t>Des formules simples, sans engagement long</a:t>
            </a:r>
            <a:endParaRPr lang="en-US" sz="3400" dirty="0"/>
          </a:p>
        </p:txBody>
      </p:sp>
      <p:sp>
        <p:nvSpPr>
          <p:cNvPr id="3" name="Text 1"/>
          <p:cNvSpPr/>
          <p:nvPr>
            <p:ph idx="102" type="body" hasCustomPrompt="1"/>
          </p:nvPr>
        </p:nvSpPr>
        <p:spPr>
          <a:xfrm>
            <a:off x="548640" y="1051560"/>
            <a:ext cx="11064240" cy="411480"/>
          </a:xfrm>
          <a:prstGeom prst="rect">
            <a:avLst/>
          </a:prstGeom>
          <a:noFill/>
          <a:ln/>
        </p:spPr>
        <p:txBody>
          <a:bodyPr wrap="square" lIns="0" tIns="0" rIns="0" bIns="0" rtlCol="0" anchor="t"/>
          <a:lstStyle/>
          <a:p>
            <a:pPr indent="0" marL="0">
              <a:buNone/>
            </a:pPr>
            <a:r>
              <a:rPr lang="en-US" sz="1600" dirty="0">
                <a:solidFill>
                  <a:srgbClr val="64748B"/>
                </a:solidFill>
              </a:rPr>
              <a:t>Paiement par virement, mensuel ou annuel avec 2 mois offerts</a:t>
            </a:r>
            <a:endParaRPr lang="en-US" sz="1600" dirty="0"/>
          </a:p>
        </p:txBody>
      </p:sp>
      <p:sp>
        <p:nvSpPr>
          <p:cNvPr id="4" name="Formule Essentiel"/>
          <p:cNvSpPr/>
          <p:nvPr/>
        </p:nvSpPr>
        <p:spPr>
          <a:xfrm>
            <a:off x="548640" y="1783080"/>
            <a:ext cx="3566160" cy="4206240"/>
          </a:xfrm>
          <a:prstGeom prst="roundRect">
            <a:avLst>
              <a:gd name="adj" fmla="val 4103"/>
            </a:avLst>
          </a:prstGeom>
          <a:solidFill>
            <a:schemeClr val="bg1"/>
          </a:solidFill>
          <a:ln w="9525">
            <a:solidFill>
              <a:srgbClr val="E7E9F0"/>
            </a:solidFill>
            <a:prstDash val="solid"/>
          </a:ln>
          <a:effectLst>
            <a:outerShdw sx="100000" sy="100000" kx="0" ky="0" algn="bl" rotWithShape="0" blurRad="177800" dist="38100" dir="5400000">
              <a:srgbClr val="1E1B4B">
                <a:alpha val="16000"/>
              </a:srgbClr>
            </a:outerShdw>
          </a:effectLst>
        </p:spPr>
      </p:sp>
      <p:sp>
        <p:nvSpPr>
          <p:cNvPr id="5" name="Text 3"/>
          <p:cNvSpPr txBox="1"/>
          <p:nvPr/>
        </p:nvSpPr>
        <p:spPr>
          <a:xfrm>
            <a:off x="868680" y="2057400"/>
            <a:ext cx="2926080" cy="457200"/>
          </a:xfrm>
          <a:prstGeom prst="rect">
            <a:avLst/>
          </a:prstGeom>
          <a:noFill/>
          <a:ln/>
        </p:spPr>
        <p:txBody>
          <a:bodyPr wrap="square" lIns="0" tIns="0" rIns="0" bIns="0" rtlCol="0" anchor="ctr"/>
          <a:lstStyle/>
          <a:p>
            <a:pPr indent="0" marL="0">
              <a:buNone/>
            </a:pPr>
            <a:r>
              <a:rPr lang="en-US" sz="2200" b="1" dirty="0">
                <a:solidFill>
                  <a:schemeClr val="tx1"/>
                </a:solidFill>
              </a:rPr>
              <a:t>Essentiel</a:t>
            </a:r>
            <a:endParaRPr lang="en-US" sz="2200" dirty="0"/>
          </a:p>
        </p:txBody>
      </p:sp>
      <p:sp>
        <p:nvSpPr>
          <p:cNvPr id="6" name="Prix Essentiel"/>
          <p:cNvSpPr txBox="1"/>
          <p:nvPr/>
        </p:nvSpPr>
        <p:spPr>
          <a:xfrm>
            <a:off x="868680" y="2606040"/>
            <a:ext cx="2926080" cy="1097280"/>
          </a:xfrm>
          <a:prstGeom prst="rect">
            <a:avLst/>
          </a:prstGeom>
          <a:noFill/>
          <a:ln/>
        </p:spPr>
        <p:txBody>
          <a:bodyPr wrap="square" lIns="0" tIns="0" rIns="0" bIns="0" rtlCol="0" anchor="t"/>
          <a:lstStyle/>
          <a:p>
            <a:pPr indent="0" marL="0">
              <a:buNone/>
            </a:pPr>
            <a:r>
              <a:rPr lang="en-US" sz="4000" b="1" dirty="0">
                <a:solidFill>
                  <a:schemeClr val="accent1"/>
                </a:solidFill>
              </a:rPr>
              <a:t>290</a:t>
            </a:r>
            <a:endParaRPr lang="en-US" sz="4000" dirty="0"/>
          </a:p>
          <a:p>
            <a:pPr indent="0" marL="0">
              <a:buNone/>
            </a:pPr>
            <a:r>
              <a:rPr lang="en-US" sz="1300" dirty="0">
                <a:solidFill>
                  <a:srgbClr val="64748B"/>
                </a:solidFill>
              </a:rPr>
              <a:t>TND HT / mois</a:t>
            </a:r>
            <a:endParaRPr lang="en-US" sz="4000" dirty="0"/>
          </a:p>
        </p:txBody>
      </p:sp>
      <p:sp>
        <p:nvSpPr>
          <p:cNvPr id="7" name="Inclus Essentiel"/>
          <p:cNvSpPr txBox="1"/>
          <p:nvPr/>
        </p:nvSpPr>
        <p:spPr>
          <a:xfrm>
            <a:off x="868680" y="3840480"/>
            <a:ext cx="2971800" cy="1920240"/>
          </a:xfrm>
          <a:prstGeom prst="rect">
            <a:avLst/>
          </a:prstGeom>
          <a:noFill/>
          <a:ln/>
        </p:spPr>
        <p:txBody>
          <a:bodyPr wrap="square" lIns="0" tIns="0" rIns="0" bIns="0" rtlCol="0" anchor="t"/>
          <a:lstStyle/>
          <a:p>
            <a:pPr marL="342900" indent="-342900">
              <a:spcAft>
                <a:spcPts val="600"/>
              </a:spcAft>
              <a:buSzPct val="100000"/>
              <a:buChar char="•"/>
            </a:pPr>
            <a:r>
              <a:rPr lang="en-US" sz="1500" dirty="0">
                <a:solidFill>
                  <a:schemeClr val="tx1"/>
                </a:solidFill>
              </a:rPr>
              <a:t>Jusqu’à 3 utilisateurs</a:t>
            </a:r>
            <a:endParaRPr lang="en-US" sz="1500" dirty="0"/>
          </a:p>
          <a:p>
            <a:pPr marL="342900" indent="-342900">
              <a:spcAft>
                <a:spcPts val="600"/>
              </a:spcAft>
              <a:buSzPct val="100000"/>
              <a:buChar char="•"/>
            </a:pPr>
            <a:r>
              <a:rPr lang="en-US" sz="1500" dirty="0">
                <a:solidFill>
                  <a:schemeClr val="tx1"/>
                </a:solidFill>
              </a:rPr>
              <a:t>500 points</a:t>
            </a:r>
            <a:endParaRPr lang="en-US" sz="1500" dirty="0"/>
          </a:p>
          <a:p>
            <a:pPr marL="342900" indent="-342900">
              <a:spcAft>
                <a:spcPts val="600"/>
              </a:spcAft>
              <a:buSzPct val="100000"/>
              <a:buChar char="•"/>
            </a:pPr>
            <a:r>
              <a:rPr lang="en-US" sz="1500" dirty="0">
                <a:solidFill>
                  <a:schemeClr val="tx1"/>
                </a:solidFill>
              </a:rPr>
              <a:t>Carte, visites, démographie</a:t>
            </a:r>
            <a:endParaRPr lang="en-US" sz="1500" dirty="0"/>
          </a:p>
          <a:p>
            <a:pPr marL="342900" indent="-342900">
              <a:spcAft>
                <a:spcPts val="600"/>
              </a:spcAft>
              <a:buSzPct val="100000"/>
              <a:buChar char="•"/>
            </a:pPr>
            <a:r>
              <a:rPr lang="en-US" sz="1500" dirty="0">
                <a:solidFill>
                  <a:schemeClr val="tx1"/>
                </a:solidFill>
              </a:rPr>
              <a:t>Import des ventes</a:t>
            </a:r>
            <a:endParaRPr lang="en-US" sz="1500" dirty="0"/>
          </a:p>
        </p:txBody>
      </p:sp>
      <p:sp>
        <p:nvSpPr>
          <p:cNvPr id="8" name="Formule Pro"/>
          <p:cNvSpPr/>
          <p:nvPr/>
        </p:nvSpPr>
        <p:spPr>
          <a:xfrm>
            <a:off x="4297680" y="1783080"/>
            <a:ext cx="3566160" cy="4206240"/>
          </a:xfrm>
          <a:prstGeom prst="roundRect">
            <a:avLst>
              <a:gd name="adj" fmla="val 4103"/>
            </a:avLst>
          </a:prstGeom>
          <a:solidFill>
            <a:schemeClr val="tx2"/>
          </a:solidFill>
          <a:ln w="19050">
            <a:solidFill>
              <a:srgbClr val="4F46E5"/>
            </a:solidFill>
            <a:prstDash val="solid"/>
          </a:ln>
          <a:effectLst>
            <a:outerShdw sx="100000" sy="100000" kx="0" ky="0" algn="bl" rotWithShape="0" blurRad="177800" dist="38100" dir="5400000">
              <a:srgbClr val="1E1B4B">
                <a:alpha val="16000"/>
              </a:srgbClr>
            </a:outerShdw>
          </a:effectLst>
        </p:spPr>
      </p:sp>
      <p:sp>
        <p:nvSpPr>
          <p:cNvPr id="9" name="Text 7"/>
          <p:cNvSpPr txBox="1"/>
          <p:nvPr/>
        </p:nvSpPr>
        <p:spPr>
          <a:xfrm>
            <a:off x="4617720" y="2057400"/>
            <a:ext cx="2926080" cy="457200"/>
          </a:xfrm>
          <a:prstGeom prst="rect">
            <a:avLst/>
          </a:prstGeom>
          <a:noFill/>
          <a:ln/>
        </p:spPr>
        <p:txBody>
          <a:bodyPr wrap="square" lIns="0" tIns="0" rIns="0" bIns="0" rtlCol="0" anchor="ctr"/>
          <a:lstStyle/>
          <a:p>
            <a:pPr indent="0" marL="0">
              <a:buNone/>
            </a:pPr>
            <a:r>
              <a:rPr lang="en-US" sz="2200" b="1" dirty="0">
                <a:solidFill>
                  <a:schemeClr val="bg1"/>
                </a:solidFill>
              </a:rPr>
              <a:t>Pro</a:t>
            </a:r>
            <a:endParaRPr lang="en-US" sz="2200" dirty="0"/>
          </a:p>
        </p:txBody>
      </p:sp>
      <p:sp>
        <p:nvSpPr>
          <p:cNvPr id="10" name="Prix Pro"/>
          <p:cNvSpPr txBox="1"/>
          <p:nvPr/>
        </p:nvSpPr>
        <p:spPr>
          <a:xfrm>
            <a:off x="4617720" y="2606040"/>
            <a:ext cx="2926080" cy="1097280"/>
          </a:xfrm>
          <a:prstGeom prst="rect">
            <a:avLst/>
          </a:prstGeom>
          <a:noFill/>
          <a:ln/>
        </p:spPr>
        <p:txBody>
          <a:bodyPr wrap="square" lIns="0" tIns="0" rIns="0" bIns="0" rtlCol="0" anchor="t"/>
          <a:lstStyle/>
          <a:p>
            <a:pPr indent="0" marL="0">
              <a:buNone/>
            </a:pPr>
            <a:r>
              <a:rPr lang="en-US" sz="4000" b="1" dirty="0">
                <a:solidFill>
                  <a:schemeClr val="bg1"/>
                </a:solidFill>
              </a:rPr>
              <a:t>690</a:t>
            </a:r>
            <a:endParaRPr lang="en-US" sz="4000" dirty="0"/>
          </a:p>
          <a:p>
            <a:pPr indent="0" marL="0">
              <a:buNone/>
            </a:pPr>
            <a:r>
              <a:rPr lang="en-US" sz="1300" dirty="0">
                <a:solidFill>
                  <a:srgbClr val="C7D2FE"/>
                </a:solidFill>
              </a:rPr>
              <a:t>TND HT / mois</a:t>
            </a:r>
            <a:endParaRPr lang="en-US" sz="4000" dirty="0"/>
          </a:p>
        </p:txBody>
      </p:sp>
      <p:sp>
        <p:nvSpPr>
          <p:cNvPr id="11" name="Inclus Pro"/>
          <p:cNvSpPr txBox="1"/>
          <p:nvPr/>
        </p:nvSpPr>
        <p:spPr>
          <a:xfrm>
            <a:off x="4617720" y="3840480"/>
            <a:ext cx="2971800" cy="1920240"/>
          </a:xfrm>
          <a:prstGeom prst="rect">
            <a:avLst/>
          </a:prstGeom>
          <a:noFill/>
          <a:ln/>
        </p:spPr>
        <p:txBody>
          <a:bodyPr wrap="square" lIns="0" tIns="0" rIns="0" bIns="0" rtlCol="0" anchor="t"/>
          <a:lstStyle/>
          <a:p>
            <a:pPr marL="342900" indent="-342900">
              <a:spcAft>
                <a:spcPts val="600"/>
              </a:spcAft>
              <a:buSzPct val="100000"/>
              <a:buChar char="•"/>
            </a:pPr>
            <a:r>
              <a:rPr lang="en-US" sz="1500" dirty="0">
                <a:solidFill>
                  <a:schemeClr val="bg1"/>
                </a:solidFill>
              </a:rPr>
              <a:t>Jusqu’à 10 utilisateurs</a:t>
            </a:r>
            <a:endParaRPr lang="en-US" sz="1500" dirty="0"/>
          </a:p>
          <a:p>
            <a:pPr marL="342900" indent="-342900">
              <a:spcAft>
                <a:spcPts val="600"/>
              </a:spcAft>
              <a:buSzPct val="100000"/>
              <a:buChar char="•"/>
            </a:pPr>
            <a:r>
              <a:rPr lang="en-US" sz="1500" dirty="0">
                <a:solidFill>
                  <a:schemeClr val="bg1"/>
                </a:solidFill>
              </a:rPr>
              <a:t>Points illimités</a:t>
            </a:r>
            <a:endParaRPr lang="en-US" sz="1500" dirty="0"/>
          </a:p>
          <a:p>
            <a:pPr marL="342900" indent="-342900">
              <a:spcAft>
                <a:spcPts val="600"/>
              </a:spcAft>
              <a:buSzPct val="100000"/>
              <a:buChar char="•"/>
            </a:pPr>
            <a:r>
              <a:rPr lang="en-US" sz="1500" dirty="0">
                <a:solidFill>
                  <a:schemeClr val="bg1"/>
                </a:solidFill>
              </a:rPr>
              <a:t>Simulateur et comparateur</a:t>
            </a:r>
            <a:endParaRPr lang="en-US" sz="1500" dirty="0"/>
          </a:p>
          <a:p>
            <a:pPr marL="342900" indent="-342900">
              <a:spcAft>
                <a:spcPts val="600"/>
              </a:spcAft>
              <a:buSzPct val="100000"/>
              <a:buChar char="•"/>
            </a:pPr>
            <a:r>
              <a:rPr lang="en-US" sz="1500" dirty="0">
                <a:solidFill>
                  <a:schemeClr val="bg1"/>
                </a:solidFill>
              </a:rPr>
              <a:t>Saisonnalité et couverture</a:t>
            </a:r>
            <a:endParaRPr lang="en-US" sz="1500" dirty="0"/>
          </a:p>
        </p:txBody>
      </p:sp>
      <p:sp>
        <p:nvSpPr>
          <p:cNvPr id="12" name="Formule Entreprise"/>
          <p:cNvSpPr/>
          <p:nvPr/>
        </p:nvSpPr>
        <p:spPr>
          <a:xfrm>
            <a:off x="8046720" y="1783080"/>
            <a:ext cx="3566160" cy="4206240"/>
          </a:xfrm>
          <a:prstGeom prst="roundRect">
            <a:avLst>
              <a:gd name="adj" fmla="val 4103"/>
            </a:avLst>
          </a:prstGeom>
          <a:solidFill>
            <a:schemeClr val="bg1"/>
          </a:solidFill>
          <a:ln w="9525">
            <a:solidFill>
              <a:srgbClr val="E7E9F0"/>
            </a:solidFill>
            <a:prstDash val="solid"/>
          </a:ln>
          <a:effectLst>
            <a:outerShdw sx="100000" sy="100000" kx="0" ky="0" algn="bl" rotWithShape="0" blurRad="177800" dist="38100" dir="5400000">
              <a:srgbClr val="1E1B4B">
                <a:alpha val="16000"/>
              </a:srgbClr>
            </a:outerShdw>
          </a:effectLst>
        </p:spPr>
      </p:sp>
      <p:sp>
        <p:nvSpPr>
          <p:cNvPr id="13" name="Text 11"/>
          <p:cNvSpPr txBox="1"/>
          <p:nvPr/>
        </p:nvSpPr>
        <p:spPr>
          <a:xfrm>
            <a:off x="8366760" y="2057400"/>
            <a:ext cx="2926080" cy="457200"/>
          </a:xfrm>
          <a:prstGeom prst="rect">
            <a:avLst/>
          </a:prstGeom>
          <a:noFill/>
          <a:ln/>
        </p:spPr>
        <p:txBody>
          <a:bodyPr wrap="square" lIns="0" tIns="0" rIns="0" bIns="0" rtlCol="0" anchor="ctr"/>
          <a:lstStyle/>
          <a:p>
            <a:pPr indent="0" marL="0">
              <a:buNone/>
            </a:pPr>
            <a:r>
              <a:rPr lang="en-US" sz="2200" b="1" dirty="0">
                <a:solidFill>
                  <a:schemeClr val="tx1"/>
                </a:solidFill>
              </a:rPr>
              <a:t>Entreprise</a:t>
            </a:r>
            <a:endParaRPr lang="en-US" sz="2200" dirty="0"/>
          </a:p>
        </p:txBody>
      </p:sp>
      <p:sp>
        <p:nvSpPr>
          <p:cNvPr id="14" name="Prix Entreprise"/>
          <p:cNvSpPr txBox="1"/>
          <p:nvPr/>
        </p:nvSpPr>
        <p:spPr>
          <a:xfrm>
            <a:off x="8366760" y="2606040"/>
            <a:ext cx="2926080" cy="1097280"/>
          </a:xfrm>
          <a:prstGeom prst="rect">
            <a:avLst/>
          </a:prstGeom>
          <a:noFill/>
          <a:ln/>
        </p:spPr>
        <p:txBody>
          <a:bodyPr wrap="square" lIns="0" tIns="0" rIns="0" bIns="0" rtlCol="0" anchor="t"/>
          <a:lstStyle/>
          <a:p>
            <a:pPr indent="0" marL="0">
              <a:buNone/>
            </a:pPr>
            <a:r>
              <a:rPr lang="en-US" sz="3000" b="1" dirty="0">
                <a:solidFill>
                  <a:schemeClr val="accent1"/>
                </a:solidFill>
              </a:rPr>
              <a:t>Sur devis</a:t>
            </a:r>
            <a:endParaRPr lang="en-US" sz="3000" dirty="0"/>
          </a:p>
          <a:p>
            <a:pPr indent="0" marL="0">
              <a:buNone/>
            </a:pPr>
            <a:r>
              <a:rPr lang="en-US" sz="1300" dirty="0">
                <a:solidFill>
                  <a:srgbClr val="64748B"/>
                </a:solidFill>
              </a:rPr>
              <a:t> </a:t>
            </a:r>
            <a:endParaRPr lang="en-US" sz="3000" dirty="0"/>
          </a:p>
        </p:txBody>
      </p:sp>
      <p:sp>
        <p:nvSpPr>
          <p:cNvPr id="15" name="Inclus Entreprise"/>
          <p:cNvSpPr txBox="1"/>
          <p:nvPr/>
        </p:nvSpPr>
        <p:spPr>
          <a:xfrm>
            <a:off x="8366760" y="3840480"/>
            <a:ext cx="2971800" cy="1920240"/>
          </a:xfrm>
          <a:prstGeom prst="rect">
            <a:avLst/>
          </a:prstGeom>
          <a:noFill/>
          <a:ln/>
        </p:spPr>
        <p:txBody>
          <a:bodyPr wrap="square" lIns="0" tIns="0" rIns="0" bIns="0" rtlCol="0" anchor="t"/>
          <a:lstStyle/>
          <a:p>
            <a:pPr marL="342900" indent="-342900">
              <a:spcAft>
                <a:spcPts val="600"/>
              </a:spcAft>
              <a:buSzPct val="100000"/>
              <a:buChar char="•"/>
            </a:pPr>
            <a:r>
              <a:rPr lang="en-US" sz="1500" dirty="0">
                <a:solidFill>
                  <a:schemeClr val="tx1"/>
                </a:solidFill>
              </a:rPr>
              <a:t>Utilisateurs illimités</a:t>
            </a:r>
            <a:endParaRPr lang="en-US" sz="1500" dirty="0"/>
          </a:p>
          <a:p>
            <a:pPr marL="342900" indent="-342900">
              <a:spcAft>
                <a:spcPts val="600"/>
              </a:spcAft>
              <a:buSzPct val="100000"/>
              <a:buChar char="•"/>
            </a:pPr>
            <a:r>
              <a:rPr lang="en-US" sz="1500" dirty="0">
                <a:solidFill>
                  <a:schemeClr val="tx1"/>
                </a:solidFill>
              </a:rPr>
              <a:t>Accompagnement dédié</a:t>
            </a:r>
            <a:endParaRPr lang="en-US" sz="1500" dirty="0"/>
          </a:p>
          <a:p>
            <a:pPr marL="342900" indent="-342900">
              <a:spcAft>
                <a:spcPts val="600"/>
              </a:spcAft>
              <a:buSzPct val="100000"/>
              <a:buChar char="•"/>
            </a:pPr>
            <a:r>
              <a:rPr lang="en-US" sz="1500" dirty="0">
                <a:solidFill>
                  <a:schemeClr val="tx1"/>
                </a:solidFill>
              </a:rPr>
              <a:t>Import de votre ERP</a:t>
            </a:r>
            <a:endParaRPr lang="en-US" sz="1500" dirty="0"/>
          </a:p>
          <a:p>
            <a:pPr marL="342900" indent="-342900">
              <a:spcAft>
                <a:spcPts val="600"/>
              </a:spcAft>
              <a:buSzPct val="100000"/>
              <a:buChar char="•"/>
            </a:pPr>
            <a:r>
              <a:rPr lang="en-US" sz="1500" dirty="0">
                <a:solidFill>
                  <a:schemeClr val="tx1"/>
                </a:solidFill>
              </a:rPr>
              <a:t>Formation des équipes</a:t>
            </a:r>
            <a:endParaRPr lang="en-US" sz="1500" dirty="0"/>
          </a:p>
        </p:txBody>
      </p:sp>
      <p:sp>
        <p:nvSpPr>
          <p:cNvPr id="16" name="Text 14"/>
          <p:cNvSpPr txBox="1"/>
          <p:nvPr/>
        </p:nvSpPr>
        <p:spPr>
          <a:xfrm>
            <a:off x="548640" y="6080760"/>
            <a:ext cx="11064240" cy="320040"/>
          </a:xfrm>
          <a:prstGeom prst="rect">
            <a:avLst/>
          </a:prstGeom>
          <a:noFill/>
          <a:ln/>
        </p:spPr>
        <p:txBody>
          <a:bodyPr wrap="square" lIns="0" tIns="0" rIns="0" bIns="0" rtlCol="0" anchor="ctr"/>
          <a:lstStyle/>
          <a:p>
            <a:pPr algn="ctr" indent="0" marL="0">
              <a:buNone/>
            </a:pPr>
            <a:r>
              <a:rPr lang="en-US" sz="1400" dirty="0">
                <a:solidFill>
                  <a:srgbClr val="64748B"/>
                </a:solidFill>
              </a:rPr>
              <a:t>30 jours d’essai gratuit pour toute nouvelle société.</a:t>
            </a:r>
            <a:endParaRPr lang="en-US" sz="1400" dirty="0"/>
          </a:p>
        </p:txBody>
      </p:sp>
      <p:sp>
        <p:nvSpPr>
          <p:cNvPr id="25" name="Slide Number Placeholder 0"/>
          <p:cNvSpPr>
            <a:spLocks noGrp="1"/>
          </p:cNvSpPr>
          <p:nvPr>
            <p:ph type="sldNum" sz="quarter" idx="4294967295"/>
          </p:nvPr>
        </p:nvSpPr>
        <p:spPr>
          <a:xfrm>
            <a:off x="11155680"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64748B"/>
                </a:solidFill>
              </a:defRPr>
            </a:lvl1pPr>
          </a:lstStyle>
          <a:p>
            <a:pPr algn="r"/>
            <a:fld id="{F7021451-1387-4CA6-816F-3879F97B5CBC}" type="slidenum">
              <a:rPr b="0" lang="en-US"/>
              <a:t>19</a:t>
            </a:fld>
            <a:endParaRPr lang="en-US"/>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sp>
        <p:nvSpPr>
          <p:cNvPr id="2" name="Text 0"/>
          <p:cNvSpPr/>
          <p:nvPr>
            <p:ph idx="100" type="title" hasCustomPrompt="1"/>
          </p:nvPr>
        </p:nvSpPr>
        <p:spPr>
          <a:xfrm>
            <a:off x="822960" y="2103120"/>
            <a:ext cx="10515600" cy="1097280"/>
          </a:xfrm>
          <a:prstGeom prst="rect">
            <a:avLst/>
          </a:prstGeom>
          <a:noFill/>
          <a:ln/>
        </p:spPr>
        <p:txBody>
          <a:bodyPr wrap="square" lIns="0" tIns="0" rIns="0" bIns="0" rtlCol="0" anchor="t"/>
          <a:lstStyle/>
          <a:p>
            <a:pPr algn="l" indent="0" marL="0">
              <a:buNone/>
            </a:pPr>
            <a:r>
              <a:rPr lang="en-US" sz="4400" b="1" dirty="0">
                <a:solidFill>
                  <a:schemeClr val="bg1"/>
                </a:solidFill>
              </a:rPr>
              <a:t>Voyons votre réseau sur la carte</a:t>
            </a:r>
            <a:endParaRPr lang="en-US" sz="4400" dirty="0"/>
          </a:p>
        </p:txBody>
      </p:sp>
      <p:sp>
        <p:nvSpPr>
          <p:cNvPr id="3" name="Text 0"/>
          <p:cNvSpPr/>
          <p:nvPr>
            <p:ph idx="101" type="body" hasCustomPrompt="1"/>
          </p:nvPr>
        </p:nvSpPr>
        <p:spPr>
          <a:xfrm>
            <a:off x="822960" y="3291840"/>
            <a:ext cx="10515600" cy="822960"/>
          </a:xfrm>
          <a:prstGeom prst="rect">
            <a:avLst/>
          </a:prstGeom>
          <a:noFill/>
          <a:ln/>
        </p:spPr>
        <p:txBody>
          <a:bodyPr wrap="square" lIns="0" tIns="0" rIns="0" bIns="0" rtlCol="0" anchor="t"/>
          <a:lstStyle/>
          <a:p>
            <a:pPr indent="0" marL="0">
              <a:buNone/>
            </a:pPr>
            <a:r>
              <a:rPr lang="en-US" sz="2000" dirty="0">
                <a:solidFill>
                  <a:schemeClr val="bg2"/>
                </a:solidFill>
              </a:rPr>
              <a:t>Une démonstration de 30 minutes avec vos propres points suffit pour mesurer ce que GeoPulse vous apporte.</a:t>
            </a:r>
            <a:endParaRPr lang="en-US" sz="2000" dirty="0"/>
          </a:p>
        </p:txBody>
      </p:sp>
      <p:pic>
        <p:nvPicPr>
          <p:cNvPr id="4" name="Logo" descr="Logo">    </p:cNvPr>
          <p:cNvPicPr>
            <a:picLocks noChangeAspect="1"/>
          </p:cNvPicPr>
          <p:nvPr/>
        </p:nvPicPr>
        <p:blipFill>
          <a:blip r:embed="rId1"/>
          <a:stretch>
            <a:fillRect/>
          </a:stretch>
        </p:blipFill>
        <p:spPr>
          <a:xfrm>
            <a:off x="822960" y="1097280"/>
            <a:ext cx="457200" cy="457200"/>
          </a:xfrm>
          <a:prstGeom prst="rect">
            <a:avLst/>
          </a:prstGeom>
        </p:spPr>
      </p:pic>
      <p:sp>
        <p:nvSpPr>
          <p:cNvPr id="5" name="Text 2"/>
          <p:cNvSpPr txBox="1"/>
          <p:nvPr/>
        </p:nvSpPr>
        <p:spPr>
          <a:xfrm>
            <a:off x="1417320" y="1069848"/>
            <a:ext cx="3657600" cy="502920"/>
          </a:xfrm>
          <a:prstGeom prst="rect">
            <a:avLst/>
          </a:prstGeom>
          <a:noFill/>
          <a:ln/>
        </p:spPr>
        <p:txBody>
          <a:bodyPr wrap="square" lIns="0" tIns="0" rIns="0" bIns="0" rtlCol="0" anchor="ctr"/>
          <a:lstStyle/>
          <a:p>
            <a:pPr indent="0" marL="0">
              <a:buNone/>
            </a:pPr>
            <a:r>
              <a:rPr lang="en-US" sz="2600" b="1" dirty="0">
                <a:solidFill>
                  <a:schemeClr val="bg1"/>
                </a:solidFill>
              </a:rPr>
              <a:t>GeoPulse</a:t>
            </a:r>
            <a:endParaRPr lang="en-US" sz="2600" dirty="0"/>
          </a:p>
        </p:txBody>
      </p:sp>
      <p:sp>
        <p:nvSpPr>
          <p:cNvPr id="6" name="Contact"/>
          <p:cNvSpPr txBox="1"/>
          <p:nvPr/>
        </p:nvSpPr>
        <p:spPr>
          <a:xfrm>
            <a:off x="822960" y="4754880"/>
            <a:ext cx="7315200" cy="914400"/>
          </a:xfrm>
          <a:prstGeom prst="rect">
            <a:avLst/>
          </a:prstGeom>
          <a:noFill/>
          <a:ln/>
        </p:spPr>
        <p:txBody>
          <a:bodyPr wrap="square" lIns="0" tIns="0" rIns="0" bIns="0" rtlCol="0" anchor="t"/>
          <a:lstStyle/>
          <a:p>
            <a:pPr indent="0" marL="0">
              <a:buNone/>
            </a:pPr>
            <a:r>
              <a:rPr lang="en-US" sz="1800" b="1" dirty="0">
                <a:solidFill>
                  <a:schemeClr val="bg1"/>
                </a:solidFill>
              </a:rPr>
              <a:t>geopulse-omega-lovat.vercel.app</a:t>
            </a:r>
            <a:endParaRPr lang="en-US" sz="1800" dirty="0"/>
          </a:p>
          <a:p>
            <a:pPr indent="0" marL="0">
              <a:buNone/>
            </a:pPr>
            <a:r>
              <a:rPr lang="en-US" sz="1800" dirty="0">
                <a:solidFill>
                  <a:srgbClr val="C7D2FE"/>
                </a:solidFill>
              </a:rPr>
              <a:t>Sami BDIRA</a:t>
            </a:r>
            <a:endParaRPr lang="en-US" sz="1800" dirty="0"/>
          </a:p>
        </p:txBody>
      </p:sp>
    </p:spTree>
  </p:cSld>
  <p:clrMapOvr>
    <a:masterClrMapping/>
  </p:clrMapOvr>
</p:sld>
</file>

<file path=ppt/theme/theme1.xml><?xml version="1.0" encoding="utf-8"?>
<a:theme xmlns:a="http://schemas.openxmlformats.org/drawingml/2006/main" name="GeoPulse">
  <a:themeElements>
    <a:clrScheme name="GeoPulse">
      <a:dk1>
        <a:srgbClr val="0B1020"/>
      </a:dk1>
      <a:lt1>
        <a:srgbClr val="FFFFFF"/>
      </a:lt1>
      <a:dk2>
        <a:srgbClr val="1E1B4B"/>
      </a:dk2>
      <a:lt2>
        <a:srgbClr val="F6F7FB"/>
      </a:lt2>
      <a:accent1>
        <a:srgbClr val="4F46E5"/>
      </a:accent1>
      <a:accent2>
        <a:srgbClr val="7C3AED"/>
      </a:accent2>
      <a:accent3>
        <a:srgbClr val="059669"/>
      </a:accent3>
      <a:accent4>
        <a:srgbClr val="F97316"/>
      </a:accent4>
      <a:accent5>
        <a:srgbClr val="DC2626"/>
      </a:accent5>
      <a:accent6>
        <a:srgbClr val="0891B2"/>
      </a:accent6>
      <a:hlink>
        <a:srgbClr val="4F46E5"/>
      </a:hlink>
      <a:folHlink>
        <a:srgbClr val="7C3AED"/>
      </a:folHlink>
    </a:clrScheme>
    <a:fontScheme name="GeoPulse">
      <a:majorFont>
        <a:latin typeface="Calibri"/>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20</Slides>
  <Notes>20</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20</vt:i4>
      </vt:variant>
    </vt:vector>
  </HeadingPairs>
  <TitlesOfParts>
    <vt:vector size="23"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vector>
  </TitlesOfParts>
  <Company>GeoPulse</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GeoPulse : présentation</dc:title>
  <dc:subject>PptxGenJS Presentation</dc:subject>
  <dc:creator>Sami BDIRA</dc:creator>
  <cp:lastModifiedBy>Sami BDIRA</cp:lastModifiedBy>
  <cp:revision>1</cp:revision>
  <dcterms:created xsi:type="dcterms:W3CDTF">2026-10-24T07:58:33Z</dcterms:created>
  <dcterms:modified xsi:type="dcterms:W3CDTF">2026-10-24T07:58:33Z</dcterms:modified>
</cp:coreProperties>
</file>